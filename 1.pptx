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slideLayouts/slideLayout7.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8" r:id="rId1"/>
    <p:sldMasterId id="2147483797" r:id="rId2"/>
    <p:sldMasterId id="2147483816" r:id="rId3"/>
    <p:sldMasterId id="2147483683" r:id="rId4"/>
  </p:sldMasterIdLst>
  <p:notesMasterIdLst>
    <p:notesMasterId r:id="rId7"/>
  </p:notesMasterIdLst>
  <p:handoutMasterIdLst>
    <p:handoutMasterId r:id="rId8"/>
  </p:handoutMasterIdLst>
  <p:sldIdLst>
    <p:sldId id="1561" r:id="rId5"/>
    <p:sldId id="1562" r:id="rId6"/>
  </p:sldIdLst>
  <p:sldSz cx="12196763" cy="6858000"/>
  <p:notesSz cx="6858000" cy="9144000"/>
  <p:defaultTex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封面页_图片版" id="{E8D0D622-F6C6-F44A-B365-B4A5FF6195C2}">
          <p14:sldIdLst/>
        </p14:section>
        <p14:section name="目录页" id="{9D221634-295C-7843-AF5C-A0CB4F229241}">
          <p14:sldIdLst/>
        </p14:section>
        <p14:section name="章节页" id="{FD05EE94-C931-8C4B-83A2-004B32AA1207}">
          <p14:sldIdLst>
            <p14:sldId id="1561"/>
            <p14:sldId id="1562"/>
          </p14:sldIdLst>
        </p14:section>
        <p14:section name="结束页" id="{3F9D54A7-3BE2-2540-BB4C-DFE5509085F3}">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000000"/>
    <a:srgbClr val="E9002F"/>
    <a:srgbClr val="595757"/>
    <a:srgbClr val="221815"/>
    <a:srgbClr val="888888"/>
    <a:srgbClr val="898989"/>
    <a:srgbClr val="B5B5B5"/>
    <a:srgbClr val="DDDDDD"/>
    <a:srgbClr val="D0E8C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72833802-FEF1-4C79-8D5D-14CF1EAF98D9}">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6291"/>
  </p:normalViewPr>
  <p:slideViewPr>
    <p:cSldViewPr snapToGrid="0" snapToObjects="1">
      <p:cViewPr varScale="1">
        <p:scale>
          <a:sx n="82" d="100"/>
          <a:sy n="82" d="100"/>
        </p:scale>
        <p:origin x="40" y="84"/>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66" d="100"/>
        <a:sy n="66" d="100"/>
      </p:scale>
      <p:origin x="0" y="0"/>
    </p:cViewPr>
  </p:sorterViewPr>
  <p:notesViewPr>
    <p:cSldViewPr snapToGrid="0" snapToObjects="1">
      <p:cViewPr varScale="1">
        <p:scale>
          <a:sx n="96" d="100"/>
          <a:sy n="96" d="100"/>
        </p:scale>
        <p:origin x="3104" y="16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handoutMaster" Target="handoutMasters/handoutMaster1.xml"/><Relationship Id="rId3" Type="http://schemas.openxmlformats.org/officeDocument/2006/relationships/slideMaster" Target="slideMasters/slideMaster3.xml"/><Relationship Id="rId7" Type="http://schemas.openxmlformats.org/officeDocument/2006/relationships/notesMaster" Target="notesMasters/notesMaster1.xml"/><Relationship Id="rId12" Type="http://schemas.openxmlformats.org/officeDocument/2006/relationships/tableStyles" Target="tableStyle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theme" Target="theme/theme1.xml"/><Relationship Id="rId5" Type="http://schemas.openxmlformats.org/officeDocument/2006/relationships/slide" Target="slides/slide1.xml"/><Relationship Id="rId10" Type="http://schemas.openxmlformats.org/officeDocument/2006/relationships/viewProps" Target="viewProps.xml"/><Relationship Id="rId4" Type="http://schemas.openxmlformats.org/officeDocument/2006/relationships/slideMaster" Target="slideMasters/slideMaster4.xml"/><Relationship Id="rId9"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CC198DB-AFBD-584A-8986-364FF2B03F4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AD01315C-523F-A043-8029-B9921497126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8CF71B8-DF2A-2E41-BE66-2E18A767DA8A}" type="datetimeFigureOut">
              <a:rPr lang="en-US" smtClean="0"/>
              <a:t>8/12/2026</a:t>
            </a:fld>
            <a:endParaRPr lang="en-US"/>
          </a:p>
        </p:txBody>
      </p:sp>
      <p:sp>
        <p:nvSpPr>
          <p:cNvPr id="4" name="Footer Placeholder 3">
            <a:extLst>
              <a:ext uri="{FF2B5EF4-FFF2-40B4-BE49-F238E27FC236}">
                <a16:creationId xmlns:a16="http://schemas.microsoft.com/office/drawing/2014/main" id="{B9601424-70F4-1643-8E3A-557A0258D6B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E85BF48A-FF5C-8145-95A7-EE66A87C73D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35F0CC5-85BE-A64A-BD47-54C66F7E93E3}" type="slidenum">
              <a:rPr lang="en-US" smtClean="0"/>
              <a:t>‹#›</a:t>
            </a:fld>
            <a:endParaRPr lang="en-US"/>
          </a:p>
        </p:txBody>
      </p:sp>
    </p:spTree>
    <p:extLst>
      <p:ext uri="{BB962C8B-B14F-4D97-AF65-F5344CB8AC3E}">
        <p14:creationId xmlns:p14="http://schemas.microsoft.com/office/powerpoint/2010/main" val="401909529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DD60A27-BF12-6744-9E93-932A0E34D8BB}" type="datetimeFigureOut">
              <a:rPr lang="en-US" smtClean="0"/>
              <a:t>8/12/2026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07326F3-4732-B74B-9C70-D0992466E499}" type="slidenum">
              <a:rPr lang="en-US" smtClean="0"/>
              <a:t>‹#›</a:t>
            </a:fld>
            <a:endParaRPr lang="en-US"/>
          </a:p>
        </p:txBody>
      </p:sp>
    </p:spTree>
    <p:extLst>
      <p:ext uri="{BB962C8B-B14F-4D97-AF65-F5344CB8AC3E}">
        <p14:creationId xmlns:p14="http://schemas.microsoft.com/office/powerpoint/2010/main" val="744632111"/>
      </p:ext>
    </p:extLst>
  </p:cSld>
  <p:clrMap bg1="lt1" tx1="dk1" bg2="lt2" tx2="dk2" accent1="accent1" accent2="accent2" accent3="accent3" accent4="accent4" accent5="accent5" accent6="accent6" hlink="hlink" folHlink="folHlink"/>
  <p:notesStyle>
    <a:lvl1pPr marL="0" algn="l" defTabSz="1219304" rtl="0" eaLnBrk="1" latinLnBrk="0" hangingPunct="1">
      <a:defRPr sz="1600" kern="1200">
        <a:solidFill>
          <a:schemeClr val="tx1"/>
        </a:solidFill>
        <a:latin typeface="+mn-lt"/>
        <a:ea typeface="+mn-ea"/>
        <a:cs typeface="+mn-cs"/>
      </a:defRPr>
    </a:lvl1pPr>
    <a:lvl2pPr marL="609651" algn="l" defTabSz="1219304" rtl="0" eaLnBrk="1" latinLnBrk="0" hangingPunct="1">
      <a:defRPr sz="1600" kern="1200">
        <a:solidFill>
          <a:schemeClr val="tx1"/>
        </a:solidFill>
        <a:latin typeface="+mn-lt"/>
        <a:ea typeface="+mn-ea"/>
        <a:cs typeface="+mn-cs"/>
      </a:defRPr>
    </a:lvl2pPr>
    <a:lvl3pPr marL="1219304" algn="l" defTabSz="1219304" rtl="0" eaLnBrk="1" latinLnBrk="0" hangingPunct="1">
      <a:defRPr sz="1600" kern="1200">
        <a:solidFill>
          <a:schemeClr val="tx1"/>
        </a:solidFill>
        <a:latin typeface="+mn-lt"/>
        <a:ea typeface="+mn-ea"/>
        <a:cs typeface="+mn-cs"/>
      </a:defRPr>
    </a:lvl3pPr>
    <a:lvl4pPr marL="1828957" algn="l" defTabSz="1219304" rtl="0" eaLnBrk="1" latinLnBrk="0" hangingPunct="1">
      <a:defRPr sz="1600" kern="1200">
        <a:solidFill>
          <a:schemeClr val="tx1"/>
        </a:solidFill>
        <a:latin typeface="+mn-lt"/>
        <a:ea typeface="+mn-ea"/>
        <a:cs typeface="+mn-cs"/>
      </a:defRPr>
    </a:lvl4pPr>
    <a:lvl5pPr marL="2438609" algn="l" defTabSz="1219304" rtl="0" eaLnBrk="1" latinLnBrk="0" hangingPunct="1">
      <a:defRPr sz="1600" kern="1200">
        <a:solidFill>
          <a:schemeClr val="tx1"/>
        </a:solidFill>
        <a:latin typeface="+mn-lt"/>
        <a:ea typeface="+mn-ea"/>
        <a:cs typeface="+mn-cs"/>
      </a:defRPr>
    </a:lvl5pPr>
    <a:lvl6pPr marL="3048261" algn="l" defTabSz="1219304" rtl="0" eaLnBrk="1" latinLnBrk="0" hangingPunct="1">
      <a:defRPr sz="1600" kern="1200">
        <a:solidFill>
          <a:schemeClr val="tx1"/>
        </a:solidFill>
        <a:latin typeface="+mn-lt"/>
        <a:ea typeface="+mn-ea"/>
        <a:cs typeface="+mn-cs"/>
      </a:defRPr>
    </a:lvl6pPr>
    <a:lvl7pPr marL="3657913" algn="l" defTabSz="1219304" rtl="0" eaLnBrk="1" latinLnBrk="0" hangingPunct="1">
      <a:defRPr sz="1600" kern="1200">
        <a:solidFill>
          <a:schemeClr val="tx1"/>
        </a:solidFill>
        <a:latin typeface="+mn-lt"/>
        <a:ea typeface="+mn-ea"/>
        <a:cs typeface="+mn-cs"/>
      </a:defRPr>
    </a:lvl7pPr>
    <a:lvl8pPr marL="4267566" algn="l" defTabSz="1219304" rtl="0" eaLnBrk="1" latinLnBrk="0" hangingPunct="1">
      <a:defRPr sz="1600" kern="1200">
        <a:solidFill>
          <a:schemeClr val="tx1"/>
        </a:solidFill>
        <a:latin typeface="+mn-lt"/>
        <a:ea typeface="+mn-ea"/>
        <a:cs typeface="+mn-cs"/>
      </a:defRPr>
    </a:lvl8pPr>
    <a:lvl9pPr marL="4877219" algn="l" defTabSz="1219304"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en-US" altLang="zh-CN"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p>
            <a:endParaRPr lang="en-US" altLang="zh-CN" b="1" dirty="0"/>
          </a:p>
          <a:p>
            <a:endParaRPr lang="zh-CN" altLang="en-US" b="1"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F07326F3-4732-B74B-9C70-D0992466E499}"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t>1</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F07326F3-4732-B74B-9C70-D0992466E499}"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t>2</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探索">
    <p:bg>
      <p:bgPr>
        <a:solidFill>
          <a:srgbClr val="FFFFFF"/>
        </a:solidFill>
        <a:effectLst/>
      </p:bgPr>
    </p:bg>
    <p:spTree>
      <p:nvGrpSpPr>
        <p:cNvPr id="1" name=""/>
        <p:cNvGrpSpPr/>
        <p:nvPr/>
      </p:nvGrpSpPr>
      <p:grpSpPr>
        <a:xfrm>
          <a:off x="0" y="0"/>
          <a:ext cx="0" cy="0"/>
          <a:chOff x="0" y="0"/>
          <a:chExt cx="0" cy="0"/>
        </a:xfrm>
      </p:grpSpPr>
      <p:pic>
        <p:nvPicPr>
          <p:cNvPr id="11" name="图片 10"/>
          <p:cNvPicPr>
            <a:picLocks noChangeAspect="1"/>
          </p:cNvPicPr>
          <p:nvPr userDrawn="1"/>
        </p:nvPicPr>
        <p:blipFill rotWithShape="1">
          <a:blip r:embed="rId2">
            <a:extLst>
              <a:ext uri="{28A0092B-C50C-407E-A947-70E740481C1C}">
                <a14:useLocalDpi xmlns:a14="http://schemas.microsoft.com/office/drawing/2010/main" val="0"/>
              </a:ext>
            </a:extLst>
          </a:blip>
          <a:srcRect b="18667"/>
          <a:stretch/>
        </p:blipFill>
        <p:spPr>
          <a:xfrm>
            <a:off x="0" y="0"/>
            <a:ext cx="12206140" cy="5594695"/>
          </a:xfrm>
          <a:prstGeom prst="rect">
            <a:avLst/>
          </a:prstGeom>
        </p:spPr>
      </p:pic>
      <p:sp>
        <p:nvSpPr>
          <p:cNvPr id="7" name="L 形 6"/>
          <p:cNvSpPr/>
          <p:nvPr userDrawn="1"/>
        </p:nvSpPr>
        <p:spPr>
          <a:xfrm rot="5400000">
            <a:off x="7853942" y="2130562"/>
            <a:ext cx="701032" cy="717936"/>
          </a:xfrm>
          <a:prstGeom prst="corner">
            <a:avLst>
              <a:gd name="adj1" fmla="val 3243"/>
              <a:gd name="adj2" fmla="val 3048"/>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900"/>
          </a:p>
        </p:txBody>
      </p:sp>
      <p:sp>
        <p:nvSpPr>
          <p:cNvPr id="10" name="Title 1">
            <a:extLst>
              <a:ext uri="{FF2B5EF4-FFF2-40B4-BE49-F238E27FC236}">
                <a16:creationId xmlns:a16="http://schemas.microsoft.com/office/drawing/2014/main" id="{8227DEE9-8BE9-0D49-BF96-9E83C5312E00}"/>
              </a:ext>
            </a:extLst>
          </p:cNvPr>
          <p:cNvSpPr>
            <a:spLocks noGrp="1"/>
          </p:cNvSpPr>
          <p:nvPr>
            <p:ph type="ctrTitle" hasCustomPrompt="1"/>
          </p:nvPr>
        </p:nvSpPr>
        <p:spPr>
          <a:xfrm>
            <a:off x="898996" y="907092"/>
            <a:ext cx="6559809" cy="690255"/>
          </a:xfrm>
          <a:prstGeom prst="rect">
            <a:avLst/>
          </a:prstGeom>
          <a:ln>
            <a:noFill/>
            <a:prstDash val="dash"/>
          </a:ln>
        </p:spPr>
        <p:txBody>
          <a:bodyPr lIns="0" tIns="0" rIns="0" bIns="0" anchor="t">
            <a:normAutofit/>
          </a:bodyPr>
          <a:lstStyle>
            <a:lvl1pPr algn="l">
              <a:defRPr sz="3200" b="0" i="0">
                <a:solidFill>
                  <a:schemeClr val="tx1"/>
                </a:solidFill>
                <a:latin typeface="Microsoft YaHei" panose="020B0503020204020204" pitchFamily="34" charset="-122"/>
                <a:ea typeface="Microsoft YaHei" panose="020B0503020204020204" pitchFamily="34" charset="-122"/>
              </a:defRPr>
            </a:lvl1pPr>
          </a:lstStyle>
          <a:p>
            <a:r>
              <a:rPr lang="zh-CN" altLang="en-US" dirty="0"/>
              <a:t>单击此处添加标题</a:t>
            </a:r>
            <a:endParaRPr lang="en-US" dirty="0"/>
          </a:p>
        </p:txBody>
      </p:sp>
      <p:sp>
        <p:nvSpPr>
          <p:cNvPr id="6" name="Text Placeholder 5">
            <a:extLst>
              <a:ext uri="{FF2B5EF4-FFF2-40B4-BE49-F238E27FC236}">
                <a16:creationId xmlns:a16="http://schemas.microsoft.com/office/drawing/2014/main" id="{2F43DA98-D48D-6947-95EF-BA3B05E68822}"/>
              </a:ext>
            </a:extLst>
          </p:cNvPr>
          <p:cNvSpPr>
            <a:spLocks noGrp="1"/>
          </p:cNvSpPr>
          <p:nvPr>
            <p:ph type="body" sz="quarter" idx="10" hasCustomPrompt="1"/>
          </p:nvPr>
        </p:nvSpPr>
        <p:spPr>
          <a:xfrm>
            <a:off x="929260" y="1949372"/>
            <a:ext cx="6535842" cy="643926"/>
          </a:xfrm>
          <a:prstGeom prst="rect">
            <a:avLst/>
          </a:prstGeom>
        </p:spPr>
        <p:txBody>
          <a:bodyPr lIns="0" tIns="0" rIns="0" bIns="0"/>
          <a:lstStyle>
            <a:lvl1pPr>
              <a:defRPr sz="1400">
                <a:solidFill>
                  <a:schemeClr val="tx1"/>
                </a:solidFill>
              </a:defRPr>
            </a:lvl1pPr>
          </a:lstStyle>
          <a:p>
            <a:pPr lvl="0"/>
            <a:r>
              <a:rPr lang="zh-CN" altLang="en-US" dirty="0"/>
              <a:t>单击此处添加文本</a:t>
            </a:r>
            <a:endParaRPr lang="en-US" dirty="0"/>
          </a:p>
        </p:txBody>
      </p:sp>
      <p:sp>
        <p:nvSpPr>
          <p:cNvPr id="9" name="Text Placeholder 5">
            <a:extLst>
              <a:ext uri="{FF2B5EF4-FFF2-40B4-BE49-F238E27FC236}">
                <a16:creationId xmlns:a16="http://schemas.microsoft.com/office/drawing/2014/main" id="{52F8733E-C4C9-8D4D-8DDA-CAB265AC05A0}"/>
              </a:ext>
            </a:extLst>
          </p:cNvPr>
          <p:cNvSpPr>
            <a:spLocks noGrp="1"/>
          </p:cNvSpPr>
          <p:nvPr>
            <p:ph type="body" sz="quarter" idx="11"/>
          </p:nvPr>
        </p:nvSpPr>
        <p:spPr>
          <a:xfrm>
            <a:off x="913588" y="6227190"/>
            <a:ext cx="1617170" cy="322753"/>
          </a:xfrm>
          <a:prstGeom prst="rect">
            <a:avLst/>
          </a:prstGeom>
        </p:spPr>
        <p:txBody>
          <a:bodyPr lIns="0" tIns="0" rIns="0" bIns="0"/>
          <a:lstStyle>
            <a:lvl1pPr>
              <a:defRPr sz="900">
                <a:solidFill>
                  <a:schemeClr val="tx1"/>
                </a:solidFill>
              </a:defRPr>
            </a:lvl1pPr>
          </a:lstStyle>
          <a:p>
            <a:pPr lvl="0"/>
            <a:r>
              <a:rPr lang="zh-CN" altLang="en-US"/>
              <a:t>单击此处编辑母版文本样式</a:t>
            </a:r>
          </a:p>
        </p:txBody>
      </p:sp>
    </p:spTree>
    <p:extLst>
      <p:ext uri="{BB962C8B-B14F-4D97-AF65-F5344CB8AC3E}">
        <p14:creationId xmlns:p14="http://schemas.microsoft.com/office/powerpoint/2010/main" val="1651949536"/>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智能">
    <p:bg>
      <p:bgPr>
        <a:solidFill>
          <a:srgbClr val="FFFFFF"/>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rotWithShape="1">
          <a:blip r:embed="rId2">
            <a:extLst>
              <a:ext uri="{28A0092B-C50C-407E-A947-70E740481C1C}">
                <a14:useLocalDpi xmlns:a14="http://schemas.microsoft.com/office/drawing/2010/main" val="0"/>
              </a:ext>
            </a:extLst>
          </a:blip>
          <a:srcRect b="18604"/>
          <a:stretch/>
        </p:blipFill>
        <p:spPr>
          <a:xfrm>
            <a:off x="0" y="375"/>
            <a:ext cx="12197432" cy="5599236"/>
          </a:xfrm>
          <a:prstGeom prst="rect">
            <a:avLst/>
          </a:prstGeom>
        </p:spPr>
      </p:pic>
      <p:sp>
        <p:nvSpPr>
          <p:cNvPr id="8" name="Title 1">
            <a:extLst>
              <a:ext uri="{FF2B5EF4-FFF2-40B4-BE49-F238E27FC236}">
                <a16:creationId xmlns:a16="http://schemas.microsoft.com/office/drawing/2014/main" id="{62AA4863-E1EF-3342-A8CB-ECD4FD06CEB7}"/>
              </a:ext>
            </a:extLst>
          </p:cNvPr>
          <p:cNvSpPr>
            <a:spLocks noGrp="1"/>
          </p:cNvSpPr>
          <p:nvPr>
            <p:ph type="ctrTitle" hasCustomPrompt="1"/>
          </p:nvPr>
        </p:nvSpPr>
        <p:spPr>
          <a:xfrm>
            <a:off x="898996" y="907092"/>
            <a:ext cx="6559809" cy="690255"/>
          </a:xfrm>
          <a:prstGeom prst="rect">
            <a:avLst/>
          </a:prstGeom>
        </p:spPr>
        <p:txBody>
          <a:bodyPr lIns="0" tIns="0" rIns="0" bIns="0" anchor="t">
            <a:normAutofit/>
          </a:bodyPr>
          <a:lstStyle>
            <a:lvl1pPr algn="l">
              <a:defRPr sz="3200" b="0" i="0">
                <a:solidFill>
                  <a:schemeClr val="tx1"/>
                </a:solidFill>
                <a:latin typeface="Microsoft YaHei" panose="020B0503020204020204" pitchFamily="34" charset="-122"/>
                <a:ea typeface="Microsoft YaHei" panose="020B0503020204020204" pitchFamily="34" charset="-122"/>
              </a:defRPr>
            </a:lvl1pPr>
          </a:lstStyle>
          <a:p>
            <a:r>
              <a:rPr lang="zh-CN" altLang="en-US" dirty="0"/>
              <a:t>单击此处添加标题</a:t>
            </a:r>
            <a:endParaRPr lang="en-US" dirty="0"/>
          </a:p>
        </p:txBody>
      </p:sp>
      <p:sp>
        <p:nvSpPr>
          <p:cNvPr id="5" name="Text Placeholder 5">
            <a:extLst>
              <a:ext uri="{FF2B5EF4-FFF2-40B4-BE49-F238E27FC236}">
                <a16:creationId xmlns:a16="http://schemas.microsoft.com/office/drawing/2014/main" id="{195303EA-8491-464F-99A0-67F948701C12}"/>
              </a:ext>
            </a:extLst>
          </p:cNvPr>
          <p:cNvSpPr>
            <a:spLocks noGrp="1"/>
          </p:cNvSpPr>
          <p:nvPr>
            <p:ph type="body" sz="quarter" idx="10" hasCustomPrompt="1"/>
          </p:nvPr>
        </p:nvSpPr>
        <p:spPr>
          <a:xfrm>
            <a:off x="929260" y="1949372"/>
            <a:ext cx="4128162" cy="643926"/>
          </a:xfrm>
          <a:prstGeom prst="rect">
            <a:avLst/>
          </a:prstGeom>
        </p:spPr>
        <p:txBody>
          <a:bodyPr lIns="0" tIns="0" rIns="0" bIns="0"/>
          <a:lstStyle>
            <a:lvl1pPr>
              <a:defRPr sz="1400">
                <a:solidFill>
                  <a:schemeClr val="tx1"/>
                </a:solidFill>
              </a:defRPr>
            </a:lvl1pPr>
          </a:lstStyle>
          <a:p>
            <a:pPr lvl="0"/>
            <a:r>
              <a:rPr lang="zh-CN" altLang="en-US" dirty="0"/>
              <a:t>单击此处添加文本</a:t>
            </a:r>
            <a:endParaRPr lang="en-US" dirty="0"/>
          </a:p>
        </p:txBody>
      </p:sp>
      <p:sp>
        <p:nvSpPr>
          <p:cNvPr id="6" name="Text Placeholder 5">
            <a:extLst>
              <a:ext uri="{FF2B5EF4-FFF2-40B4-BE49-F238E27FC236}">
                <a16:creationId xmlns:a16="http://schemas.microsoft.com/office/drawing/2014/main" id="{56DBC59C-CE55-E340-A3AE-F88AAF0D7560}"/>
              </a:ext>
            </a:extLst>
          </p:cNvPr>
          <p:cNvSpPr>
            <a:spLocks noGrp="1"/>
          </p:cNvSpPr>
          <p:nvPr>
            <p:ph type="body" sz="quarter" idx="11"/>
          </p:nvPr>
        </p:nvSpPr>
        <p:spPr>
          <a:xfrm>
            <a:off x="913588" y="6227190"/>
            <a:ext cx="1617170" cy="322753"/>
          </a:xfrm>
          <a:prstGeom prst="rect">
            <a:avLst/>
          </a:prstGeom>
        </p:spPr>
        <p:txBody>
          <a:bodyPr lIns="0" tIns="0" rIns="0" bIns="0"/>
          <a:lstStyle>
            <a:lvl1pPr>
              <a:defRPr sz="900">
                <a:solidFill>
                  <a:schemeClr val="tx1"/>
                </a:solidFill>
              </a:defRPr>
            </a:lvl1pPr>
          </a:lstStyle>
          <a:p>
            <a:pPr lvl="0"/>
            <a:r>
              <a:rPr lang="zh-CN" altLang="en-US"/>
              <a:t>单击此处编辑母版文本样式</a:t>
            </a:r>
          </a:p>
        </p:txBody>
      </p:sp>
      <p:sp>
        <p:nvSpPr>
          <p:cNvPr id="14" name="L 形 17">
            <a:extLst>
              <a:ext uri="{FF2B5EF4-FFF2-40B4-BE49-F238E27FC236}">
                <a16:creationId xmlns:a16="http://schemas.microsoft.com/office/drawing/2014/main" id="{3049C48A-4CAE-8940-8A29-89DE0543DF4C}"/>
              </a:ext>
            </a:extLst>
          </p:cNvPr>
          <p:cNvSpPr/>
          <p:nvPr userDrawn="1"/>
        </p:nvSpPr>
        <p:spPr>
          <a:xfrm rot="5400000">
            <a:off x="5369529" y="2370740"/>
            <a:ext cx="744262" cy="762208"/>
          </a:xfrm>
          <a:prstGeom prst="corner">
            <a:avLst>
              <a:gd name="adj1" fmla="val 3243"/>
              <a:gd name="adj2" fmla="val 3048"/>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900"/>
          </a:p>
        </p:txBody>
      </p:sp>
    </p:spTree>
    <p:extLst>
      <p:ext uri="{BB962C8B-B14F-4D97-AF65-F5344CB8AC3E}">
        <p14:creationId xmlns:p14="http://schemas.microsoft.com/office/powerpoint/2010/main" val="3514487387"/>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创新">
    <p:bg>
      <p:bgPr>
        <a:solidFill>
          <a:srgbClr val="FFFFFF"/>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rotWithShape="1">
          <a:blip r:embed="rId2">
            <a:extLst>
              <a:ext uri="{28A0092B-C50C-407E-A947-70E740481C1C}">
                <a14:useLocalDpi xmlns:a14="http://schemas.microsoft.com/office/drawing/2010/main" val="0"/>
              </a:ext>
            </a:extLst>
          </a:blip>
          <a:srcRect t="1" b="18476"/>
          <a:stretch/>
        </p:blipFill>
        <p:spPr>
          <a:xfrm>
            <a:off x="0" y="374"/>
            <a:ext cx="12197432" cy="5590529"/>
          </a:xfrm>
          <a:prstGeom prst="rect">
            <a:avLst/>
          </a:prstGeom>
        </p:spPr>
      </p:pic>
      <p:sp>
        <p:nvSpPr>
          <p:cNvPr id="9" name="L 形 8"/>
          <p:cNvSpPr/>
          <p:nvPr userDrawn="1"/>
        </p:nvSpPr>
        <p:spPr>
          <a:xfrm rot="5400000">
            <a:off x="5945516" y="2323519"/>
            <a:ext cx="701032" cy="717936"/>
          </a:xfrm>
          <a:prstGeom prst="corner">
            <a:avLst>
              <a:gd name="adj1" fmla="val 3243"/>
              <a:gd name="adj2" fmla="val 3048"/>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900"/>
          </a:p>
        </p:txBody>
      </p:sp>
      <p:sp>
        <p:nvSpPr>
          <p:cNvPr id="8" name="Title 1">
            <a:extLst>
              <a:ext uri="{FF2B5EF4-FFF2-40B4-BE49-F238E27FC236}">
                <a16:creationId xmlns:a16="http://schemas.microsoft.com/office/drawing/2014/main" id="{FB908F03-BBCC-164B-BE54-2E836D6E7C14}"/>
              </a:ext>
            </a:extLst>
          </p:cNvPr>
          <p:cNvSpPr>
            <a:spLocks noGrp="1"/>
          </p:cNvSpPr>
          <p:nvPr>
            <p:ph type="ctrTitle" hasCustomPrompt="1"/>
          </p:nvPr>
        </p:nvSpPr>
        <p:spPr>
          <a:xfrm>
            <a:off x="898996" y="907092"/>
            <a:ext cx="6559809" cy="690255"/>
          </a:xfrm>
          <a:prstGeom prst="rect">
            <a:avLst/>
          </a:prstGeom>
        </p:spPr>
        <p:txBody>
          <a:bodyPr lIns="0" tIns="0" rIns="0" bIns="0" anchor="t">
            <a:normAutofit/>
          </a:bodyPr>
          <a:lstStyle>
            <a:lvl1pPr algn="l">
              <a:defRPr sz="3200" b="0" i="0">
                <a:solidFill>
                  <a:schemeClr val="tx1"/>
                </a:solidFill>
                <a:latin typeface="Microsoft YaHei" panose="020B0503020204020204" pitchFamily="34" charset="-122"/>
                <a:ea typeface="Microsoft YaHei" panose="020B0503020204020204" pitchFamily="34" charset="-122"/>
              </a:defRPr>
            </a:lvl1pPr>
          </a:lstStyle>
          <a:p>
            <a:r>
              <a:rPr lang="zh-CN" altLang="en-US" dirty="0"/>
              <a:t>单击此处添加标题</a:t>
            </a:r>
            <a:endParaRPr lang="en-US" dirty="0"/>
          </a:p>
        </p:txBody>
      </p:sp>
      <p:sp>
        <p:nvSpPr>
          <p:cNvPr id="5" name="Text Placeholder 5">
            <a:extLst>
              <a:ext uri="{FF2B5EF4-FFF2-40B4-BE49-F238E27FC236}">
                <a16:creationId xmlns:a16="http://schemas.microsoft.com/office/drawing/2014/main" id="{A3BE9F9B-07D9-DD4C-9CEF-250804A4145A}"/>
              </a:ext>
            </a:extLst>
          </p:cNvPr>
          <p:cNvSpPr>
            <a:spLocks noGrp="1"/>
          </p:cNvSpPr>
          <p:nvPr>
            <p:ph type="body" sz="quarter" idx="10" hasCustomPrompt="1"/>
          </p:nvPr>
        </p:nvSpPr>
        <p:spPr>
          <a:xfrm>
            <a:off x="929260" y="1949372"/>
            <a:ext cx="6535842" cy="643926"/>
          </a:xfrm>
          <a:prstGeom prst="rect">
            <a:avLst/>
          </a:prstGeom>
        </p:spPr>
        <p:txBody>
          <a:bodyPr lIns="0" tIns="0" rIns="0" bIns="0"/>
          <a:lstStyle>
            <a:lvl1pPr>
              <a:defRPr sz="1400">
                <a:solidFill>
                  <a:schemeClr val="tx1"/>
                </a:solidFill>
              </a:defRPr>
            </a:lvl1pPr>
          </a:lstStyle>
          <a:p>
            <a:pPr lvl="0"/>
            <a:r>
              <a:rPr lang="zh-CN" altLang="en-US" dirty="0"/>
              <a:t>单击此处添加文本</a:t>
            </a:r>
            <a:endParaRPr lang="en-US" dirty="0"/>
          </a:p>
        </p:txBody>
      </p:sp>
      <p:sp>
        <p:nvSpPr>
          <p:cNvPr id="6" name="Text Placeholder 5">
            <a:extLst>
              <a:ext uri="{FF2B5EF4-FFF2-40B4-BE49-F238E27FC236}">
                <a16:creationId xmlns:a16="http://schemas.microsoft.com/office/drawing/2014/main" id="{93A299E5-0026-5A42-88AA-B3A7F29D3ABD}"/>
              </a:ext>
            </a:extLst>
          </p:cNvPr>
          <p:cNvSpPr>
            <a:spLocks noGrp="1"/>
          </p:cNvSpPr>
          <p:nvPr>
            <p:ph type="body" sz="quarter" idx="11"/>
          </p:nvPr>
        </p:nvSpPr>
        <p:spPr>
          <a:xfrm>
            <a:off x="913588" y="6227190"/>
            <a:ext cx="1617170" cy="322753"/>
          </a:xfrm>
          <a:prstGeom prst="rect">
            <a:avLst/>
          </a:prstGeom>
        </p:spPr>
        <p:txBody>
          <a:bodyPr lIns="0" tIns="0" rIns="0" bIns="0"/>
          <a:lstStyle>
            <a:lvl1pPr>
              <a:defRPr sz="900">
                <a:solidFill>
                  <a:schemeClr val="tx1"/>
                </a:solidFill>
              </a:defRPr>
            </a:lvl1pPr>
          </a:lstStyle>
          <a:p>
            <a:pPr lvl="0"/>
            <a:r>
              <a:rPr lang="zh-CN" altLang="en-US"/>
              <a:t>单击此处编辑母版文本样式</a:t>
            </a:r>
          </a:p>
        </p:txBody>
      </p:sp>
    </p:spTree>
    <p:extLst>
      <p:ext uri="{BB962C8B-B14F-4D97-AF65-F5344CB8AC3E}">
        <p14:creationId xmlns:p14="http://schemas.microsoft.com/office/powerpoint/2010/main" val="1842669867"/>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攀登">
    <p:bg>
      <p:bgPr>
        <a:solidFill>
          <a:srgbClr val="FFFFFF"/>
        </a:solidFill>
        <a:effectLst/>
      </p:bgPr>
    </p:bg>
    <p:spTree>
      <p:nvGrpSpPr>
        <p:cNvPr id="1" name=""/>
        <p:cNvGrpSpPr/>
        <p:nvPr/>
      </p:nvGrpSpPr>
      <p:grpSpPr>
        <a:xfrm>
          <a:off x="0" y="0"/>
          <a:ext cx="0" cy="0"/>
          <a:chOff x="0" y="0"/>
          <a:chExt cx="0" cy="0"/>
        </a:xfrm>
      </p:grpSpPr>
      <p:pic>
        <p:nvPicPr>
          <p:cNvPr id="3" name="图片 2"/>
          <p:cNvPicPr>
            <a:picLocks noChangeAspect="1"/>
          </p:cNvPicPr>
          <p:nvPr userDrawn="1"/>
        </p:nvPicPr>
        <p:blipFill rotWithShape="1">
          <a:blip r:embed="rId2">
            <a:extLst>
              <a:ext uri="{28A0092B-C50C-407E-A947-70E740481C1C}">
                <a14:useLocalDpi xmlns:a14="http://schemas.microsoft.com/office/drawing/2010/main" val="0"/>
              </a:ext>
            </a:extLst>
          </a:blip>
          <a:srcRect b="17902"/>
          <a:stretch/>
        </p:blipFill>
        <p:spPr>
          <a:xfrm>
            <a:off x="0" y="-74021"/>
            <a:ext cx="12197432" cy="5668718"/>
          </a:xfrm>
          <a:prstGeom prst="rect">
            <a:avLst/>
          </a:prstGeom>
        </p:spPr>
      </p:pic>
      <p:sp>
        <p:nvSpPr>
          <p:cNvPr id="2" name="Title 1"/>
          <p:cNvSpPr>
            <a:spLocks noGrp="1"/>
          </p:cNvSpPr>
          <p:nvPr>
            <p:ph type="ctrTitle" hasCustomPrompt="1"/>
          </p:nvPr>
        </p:nvSpPr>
        <p:spPr>
          <a:xfrm>
            <a:off x="898996" y="907092"/>
            <a:ext cx="6559809" cy="690255"/>
          </a:xfrm>
          <a:prstGeom prst="rect">
            <a:avLst/>
          </a:prstGeom>
        </p:spPr>
        <p:txBody>
          <a:bodyPr lIns="0" tIns="0" rIns="0" bIns="0" anchor="t">
            <a:normAutofit/>
          </a:bodyPr>
          <a:lstStyle>
            <a:lvl1pPr algn="l">
              <a:defRPr sz="3200" b="0" i="0">
                <a:solidFill>
                  <a:schemeClr val="tx1"/>
                </a:solidFill>
                <a:latin typeface="Microsoft YaHei" panose="020B0503020204020204" pitchFamily="34" charset="-122"/>
                <a:ea typeface="Microsoft YaHei" panose="020B0503020204020204" pitchFamily="34" charset="-122"/>
              </a:defRPr>
            </a:lvl1pPr>
          </a:lstStyle>
          <a:p>
            <a:r>
              <a:rPr lang="zh-CN" altLang="en-US" dirty="0"/>
              <a:t>单击此处添加标题</a:t>
            </a:r>
            <a:endParaRPr lang="en-US" dirty="0"/>
          </a:p>
        </p:txBody>
      </p:sp>
      <p:sp>
        <p:nvSpPr>
          <p:cNvPr id="8" name="L 形 7"/>
          <p:cNvSpPr/>
          <p:nvPr userDrawn="1"/>
        </p:nvSpPr>
        <p:spPr>
          <a:xfrm rot="5400000">
            <a:off x="7929967" y="1657555"/>
            <a:ext cx="701032" cy="717936"/>
          </a:xfrm>
          <a:prstGeom prst="corner">
            <a:avLst>
              <a:gd name="adj1" fmla="val 3243"/>
              <a:gd name="adj2" fmla="val 3048"/>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900"/>
          </a:p>
        </p:txBody>
      </p:sp>
      <p:sp>
        <p:nvSpPr>
          <p:cNvPr id="5" name="Text Placeholder 5">
            <a:extLst>
              <a:ext uri="{FF2B5EF4-FFF2-40B4-BE49-F238E27FC236}">
                <a16:creationId xmlns:a16="http://schemas.microsoft.com/office/drawing/2014/main" id="{6BB7B2F8-0AF7-D04F-81DD-52FDB6B7326C}"/>
              </a:ext>
            </a:extLst>
          </p:cNvPr>
          <p:cNvSpPr>
            <a:spLocks noGrp="1"/>
          </p:cNvSpPr>
          <p:nvPr>
            <p:ph type="body" sz="quarter" idx="10" hasCustomPrompt="1"/>
          </p:nvPr>
        </p:nvSpPr>
        <p:spPr>
          <a:xfrm>
            <a:off x="929260" y="1949372"/>
            <a:ext cx="6535842" cy="643926"/>
          </a:xfrm>
          <a:prstGeom prst="rect">
            <a:avLst/>
          </a:prstGeom>
        </p:spPr>
        <p:txBody>
          <a:bodyPr lIns="0" tIns="0" rIns="0" bIns="0"/>
          <a:lstStyle>
            <a:lvl1pPr>
              <a:defRPr sz="1400">
                <a:solidFill>
                  <a:schemeClr val="tx1"/>
                </a:solidFill>
              </a:defRPr>
            </a:lvl1pPr>
          </a:lstStyle>
          <a:p>
            <a:pPr lvl="0"/>
            <a:r>
              <a:rPr lang="zh-CN" altLang="en-US" dirty="0"/>
              <a:t>单击此处添加文本</a:t>
            </a:r>
            <a:endParaRPr lang="en-US" dirty="0"/>
          </a:p>
        </p:txBody>
      </p:sp>
      <p:sp>
        <p:nvSpPr>
          <p:cNvPr id="6" name="Text Placeholder 5">
            <a:extLst>
              <a:ext uri="{FF2B5EF4-FFF2-40B4-BE49-F238E27FC236}">
                <a16:creationId xmlns:a16="http://schemas.microsoft.com/office/drawing/2014/main" id="{462D1BCC-0781-514D-8FE8-12F4AF64BC39}"/>
              </a:ext>
            </a:extLst>
          </p:cNvPr>
          <p:cNvSpPr>
            <a:spLocks noGrp="1"/>
          </p:cNvSpPr>
          <p:nvPr>
            <p:ph type="body" sz="quarter" idx="11"/>
          </p:nvPr>
        </p:nvSpPr>
        <p:spPr>
          <a:xfrm>
            <a:off x="913588" y="6227190"/>
            <a:ext cx="1617170" cy="322753"/>
          </a:xfrm>
          <a:prstGeom prst="rect">
            <a:avLst/>
          </a:prstGeom>
        </p:spPr>
        <p:txBody>
          <a:bodyPr lIns="0" tIns="0" rIns="0" bIns="0"/>
          <a:lstStyle>
            <a:lvl1pPr>
              <a:defRPr sz="900">
                <a:solidFill>
                  <a:schemeClr val="tx1"/>
                </a:solidFill>
              </a:defRPr>
            </a:lvl1pPr>
          </a:lstStyle>
          <a:p>
            <a:pPr lvl="0"/>
            <a:r>
              <a:rPr lang="zh-CN" altLang="en-US"/>
              <a:t>单击此处编辑母版文本样式</a:t>
            </a:r>
          </a:p>
        </p:txBody>
      </p:sp>
    </p:spTree>
    <p:extLst>
      <p:ext uri="{BB962C8B-B14F-4D97-AF65-F5344CB8AC3E}">
        <p14:creationId xmlns:p14="http://schemas.microsoft.com/office/powerpoint/2010/main" val="537370765"/>
      </p:ext>
    </p:extLst>
  </p:cSld>
  <p:clrMapOvr>
    <a:masterClrMapping/>
  </p:clrMapOvr>
  <p:extLst>
    <p:ext uri="{DCECCB84-F9BA-43D5-87BE-67443E8EF086}">
      <p15:sldGuideLst xmlns:p15="http://schemas.microsoft.com/office/powerpoint/2012/main">
        <p15:guide id="1" orient="horz" pos="3414"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2_Chinese text page">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729029" y="480685"/>
            <a:ext cx="10740360" cy="464403"/>
          </a:xfrm>
          <a:prstGeom prst="rect">
            <a:avLst/>
          </a:prstGeom>
        </p:spPr>
        <p:txBody>
          <a:bodyPr lIns="0" tIns="0" rIns="0" bIns="0" anchor="t">
            <a:normAutofit/>
          </a:bodyPr>
          <a:lstStyle>
            <a:lvl1pPr marL="0" indent="0" algn="l">
              <a:lnSpc>
                <a:spcPts val="3430"/>
              </a:lnSpc>
              <a:spcBef>
                <a:spcPts val="0"/>
              </a:spcBef>
              <a:buFont typeface="Arial" panose="020B0604020202020204" pitchFamily="34" charset="0"/>
              <a:buNone/>
              <a:defRPr sz="2400" b="1" baseline="0">
                <a:solidFill>
                  <a:srgbClr val="C00000"/>
                </a:solidFill>
                <a:latin typeface="微软雅黑" panose="020B0503020204020204" pitchFamily="34" charset="-122"/>
                <a:ea typeface="微软雅黑" panose="020B0503020204020204" pitchFamily="34" charset="-122"/>
              </a:defRPr>
            </a:lvl1pPr>
            <a:lvl2pPr marL="593090" indent="0" algn="ctr">
              <a:buNone/>
              <a:defRPr sz="2600"/>
            </a:lvl2pPr>
            <a:lvl3pPr marL="1187450" indent="0" algn="ctr">
              <a:buNone/>
              <a:defRPr sz="2340"/>
            </a:lvl3pPr>
            <a:lvl4pPr marL="1780540" indent="0" algn="ctr">
              <a:buNone/>
              <a:defRPr sz="2080"/>
            </a:lvl4pPr>
            <a:lvl5pPr marL="2373630" indent="0" algn="ctr">
              <a:buNone/>
              <a:defRPr sz="2080"/>
            </a:lvl5pPr>
            <a:lvl6pPr marL="2966720" indent="0" algn="ctr">
              <a:buNone/>
              <a:defRPr sz="2080"/>
            </a:lvl6pPr>
            <a:lvl7pPr marL="3561080" indent="0" algn="ctr">
              <a:buNone/>
              <a:defRPr sz="2080"/>
            </a:lvl7pPr>
            <a:lvl8pPr marL="4154170" indent="0" algn="ctr">
              <a:buNone/>
              <a:defRPr sz="2080"/>
            </a:lvl8pPr>
            <a:lvl9pPr marL="4747260" indent="0" algn="ctr">
              <a:buNone/>
              <a:defRPr sz="2080"/>
            </a:lvl9pPr>
          </a:lstStyle>
          <a:p>
            <a:r>
              <a:rPr lang="zh-CN" altLang="en-US" dirty="0"/>
              <a:t>单击此处添加标题</a:t>
            </a:r>
            <a:endParaRPr lang="en-US" dirty="0"/>
          </a:p>
        </p:txBody>
      </p:sp>
      <p:sp>
        <p:nvSpPr>
          <p:cNvPr id="5" name="TextBox 3"/>
          <p:cNvSpPr txBox="1"/>
          <p:nvPr userDrawn="1"/>
        </p:nvSpPr>
        <p:spPr>
          <a:xfrm>
            <a:off x="734114" y="6402809"/>
            <a:ext cx="499716" cy="138430"/>
          </a:xfrm>
          <a:prstGeom prst="rect">
            <a:avLst/>
          </a:prstGeom>
          <a:noFill/>
        </p:spPr>
        <p:txBody>
          <a:bodyPr wrap="square" lIns="0" tIns="0" rIns="0" bIns="0" rtlCol="0">
            <a:spAutoFit/>
          </a:bodyPr>
          <a:lstStyle/>
          <a:p>
            <a:pPr marL="0" marR="0" lvl="0" indent="0" algn="l" defTabSz="890270" rtl="0" eaLnBrk="1" fontAlgn="auto" latinLnBrk="0" hangingPunct="1">
              <a:lnSpc>
                <a:spcPct val="100000"/>
              </a:lnSpc>
              <a:spcBef>
                <a:spcPts val="0"/>
              </a:spcBef>
              <a:spcAft>
                <a:spcPts val="0"/>
              </a:spcAft>
              <a:buClrTx/>
              <a:buSzTx/>
              <a:buFontTx/>
              <a:buNone/>
              <a:defRPr/>
            </a:pPr>
            <a:fld id="{C3837181-38C6-AD4F-B8BA-B444770388BB}" type="slidenum">
              <a:rPr lang="en-US" sz="900" smtClean="0">
                <a:solidFill>
                  <a:srgbClr val="1D1D1B"/>
                </a:solidFill>
                <a:latin typeface="Arial" panose="020B0604020202020204" pitchFamily="34" charset="0"/>
                <a:cs typeface="Arial" panose="020B0604020202020204" pitchFamily="34" charset="0"/>
              </a:rPr>
              <a:t>‹#›</a:t>
            </a:fld>
            <a:endParaRPr lang="en-US" sz="900" dirty="0">
              <a:solidFill>
                <a:srgbClr val="1D1D1B"/>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10510694"/>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4_自定义版式">
    <p:spTree>
      <p:nvGrpSpPr>
        <p:cNvPr id="1" name=""/>
        <p:cNvGrpSpPr/>
        <p:nvPr/>
      </p:nvGrpSpPr>
      <p:grpSpPr>
        <a:xfrm>
          <a:off x="0" y="0"/>
          <a:ext cx="0" cy="0"/>
          <a:chOff x="0" y="0"/>
          <a:chExt cx="0" cy="0"/>
        </a:xfrm>
      </p:grpSpPr>
      <p:sp>
        <p:nvSpPr>
          <p:cNvPr id="14" name="文本占位符 8"/>
          <p:cNvSpPr>
            <a:spLocks noGrp="1"/>
          </p:cNvSpPr>
          <p:nvPr>
            <p:ph type="body" sz="quarter" idx="10" hasCustomPrompt="1"/>
          </p:nvPr>
        </p:nvSpPr>
        <p:spPr>
          <a:xfrm>
            <a:off x="434708" y="327656"/>
            <a:ext cx="9366007" cy="558313"/>
          </a:xfrm>
          <a:prstGeom prst="rect">
            <a:avLst/>
          </a:prstGeom>
        </p:spPr>
        <p:txBody>
          <a:bodyPr anchor="ctr">
            <a:normAutofit/>
          </a:bodyPr>
          <a:lstStyle>
            <a:lvl1pPr marL="0" indent="0">
              <a:buNone/>
              <a:defRPr sz="2400" b="1">
                <a:latin typeface="微软雅黑" panose="020B0503020204020204" pitchFamily="34" charset="-122"/>
                <a:ea typeface="微软雅黑" panose="020B0503020204020204" pitchFamily="34" charset="-122"/>
              </a:defRPr>
            </a:lvl1pPr>
          </a:lstStyle>
          <a:p>
            <a:pPr lvl="0"/>
            <a:r>
              <a:rPr lang="zh-CN" altLang="en-US" dirty="0"/>
              <a:t>小标题文字位置</a:t>
            </a:r>
          </a:p>
        </p:txBody>
      </p:sp>
      <p:sp>
        <p:nvSpPr>
          <p:cNvPr id="17" name="文本占位符 15"/>
          <p:cNvSpPr>
            <a:spLocks noGrp="1"/>
          </p:cNvSpPr>
          <p:nvPr>
            <p:ph type="body" sz="quarter" idx="11" hasCustomPrompt="1"/>
          </p:nvPr>
        </p:nvSpPr>
        <p:spPr>
          <a:xfrm>
            <a:off x="434708" y="1080303"/>
            <a:ext cx="11257973" cy="1782763"/>
          </a:xfrm>
          <a:prstGeom prst="rect">
            <a:avLst/>
          </a:prstGeom>
        </p:spPr>
        <p:txBody>
          <a:bodyPr>
            <a:normAutofit/>
          </a:bodyPr>
          <a:lstStyle>
            <a:lvl1pPr marL="0" indent="0">
              <a:buNone/>
              <a:defRPr sz="1600">
                <a:latin typeface="微软雅黑" panose="020B0503020204020204" pitchFamily="34" charset="-122"/>
                <a:ea typeface="微软雅黑" panose="020B0503020204020204" pitchFamily="34" charset="-122"/>
              </a:defRPr>
            </a:lvl1pPr>
          </a:lstStyle>
          <a:p>
            <a:pPr marL="0" marR="0" lvl="0" indent="0" algn="l" defTabSz="456565" rtl="0" eaLnBrk="1" fontAlgn="auto" latinLnBrk="0" hangingPunct="1">
              <a:lnSpc>
                <a:spcPct val="15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Arial" panose="020B0604020202020204" pitchFamily="34" charset="0"/>
              </a:rPr>
              <a:t>正文文字内容位置正文文字内容位置正文文字内容位置正文文字内容位置正文文字内容位置正文文字内容位置</a:t>
            </a:r>
            <a:endPar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l" defTabSz="456565" rtl="0" eaLnBrk="1" fontAlgn="auto" latinLnBrk="0" hangingPunct="1">
              <a:lnSpc>
                <a:spcPct val="15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Arial" panose="020B0604020202020204" pitchFamily="34" charset="0"/>
              </a:rPr>
              <a:t>正文文字内容位置正文文字内容位置正文文字内容位置正文文字内容位置正文文字内容位置正文文字内容位置</a:t>
            </a:r>
            <a:endPar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l" defTabSz="456565" rtl="0" eaLnBrk="1" fontAlgn="auto" latinLnBrk="0" hangingPunct="1">
              <a:lnSpc>
                <a:spcPct val="15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Arial" panose="020B0604020202020204" pitchFamily="34" charset="0"/>
              </a:rPr>
              <a:t>正文文字内容位置正文文字内容位置正文文字内容位置正文文字内容位置正文文字内容位置正文文字内容位置</a:t>
            </a:r>
            <a:endPar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l" defTabSz="456565" rtl="0" eaLnBrk="1" fontAlgn="auto" latinLnBrk="0" hangingPunct="1">
              <a:lnSpc>
                <a:spcPct val="15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Arial" panose="020B0604020202020204" pitchFamily="34" charset="0"/>
              </a:rPr>
              <a:t>正文文字内容位置正文文字内容位置正文文字内容位置正文文字内容位置正文文字内容位置正文文字内容位置</a:t>
            </a:r>
            <a:endPar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l" defTabSz="456565" rtl="0" eaLnBrk="1" fontAlgn="auto" latinLnBrk="0" hangingPunct="1">
              <a:lnSpc>
                <a:spcPct val="15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Arial" panose="020B0604020202020204" pitchFamily="34" charset="0"/>
              </a:rPr>
              <a:t>正文文字内容位置正文文字内容位置正文文字内容位置正文文字内容位置正文文字内容位置正文文字内容位置</a:t>
            </a:r>
            <a:endParaRPr kumimoji="0" lang="en-US"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spTree>
    <p:extLst>
      <p:ext uri="{BB962C8B-B14F-4D97-AF65-F5344CB8AC3E}">
        <p14:creationId xmlns:p14="http://schemas.microsoft.com/office/powerpoint/2010/main" val="1034934339"/>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结束页">
    <p:bg>
      <p:bgPr>
        <a:solidFill>
          <a:srgbClr val="FFFFFF"/>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1960DD1-8AC3-8F46-9D2D-BF81187F43FC}"/>
              </a:ext>
            </a:extLst>
          </p:cNvPr>
          <p:cNvSpPr txBox="1"/>
          <p:nvPr userDrawn="1"/>
        </p:nvSpPr>
        <p:spPr>
          <a:xfrm>
            <a:off x="607486" y="1402064"/>
            <a:ext cx="3921034" cy="854717"/>
          </a:xfrm>
          <a:prstGeom prst="rect">
            <a:avLst/>
          </a:prstGeom>
          <a:noFill/>
        </p:spPr>
        <p:txBody>
          <a:bodyPr wrap="square" rtlCol="0">
            <a:spAutoFit/>
          </a:bodyPr>
          <a:lstStyle/>
          <a:p>
            <a:pPr algn="l"/>
            <a:r>
              <a:rPr lang="en-US" sz="4800" dirty="0">
                <a:solidFill>
                  <a:schemeClr val="tx1"/>
                </a:solidFill>
              </a:rPr>
              <a:t>Thank you.</a:t>
            </a:r>
          </a:p>
        </p:txBody>
      </p:sp>
    </p:spTree>
    <p:extLst>
      <p:ext uri="{BB962C8B-B14F-4D97-AF65-F5344CB8AC3E}">
        <p14:creationId xmlns:p14="http://schemas.microsoft.com/office/powerpoint/2010/main" val="36647860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tiff"/><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1"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2" Type="http://schemas.openxmlformats.org/officeDocument/2006/relationships/image" Target="../media/image6.tiff"/><Relationship Id="rId1"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7.tiff"/><Relationship Id="rId2" Type="http://schemas.openxmlformats.org/officeDocument/2006/relationships/theme" Target="../theme/theme4.xml"/><Relationship Id="rId1"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19181AA-8E93-7743-ADEB-8A06A0DFC13A}"/>
              </a:ext>
            </a:extLst>
          </p:cNvPr>
          <p:cNvSpPr/>
          <p:nvPr userDrawn="1"/>
        </p:nvSpPr>
        <p:spPr>
          <a:xfrm>
            <a:off x="0" y="5590903"/>
            <a:ext cx="12196763" cy="1267097"/>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pic>
        <p:nvPicPr>
          <p:cNvPr id="5" name="Picture 4">
            <a:extLst>
              <a:ext uri="{FF2B5EF4-FFF2-40B4-BE49-F238E27FC236}">
                <a16:creationId xmlns:a16="http://schemas.microsoft.com/office/drawing/2014/main" id="{E6E8B5C1-4D37-8442-902D-D86F9BBDE27E}"/>
              </a:ext>
            </a:extLst>
          </p:cNvPr>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9208751" y="5970991"/>
            <a:ext cx="2260800" cy="489278"/>
          </a:xfrm>
          <a:prstGeom prst="rect">
            <a:avLst/>
          </a:prstGeom>
        </p:spPr>
      </p:pic>
    </p:spTree>
    <p:extLst>
      <p:ext uri="{BB962C8B-B14F-4D97-AF65-F5344CB8AC3E}">
        <p14:creationId xmlns:p14="http://schemas.microsoft.com/office/powerpoint/2010/main" val="4087104836"/>
      </p:ext>
    </p:extLst>
  </p:cSld>
  <p:clrMap bg1="lt1" tx1="dk1" bg2="lt2" tx2="dk2" accent1="accent1" accent2="accent2" accent3="accent3" accent4="accent4" accent5="accent5" accent6="accent6" hlink="hlink" folHlink="folHlink"/>
  <p:sldLayoutIdLst>
    <p:sldLayoutId id="2147483819" r:id="rId1"/>
    <p:sldLayoutId id="2147483820" r:id="rId2"/>
    <p:sldLayoutId id="2147483892" r:id="rId3"/>
    <p:sldLayoutId id="2147483824" r:id="rId4"/>
    <p:sldLayoutId id="2147483893" r:id="rId5"/>
    <p:sldLayoutId id="2147483894" r:id="rId6"/>
  </p:sldLayoutIdLst>
  <p:hf hdr="0" ftr="0" dt="0"/>
  <p:txStyles>
    <p:titleStyle>
      <a:lvl1pPr algn="l" defTabSz="914400" rtl="0" eaLnBrk="1" latinLnBrk="0" hangingPunct="1">
        <a:lnSpc>
          <a:spcPts val="3440"/>
        </a:lnSpc>
        <a:spcBef>
          <a:spcPct val="0"/>
        </a:spcBef>
        <a:buNone/>
        <a:defRPr sz="3200" kern="1200">
          <a:solidFill>
            <a:schemeClr val="tx1"/>
          </a:solidFill>
          <a:latin typeface="Microsoft YaHei" panose="020B0503020204020204" pitchFamily="34" charset="-122"/>
          <a:ea typeface="Microsoft YaHei" panose="020B0503020204020204" pitchFamily="34" charset="-122"/>
          <a:cs typeface="+mj-cs"/>
        </a:defRPr>
      </a:lvl1pPr>
    </p:titleStyle>
    <p:bodyStyle>
      <a:lvl1pPr marL="0" indent="0" algn="l" defTabSz="914400" rtl="0" eaLnBrk="1" latinLnBrk="0" hangingPunct="1">
        <a:lnSpc>
          <a:spcPct val="100000"/>
        </a:lnSpc>
        <a:spcBef>
          <a:spcPts val="0"/>
        </a:spcBef>
        <a:buFontTx/>
        <a:buNone/>
        <a:defRPr sz="1000" kern="1200">
          <a:solidFill>
            <a:srgbClr val="1D1D1B"/>
          </a:solidFill>
          <a:latin typeface="Arial" panose="020B0604020202020204" pitchFamily="34" charset="0"/>
          <a:ea typeface="Microsoft YaHei" panose="020B0503020204020204" pitchFamily="34" charset="-122"/>
          <a:cs typeface="Arial" panose="020B0604020202020204" pitchFamily="34" charset="0"/>
        </a:defRPr>
      </a:lvl1pPr>
      <a:lvl2pPr marL="457200" indent="0" algn="l" defTabSz="914400" rtl="0" eaLnBrk="1" latinLnBrk="0" hangingPunct="1">
        <a:lnSpc>
          <a:spcPct val="90000"/>
        </a:lnSpc>
        <a:spcBef>
          <a:spcPts val="500"/>
        </a:spcBef>
        <a:buFontTx/>
        <a:buNone/>
        <a:defRPr sz="750" kern="1200">
          <a:solidFill>
            <a:schemeClr val="tx1"/>
          </a:solidFill>
          <a:latin typeface="Arial" panose="020B0604020202020204" pitchFamily="34" charset="0"/>
          <a:ea typeface="+mn-ea"/>
          <a:cs typeface="Arial" panose="020B0604020202020204" pitchFamily="34" charset="0"/>
        </a:defRPr>
      </a:lvl2pPr>
      <a:lvl3pPr marL="914400" indent="0" algn="l" defTabSz="914400" rtl="0" eaLnBrk="1" latinLnBrk="0" hangingPunct="1">
        <a:lnSpc>
          <a:spcPct val="90000"/>
        </a:lnSpc>
        <a:spcBef>
          <a:spcPts val="500"/>
        </a:spcBef>
        <a:buFontTx/>
        <a:buNone/>
        <a:defRPr sz="750" kern="1200">
          <a:solidFill>
            <a:schemeClr val="tx1"/>
          </a:solidFill>
          <a:latin typeface="Arial" panose="020B0604020202020204" pitchFamily="34" charset="0"/>
          <a:ea typeface="+mn-ea"/>
          <a:cs typeface="Arial" panose="020B0604020202020204" pitchFamily="34" charset="0"/>
        </a:defRPr>
      </a:lvl3pPr>
      <a:lvl4pPr marL="1371600" indent="0" algn="l" defTabSz="914400" rtl="0" eaLnBrk="1" latinLnBrk="0" hangingPunct="1">
        <a:lnSpc>
          <a:spcPct val="90000"/>
        </a:lnSpc>
        <a:spcBef>
          <a:spcPts val="500"/>
        </a:spcBef>
        <a:buFontTx/>
        <a:buNone/>
        <a:defRPr sz="750" kern="1200">
          <a:solidFill>
            <a:schemeClr val="tx1"/>
          </a:solidFill>
          <a:latin typeface="Arial" panose="020B0604020202020204" pitchFamily="34" charset="0"/>
          <a:ea typeface="+mn-ea"/>
          <a:cs typeface="Arial" panose="020B0604020202020204" pitchFamily="34" charset="0"/>
        </a:defRPr>
      </a:lvl4pPr>
      <a:lvl5pPr marL="1828800" indent="0" algn="l" defTabSz="914400" rtl="0" eaLnBrk="1" latinLnBrk="0" hangingPunct="1">
        <a:lnSpc>
          <a:spcPct val="90000"/>
        </a:lnSpc>
        <a:spcBef>
          <a:spcPts val="500"/>
        </a:spcBef>
        <a:buFontTx/>
        <a:buNone/>
        <a:defRPr sz="75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61239436"/>
      </p:ext>
    </p:extLst>
  </p:cSld>
  <p:clrMap bg1="lt1" tx1="dk1" bg2="lt2" tx2="dk2" accent1="accent1" accent2="accent2" accent3="accent3" accent4="accent4" accent5="accent5" accent6="accent6" hlink="hlink" folHlink="folHlink"/>
  <p:hf hdr="0" ftr="0" dt="0"/>
  <p:txStyles>
    <p:titleStyle>
      <a:lvl1pPr algn="l" defTabSz="1187798" rtl="0" eaLnBrk="1" latinLnBrk="0" hangingPunct="1">
        <a:lnSpc>
          <a:spcPct val="90000"/>
        </a:lnSpc>
        <a:spcBef>
          <a:spcPct val="0"/>
        </a:spcBef>
        <a:buNone/>
        <a:defRPr sz="5716" kern="1200">
          <a:solidFill>
            <a:schemeClr val="tx1"/>
          </a:solidFill>
          <a:latin typeface="+mj-lt"/>
          <a:ea typeface="+mj-ea"/>
          <a:cs typeface="+mj-cs"/>
        </a:defRPr>
      </a:lvl1pPr>
    </p:titleStyle>
    <p:bodyStyle>
      <a:lvl1pPr marL="296950" indent="-296950" algn="l" defTabSz="1187798" rtl="0" eaLnBrk="1" latinLnBrk="0" hangingPunct="1">
        <a:lnSpc>
          <a:spcPct val="90000"/>
        </a:lnSpc>
        <a:spcBef>
          <a:spcPts val="1299"/>
        </a:spcBef>
        <a:buFont typeface="Arial" panose="020B0604020202020204" pitchFamily="34" charset="0"/>
        <a:buChar char="•"/>
        <a:defRPr sz="3636" kern="1200">
          <a:solidFill>
            <a:schemeClr val="tx1"/>
          </a:solidFill>
          <a:latin typeface="+mn-lt"/>
          <a:ea typeface="+mn-ea"/>
          <a:cs typeface="+mn-cs"/>
        </a:defRPr>
      </a:lvl1pPr>
      <a:lvl2pPr marL="890849" indent="-296950" algn="l" defTabSz="1187798" rtl="0" eaLnBrk="1" latinLnBrk="0" hangingPunct="1">
        <a:lnSpc>
          <a:spcPct val="90000"/>
        </a:lnSpc>
        <a:spcBef>
          <a:spcPts val="650"/>
        </a:spcBef>
        <a:buFont typeface="Arial" panose="020B0604020202020204" pitchFamily="34" charset="0"/>
        <a:buChar char="•"/>
        <a:defRPr sz="3118" kern="1200">
          <a:solidFill>
            <a:schemeClr val="tx1"/>
          </a:solidFill>
          <a:latin typeface="+mn-lt"/>
          <a:ea typeface="+mn-ea"/>
          <a:cs typeface="+mn-cs"/>
        </a:defRPr>
      </a:lvl2pPr>
      <a:lvl3pPr marL="1484748" indent="-296950" algn="l" defTabSz="1187798" rtl="0" eaLnBrk="1" latinLnBrk="0" hangingPunct="1">
        <a:lnSpc>
          <a:spcPct val="90000"/>
        </a:lnSpc>
        <a:spcBef>
          <a:spcPts val="650"/>
        </a:spcBef>
        <a:buFont typeface="Arial" panose="020B0604020202020204" pitchFamily="34" charset="0"/>
        <a:buChar char="•"/>
        <a:defRPr sz="2598" kern="1200">
          <a:solidFill>
            <a:schemeClr val="tx1"/>
          </a:solidFill>
          <a:latin typeface="+mn-lt"/>
          <a:ea typeface="+mn-ea"/>
          <a:cs typeface="+mn-cs"/>
        </a:defRPr>
      </a:lvl3pPr>
      <a:lvl4pPr marL="2078648"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4pPr>
      <a:lvl5pPr marL="26725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5pPr>
      <a:lvl6pPr marL="32664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6pPr>
      <a:lvl7pPr marL="3860346"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7pPr>
      <a:lvl8pPr marL="4454245"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8pPr>
      <a:lvl9pPr marL="5048144"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9pPr>
    </p:bodyStyle>
    <p:otherStyle>
      <a:defPPr>
        <a:defRPr lang="en-US"/>
      </a:defPPr>
      <a:lvl1pPr marL="0" algn="l" defTabSz="1187798" rtl="0" eaLnBrk="1" latinLnBrk="0" hangingPunct="1">
        <a:defRPr sz="2338" kern="1200">
          <a:solidFill>
            <a:schemeClr val="tx1"/>
          </a:solidFill>
          <a:latin typeface="+mn-lt"/>
          <a:ea typeface="+mn-ea"/>
          <a:cs typeface="+mn-cs"/>
        </a:defRPr>
      </a:lvl1pPr>
      <a:lvl2pPr marL="593900" algn="l" defTabSz="1187798" rtl="0" eaLnBrk="1" latinLnBrk="0" hangingPunct="1">
        <a:defRPr sz="2338" kern="1200">
          <a:solidFill>
            <a:schemeClr val="tx1"/>
          </a:solidFill>
          <a:latin typeface="+mn-lt"/>
          <a:ea typeface="+mn-ea"/>
          <a:cs typeface="+mn-cs"/>
        </a:defRPr>
      </a:lvl2pPr>
      <a:lvl3pPr marL="1187798" algn="l" defTabSz="1187798" rtl="0" eaLnBrk="1" latinLnBrk="0" hangingPunct="1">
        <a:defRPr sz="2338" kern="1200">
          <a:solidFill>
            <a:schemeClr val="tx1"/>
          </a:solidFill>
          <a:latin typeface="+mn-lt"/>
          <a:ea typeface="+mn-ea"/>
          <a:cs typeface="+mn-cs"/>
        </a:defRPr>
      </a:lvl3pPr>
      <a:lvl4pPr marL="1781699" algn="l" defTabSz="1187798" rtl="0" eaLnBrk="1" latinLnBrk="0" hangingPunct="1">
        <a:defRPr sz="2338" kern="1200">
          <a:solidFill>
            <a:schemeClr val="tx1"/>
          </a:solidFill>
          <a:latin typeface="+mn-lt"/>
          <a:ea typeface="+mn-ea"/>
          <a:cs typeface="+mn-cs"/>
        </a:defRPr>
      </a:lvl4pPr>
      <a:lvl5pPr marL="2375598" algn="l" defTabSz="1187798" rtl="0" eaLnBrk="1" latinLnBrk="0" hangingPunct="1">
        <a:defRPr sz="2338" kern="1200">
          <a:solidFill>
            <a:schemeClr val="tx1"/>
          </a:solidFill>
          <a:latin typeface="+mn-lt"/>
          <a:ea typeface="+mn-ea"/>
          <a:cs typeface="+mn-cs"/>
        </a:defRPr>
      </a:lvl5pPr>
      <a:lvl6pPr marL="2969497" algn="l" defTabSz="1187798" rtl="0" eaLnBrk="1" latinLnBrk="0" hangingPunct="1">
        <a:defRPr sz="2338" kern="1200">
          <a:solidFill>
            <a:schemeClr val="tx1"/>
          </a:solidFill>
          <a:latin typeface="+mn-lt"/>
          <a:ea typeface="+mn-ea"/>
          <a:cs typeface="+mn-cs"/>
        </a:defRPr>
      </a:lvl6pPr>
      <a:lvl7pPr marL="3563396" algn="l" defTabSz="1187798" rtl="0" eaLnBrk="1" latinLnBrk="0" hangingPunct="1">
        <a:defRPr sz="2338" kern="1200">
          <a:solidFill>
            <a:schemeClr val="tx1"/>
          </a:solidFill>
          <a:latin typeface="+mn-lt"/>
          <a:ea typeface="+mn-ea"/>
          <a:cs typeface="+mn-cs"/>
        </a:defRPr>
      </a:lvl7pPr>
      <a:lvl8pPr marL="4157297" algn="l" defTabSz="1187798" rtl="0" eaLnBrk="1" latinLnBrk="0" hangingPunct="1">
        <a:defRPr sz="2338" kern="1200">
          <a:solidFill>
            <a:schemeClr val="tx1"/>
          </a:solidFill>
          <a:latin typeface="+mn-lt"/>
          <a:ea typeface="+mn-ea"/>
          <a:cs typeface="+mn-cs"/>
        </a:defRPr>
      </a:lvl8pPr>
      <a:lvl9pPr marL="4751195" algn="l" defTabSz="1187798" rtl="0" eaLnBrk="1" latinLnBrk="0" hangingPunct="1">
        <a:defRPr sz="2338"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785A3D6-1271-D247-9E96-1B376F4BE7BE}"/>
              </a:ext>
            </a:extLst>
          </p:cNvPr>
          <p:cNvSpPr txBox="1"/>
          <p:nvPr userDrawn="1"/>
        </p:nvSpPr>
        <p:spPr>
          <a:xfrm>
            <a:off x="1095467" y="6356939"/>
            <a:ext cx="3503965" cy="230832"/>
          </a:xfrm>
          <a:prstGeom prst="rect">
            <a:avLst/>
          </a:prstGeom>
          <a:noFill/>
        </p:spPr>
        <p:txBody>
          <a:bodyPr wrap="square" rtlCol="0">
            <a:spAutoFit/>
          </a:bodyPr>
          <a:lstStyle/>
          <a:p>
            <a:r>
              <a:rPr lang="en-US" altLang="zh-CN" sz="900" b="0" kern="1200" baseline="0" dirty="0">
                <a:solidFill>
                  <a:srgbClr val="1D1D1B"/>
                </a:solidFill>
                <a:latin typeface="Arial" panose="020B0604020202020204" pitchFamily="34" charset="0"/>
                <a:ea typeface="+mn-ea"/>
                <a:cs typeface="Arial" panose="020B0604020202020204" pitchFamily="34" charset="0"/>
              </a:rPr>
              <a:t>Huawei Proprietary - Restricted Distribution</a:t>
            </a:r>
            <a:endParaRPr lang="en-US" sz="900" b="0" kern="1200" baseline="0" dirty="0">
              <a:solidFill>
                <a:srgbClr val="1D1D1B"/>
              </a:solidFill>
              <a:latin typeface="Arial" panose="020B0604020202020204" pitchFamily="34" charset="0"/>
              <a:ea typeface="+mn-ea"/>
              <a:cs typeface="Arial" panose="020B0604020202020204" pitchFamily="34" charset="0"/>
            </a:endParaRPr>
          </a:p>
        </p:txBody>
      </p:sp>
      <p:sp>
        <p:nvSpPr>
          <p:cNvPr id="4" name="TextBox 3">
            <a:extLst>
              <a:ext uri="{FF2B5EF4-FFF2-40B4-BE49-F238E27FC236}">
                <a16:creationId xmlns:a16="http://schemas.microsoft.com/office/drawing/2014/main" id="{EABEE2EE-BF4D-7A4A-B3C6-9E47668CCD98}"/>
              </a:ext>
            </a:extLst>
          </p:cNvPr>
          <p:cNvSpPr txBox="1"/>
          <p:nvPr userDrawn="1"/>
        </p:nvSpPr>
        <p:spPr>
          <a:xfrm>
            <a:off x="734131" y="6402806"/>
            <a:ext cx="499729" cy="138499"/>
          </a:xfrm>
          <a:prstGeom prst="rect">
            <a:avLst/>
          </a:prstGeom>
          <a:noFill/>
        </p:spPr>
        <p:txBody>
          <a:bodyPr wrap="square" lIns="0" tIns="0" rIns="0" bIns="0" rtlCol="0">
            <a:spAutoFit/>
          </a:bodyPr>
          <a:lstStyle/>
          <a:p>
            <a:pPr marL="0" marR="0" lvl="0" indent="0" algn="l" defTabSz="890849" rtl="0" eaLnBrk="1" fontAlgn="auto" latinLnBrk="0" hangingPunct="1">
              <a:lnSpc>
                <a:spcPct val="100000"/>
              </a:lnSpc>
              <a:spcBef>
                <a:spcPts val="0"/>
              </a:spcBef>
              <a:spcAft>
                <a:spcPts val="0"/>
              </a:spcAft>
              <a:buClrTx/>
              <a:buSzTx/>
              <a:buFontTx/>
              <a:buNone/>
              <a:tabLst/>
              <a:defRPr/>
            </a:pPr>
            <a:fld id="{C3837181-38C6-AD4F-B8BA-B444770388BB}" type="slidenum">
              <a:rPr lang="en-US" sz="900" smtClean="0">
                <a:solidFill>
                  <a:srgbClr val="1D1D1B"/>
                </a:solidFill>
                <a:latin typeface="Arial" panose="020B0604020202020204" pitchFamily="34" charset="0"/>
                <a:cs typeface="Arial" panose="020B0604020202020204" pitchFamily="34" charset="0"/>
              </a:rPr>
              <a:pPr marL="0" marR="0" lvl="0" indent="0" algn="l" defTabSz="890849" rtl="0" eaLnBrk="1" fontAlgn="auto" latinLnBrk="0" hangingPunct="1">
                <a:lnSpc>
                  <a:spcPct val="100000"/>
                </a:lnSpc>
                <a:spcBef>
                  <a:spcPts val="0"/>
                </a:spcBef>
                <a:spcAft>
                  <a:spcPts val="0"/>
                </a:spcAft>
                <a:buClrTx/>
                <a:buSzTx/>
                <a:buFontTx/>
                <a:buNone/>
                <a:tabLst/>
                <a:defRPr/>
              </a:pPr>
              <a:t>‹#›</a:t>
            </a:fld>
            <a:endParaRPr lang="en-US" sz="900" dirty="0">
              <a:solidFill>
                <a:srgbClr val="1D1D1B"/>
              </a:solidFill>
              <a:latin typeface="Arial" panose="020B0604020202020204" pitchFamily="34" charset="0"/>
              <a:cs typeface="Arial" panose="020B0604020202020204" pitchFamily="34" charset="0"/>
            </a:endParaRPr>
          </a:p>
        </p:txBody>
      </p:sp>
      <p:grpSp>
        <p:nvGrpSpPr>
          <p:cNvPr id="88" name="Group 87">
            <a:extLst>
              <a:ext uri="{FF2B5EF4-FFF2-40B4-BE49-F238E27FC236}">
                <a16:creationId xmlns:a16="http://schemas.microsoft.com/office/drawing/2014/main" id="{37333705-F8D6-2847-B3CB-F2FAB51E2A3B}"/>
              </a:ext>
            </a:extLst>
          </p:cNvPr>
          <p:cNvGrpSpPr>
            <a:grpSpLocks noChangeAspect="1"/>
          </p:cNvGrpSpPr>
          <p:nvPr userDrawn="1"/>
        </p:nvGrpSpPr>
        <p:grpSpPr>
          <a:xfrm>
            <a:off x="12290470" y="2625389"/>
            <a:ext cx="1967973" cy="4233515"/>
            <a:chOff x="5343885" y="-48857"/>
            <a:chExt cx="3271316" cy="7037279"/>
          </a:xfrm>
        </p:grpSpPr>
        <p:sp>
          <p:nvSpPr>
            <p:cNvPr id="89" name="矩形 13">
              <a:extLst>
                <a:ext uri="{FF2B5EF4-FFF2-40B4-BE49-F238E27FC236}">
                  <a16:creationId xmlns:a16="http://schemas.microsoft.com/office/drawing/2014/main" id="{B14DFA89-D483-CF47-82CC-DD86D7CAB09E}"/>
                </a:ext>
              </a:extLst>
            </p:cNvPr>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RGB</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196/0/84</a:t>
              </a:r>
            </a:p>
          </p:txBody>
        </p:sp>
        <p:sp>
          <p:nvSpPr>
            <p:cNvPr id="90" name="文本框 15">
              <a:extLst>
                <a:ext uri="{FF2B5EF4-FFF2-40B4-BE49-F238E27FC236}">
                  <a16:creationId xmlns:a16="http://schemas.microsoft.com/office/drawing/2014/main" id="{8223ADA0-340A-794B-93B7-24AFF612A719}"/>
                </a:ext>
              </a:extLst>
            </p:cNvPr>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Microsoft YaHei" panose="020B0503020204020204" pitchFamily="34" charset="-122"/>
                  <a:ea typeface="Microsoft YaHei" panose="020B0503020204020204" pitchFamily="34" charset="-122"/>
                </a:rPr>
                <a:t>公司辅助色</a:t>
              </a:r>
            </a:p>
          </p:txBody>
        </p:sp>
        <p:sp>
          <p:nvSpPr>
            <p:cNvPr id="91" name="矩形 13">
              <a:extLst>
                <a:ext uri="{FF2B5EF4-FFF2-40B4-BE49-F238E27FC236}">
                  <a16:creationId xmlns:a16="http://schemas.microsoft.com/office/drawing/2014/main" id="{5F63E0E3-4F22-7948-AB1A-40A84ECA92EC}"/>
                </a:ext>
              </a:extLst>
            </p:cNvPr>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203/55/120</a:t>
              </a:r>
            </a:p>
          </p:txBody>
        </p:sp>
        <p:sp>
          <p:nvSpPr>
            <p:cNvPr id="92" name="矩形 13">
              <a:extLst>
                <a:ext uri="{FF2B5EF4-FFF2-40B4-BE49-F238E27FC236}">
                  <a16:creationId xmlns:a16="http://schemas.microsoft.com/office/drawing/2014/main" id="{29C4A3C6-7C7B-7140-8F73-591E9F49143F}"/>
                </a:ext>
              </a:extLst>
            </p:cNvPr>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237/109/0</a:t>
              </a:r>
            </a:p>
          </p:txBody>
        </p:sp>
        <p:sp>
          <p:nvSpPr>
            <p:cNvPr id="93" name="矩形 13">
              <a:extLst>
                <a:ext uri="{FF2B5EF4-FFF2-40B4-BE49-F238E27FC236}">
                  <a16:creationId xmlns:a16="http://schemas.microsoft.com/office/drawing/2014/main" id="{BE4C9A8D-46B0-5B40-BC47-DB6C4899227F}"/>
                </a:ext>
              </a:extLst>
            </p:cNvPr>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153/54/54</a:t>
              </a:r>
            </a:p>
          </p:txBody>
        </p:sp>
        <p:sp>
          <p:nvSpPr>
            <p:cNvPr id="94" name="矩形 13">
              <a:extLst>
                <a:ext uri="{FF2B5EF4-FFF2-40B4-BE49-F238E27FC236}">
                  <a16:creationId xmlns:a16="http://schemas.microsoft.com/office/drawing/2014/main" id="{612F2ED4-F7A4-9E48-95E1-8D07B3BBE962}"/>
                </a:ext>
              </a:extLst>
            </p:cNvPr>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98/178/48</a:t>
              </a:r>
            </a:p>
          </p:txBody>
        </p:sp>
        <p:sp>
          <p:nvSpPr>
            <p:cNvPr id="95" name="矩形 13">
              <a:extLst>
                <a:ext uri="{FF2B5EF4-FFF2-40B4-BE49-F238E27FC236}">
                  <a16:creationId xmlns:a16="http://schemas.microsoft.com/office/drawing/2014/main" id="{A9E1D476-C288-8945-A68A-1F20C557294B}"/>
                </a:ext>
              </a:extLst>
            </p:cNvPr>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242/137/68</a:t>
              </a:r>
              <a:endParaRPr kumimoji="1" lang="mr-IN" altLang="zh-CN" sz="500" b="1" dirty="0">
                <a:solidFill>
                  <a:srgbClr val="FFFFFF"/>
                </a:solidFill>
                <a:latin typeface="Arial" charset="0"/>
                <a:ea typeface="Arial" charset="0"/>
                <a:cs typeface="Arial" charset="0"/>
              </a:endParaRPr>
            </a:p>
          </p:txBody>
        </p:sp>
        <p:sp>
          <p:nvSpPr>
            <p:cNvPr id="96" name="矩形 13">
              <a:extLst>
                <a:ext uri="{FF2B5EF4-FFF2-40B4-BE49-F238E27FC236}">
                  <a16:creationId xmlns:a16="http://schemas.microsoft.com/office/drawing/2014/main" id="{42823EBB-E62E-F149-AC9A-09950051F283}"/>
                </a:ext>
              </a:extLst>
            </p:cNvPr>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PANTONE 185C</a:t>
              </a:r>
            </a:p>
            <a:p>
              <a:pPr algn="ctr">
                <a:lnSpc>
                  <a:spcPts val="620"/>
                </a:lnSpc>
                <a:spcBef>
                  <a:spcPts val="0"/>
                </a:spcBef>
              </a:pPr>
              <a:r>
                <a:rPr kumimoji="1" lang="en-US" altLang="zh-CN" sz="500" b="1" dirty="0">
                  <a:solidFill>
                    <a:schemeClr val="tx2"/>
                  </a:solidFill>
                  <a:latin typeface="Arial" charset="0"/>
                  <a:ea typeface="Arial" charset="0"/>
                  <a:cs typeface="Arial" charset="0"/>
                </a:rPr>
                <a:t>RGB </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199/0/11  </a:t>
              </a:r>
            </a:p>
          </p:txBody>
        </p:sp>
        <p:sp>
          <p:nvSpPr>
            <p:cNvPr id="97" name="文本框 15">
              <a:extLst>
                <a:ext uri="{FF2B5EF4-FFF2-40B4-BE49-F238E27FC236}">
                  <a16:creationId xmlns:a16="http://schemas.microsoft.com/office/drawing/2014/main" id="{EA01C299-6FF2-3642-AAEC-A1DF62D9C654}"/>
                </a:ext>
              </a:extLst>
            </p:cNvPr>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Microsoft YaHei" panose="020B0503020204020204" pitchFamily="34" charset="-122"/>
                  <a:ea typeface="Microsoft YaHei" panose="020B0503020204020204" pitchFamily="34" charset="-122"/>
                </a:rPr>
                <a:t>公司色</a:t>
              </a:r>
            </a:p>
          </p:txBody>
        </p:sp>
        <p:sp>
          <p:nvSpPr>
            <p:cNvPr id="98" name="矩形 13">
              <a:extLst>
                <a:ext uri="{FF2B5EF4-FFF2-40B4-BE49-F238E27FC236}">
                  <a16:creationId xmlns:a16="http://schemas.microsoft.com/office/drawing/2014/main" id="{B84AB502-165F-764A-9621-65CA8CBBEAEA}"/>
                </a:ext>
              </a:extLst>
            </p:cNvPr>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PANTONE 186C</a:t>
              </a:r>
            </a:p>
            <a:p>
              <a:pPr algn="ctr">
                <a:lnSpc>
                  <a:spcPts val="620"/>
                </a:lnSpc>
              </a:pPr>
              <a:r>
                <a:rPr kumimoji="1" lang="en-US" altLang="zh-CN" sz="500" b="1" dirty="0">
                  <a:solidFill>
                    <a:schemeClr val="tx2"/>
                  </a:solidFill>
                  <a:latin typeface="Arial" charset="0"/>
                  <a:ea typeface="Arial" charset="0"/>
                  <a:cs typeface="Arial" charset="0"/>
                </a:rPr>
                <a:t>RGB</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200/16/46  </a:t>
              </a:r>
            </a:p>
          </p:txBody>
        </p:sp>
        <p:sp>
          <p:nvSpPr>
            <p:cNvPr id="99" name="矩形 13">
              <a:extLst>
                <a:ext uri="{FF2B5EF4-FFF2-40B4-BE49-F238E27FC236}">
                  <a16:creationId xmlns:a16="http://schemas.microsoft.com/office/drawing/2014/main" id="{CB8870E8-3E95-764C-B621-A168E194CC7A}"/>
                </a:ext>
              </a:extLst>
            </p:cNvPr>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127/0/1</a:t>
              </a:r>
            </a:p>
          </p:txBody>
        </p:sp>
        <p:sp>
          <p:nvSpPr>
            <p:cNvPr id="100" name="矩形 13">
              <a:extLst>
                <a:ext uri="{FF2B5EF4-FFF2-40B4-BE49-F238E27FC236}">
                  <a16:creationId xmlns:a16="http://schemas.microsoft.com/office/drawing/2014/main" id="{356EF69A-1936-544F-A95F-0664F4E186D5}"/>
                </a:ext>
              </a:extLst>
            </p:cNvPr>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52/200/0</a:t>
              </a:r>
            </a:p>
          </p:txBody>
        </p:sp>
        <p:sp>
          <p:nvSpPr>
            <p:cNvPr id="101" name="矩形 13">
              <a:extLst>
                <a:ext uri="{FF2B5EF4-FFF2-40B4-BE49-F238E27FC236}">
                  <a16:creationId xmlns:a16="http://schemas.microsoft.com/office/drawing/2014/main" id="{03EBAB43-95A5-1C4A-8458-B86EB3D51FCA}"/>
                </a:ext>
              </a:extLst>
            </p:cNvPr>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48/181/197</a:t>
              </a:r>
            </a:p>
          </p:txBody>
        </p:sp>
        <p:sp>
          <p:nvSpPr>
            <p:cNvPr id="102" name="矩形 13">
              <a:extLst>
                <a:ext uri="{FF2B5EF4-FFF2-40B4-BE49-F238E27FC236}">
                  <a16:creationId xmlns:a16="http://schemas.microsoft.com/office/drawing/2014/main" id="{371A8520-F934-304C-B57F-B49F768694E2}"/>
                </a:ext>
              </a:extLst>
            </p:cNvPr>
            <p:cNvSpPr/>
            <p:nvPr userDrawn="1"/>
          </p:nvSpPr>
          <p:spPr>
            <a:xfrm>
              <a:off x="6184543" y="4866463"/>
              <a:ext cx="791510" cy="664398"/>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129/193/95</a:t>
              </a:r>
            </a:p>
          </p:txBody>
        </p:sp>
        <p:sp>
          <p:nvSpPr>
            <p:cNvPr id="103" name="矩形 13">
              <a:extLst>
                <a:ext uri="{FF2B5EF4-FFF2-40B4-BE49-F238E27FC236}">
                  <a16:creationId xmlns:a16="http://schemas.microsoft.com/office/drawing/2014/main" id="{B83004D7-279B-C14E-9FCF-870FA1B74FDF}"/>
                </a:ext>
              </a:extLst>
            </p:cNvPr>
            <p:cNvSpPr/>
            <p:nvPr userDrawn="1"/>
          </p:nvSpPr>
          <p:spPr>
            <a:xfrm>
              <a:off x="6182308" y="4134866"/>
              <a:ext cx="791510" cy="664398"/>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253/211/81</a:t>
              </a:r>
            </a:p>
          </p:txBody>
        </p:sp>
        <p:sp>
          <p:nvSpPr>
            <p:cNvPr id="104" name="矩形 13">
              <a:extLst>
                <a:ext uri="{FF2B5EF4-FFF2-40B4-BE49-F238E27FC236}">
                  <a16:creationId xmlns:a16="http://schemas.microsoft.com/office/drawing/2014/main" id="{99635968-4E69-CC41-9D78-6DF253FE3035}"/>
                </a:ext>
              </a:extLst>
            </p:cNvPr>
            <p:cNvSpPr/>
            <p:nvPr userDrawn="1"/>
          </p:nvSpPr>
          <p:spPr>
            <a:xfrm>
              <a:off x="6177324" y="5596166"/>
              <a:ext cx="791510" cy="664398"/>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86/196/210</a:t>
              </a:r>
            </a:p>
          </p:txBody>
        </p:sp>
        <p:sp>
          <p:nvSpPr>
            <p:cNvPr id="105" name="矩形 13">
              <a:extLst>
                <a:ext uri="{FF2B5EF4-FFF2-40B4-BE49-F238E27FC236}">
                  <a16:creationId xmlns:a16="http://schemas.microsoft.com/office/drawing/2014/main" id="{BDBE4949-07B7-F046-AD95-68E4B0C11CCD}"/>
                </a:ext>
              </a:extLst>
            </p:cNvPr>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211/57/65</a:t>
              </a:r>
            </a:p>
          </p:txBody>
        </p:sp>
        <p:sp>
          <p:nvSpPr>
            <p:cNvPr id="106" name="矩形 13">
              <a:extLst>
                <a:ext uri="{FF2B5EF4-FFF2-40B4-BE49-F238E27FC236}">
                  <a16:creationId xmlns:a16="http://schemas.microsoft.com/office/drawing/2014/main" id="{AA9F9E00-6A31-F14B-A2E4-79908835FD14}"/>
                </a:ext>
              </a:extLst>
            </p:cNvPr>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p>
            <a:p>
              <a:pPr algn="ctr">
                <a:lnSpc>
                  <a:spcPts val="620"/>
                </a:lnSpc>
              </a:pPr>
              <a:r>
                <a:rPr kumimoji="1" lang="en-US" altLang="zh-CN" sz="500" b="1" dirty="0">
                  <a:solidFill>
                    <a:srgbClr val="FFFFFF"/>
                  </a:solidFill>
                  <a:latin typeface="Arial" charset="0"/>
                  <a:ea typeface="Arial" charset="0"/>
                  <a:cs typeface="Arial" charset="0"/>
                </a:rPr>
                <a:t>211/56/89</a:t>
              </a:r>
            </a:p>
          </p:txBody>
        </p:sp>
        <p:sp>
          <p:nvSpPr>
            <p:cNvPr id="107" name="矩形 13">
              <a:extLst>
                <a:ext uri="{FF2B5EF4-FFF2-40B4-BE49-F238E27FC236}">
                  <a16:creationId xmlns:a16="http://schemas.microsoft.com/office/drawing/2014/main" id="{38715A31-485E-B744-B409-43F9F04B48F7}"/>
                </a:ext>
              </a:extLst>
            </p:cNvPr>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221/128/170</a:t>
              </a:r>
            </a:p>
          </p:txBody>
        </p:sp>
        <p:sp>
          <p:nvSpPr>
            <p:cNvPr id="108" name="矩形 13">
              <a:extLst>
                <a:ext uri="{FF2B5EF4-FFF2-40B4-BE49-F238E27FC236}">
                  <a16:creationId xmlns:a16="http://schemas.microsoft.com/office/drawing/2014/main" id="{4AE1609B-25DD-2C4A-B05B-D18ADBC39C71}"/>
                </a:ext>
              </a:extLst>
            </p:cNvPr>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Arial" charset="0"/>
                  <a:ea typeface="Arial" charset="0"/>
                  <a:cs typeface="Arial" charset="0"/>
                </a:rPr>
                <a:t>RGB 191/128/130</a:t>
              </a:r>
            </a:p>
          </p:txBody>
        </p:sp>
        <p:sp>
          <p:nvSpPr>
            <p:cNvPr id="109" name="矩形 13">
              <a:extLst>
                <a:ext uri="{FF2B5EF4-FFF2-40B4-BE49-F238E27FC236}">
                  <a16:creationId xmlns:a16="http://schemas.microsoft.com/office/drawing/2014/main" id="{ECE90F9F-DBBC-0B49-A42C-8B62397E473E}"/>
                </a:ext>
              </a:extLst>
            </p:cNvPr>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246/183/140</a:t>
              </a:r>
              <a:endParaRPr kumimoji="1" lang="mr-IN" altLang="zh-CN" sz="500" b="1" dirty="0">
                <a:solidFill>
                  <a:srgbClr val="595757"/>
                </a:solidFill>
                <a:latin typeface="Arial" charset="0"/>
                <a:ea typeface="Arial" charset="0"/>
                <a:cs typeface="Arial" charset="0"/>
              </a:endParaRPr>
            </a:p>
          </p:txBody>
        </p:sp>
        <p:sp>
          <p:nvSpPr>
            <p:cNvPr id="110" name="矩形 13">
              <a:extLst>
                <a:ext uri="{FF2B5EF4-FFF2-40B4-BE49-F238E27FC236}">
                  <a16:creationId xmlns:a16="http://schemas.microsoft.com/office/drawing/2014/main" id="{D5B387BA-F8B8-B54E-966E-F24E271747C4}"/>
                </a:ext>
              </a:extLst>
            </p:cNvPr>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176/216/156</a:t>
              </a:r>
            </a:p>
          </p:txBody>
        </p:sp>
        <p:sp>
          <p:nvSpPr>
            <p:cNvPr id="111" name="矩形 13">
              <a:extLst>
                <a:ext uri="{FF2B5EF4-FFF2-40B4-BE49-F238E27FC236}">
                  <a16:creationId xmlns:a16="http://schemas.microsoft.com/office/drawing/2014/main" id="{E6C9B99E-8C1C-2B49-B82E-3C754B8E5C02}"/>
                </a:ext>
              </a:extLst>
            </p:cNvPr>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253/227/181</a:t>
              </a:r>
            </a:p>
          </p:txBody>
        </p:sp>
        <p:sp>
          <p:nvSpPr>
            <p:cNvPr id="112" name="矩形 13">
              <a:extLst>
                <a:ext uri="{FF2B5EF4-FFF2-40B4-BE49-F238E27FC236}">
                  <a16:creationId xmlns:a16="http://schemas.microsoft.com/office/drawing/2014/main" id="{0106BFA2-9DE1-3A42-A6C6-69BCE0FA34F4}"/>
                </a:ext>
              </a:extLst>
            </p:cNvPr>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148/218/226</a:t>
              </a:r>
            </a:p>
          </p:txBody>
        </p:sp>
        <p:sp>
          <p:nvSpPr>
            <p:cNvPr id="113" name="矩形 13">
              <a:extLst>
                <a:ext uri="{FF2B5EF4-FFF2-40B4-BE49-F238E27FC236}">
                  <a16:creationId xmlns:a16="http://schemas.microsoft.com/office/drawing/2014/main" id="{F760C1C5-4342-C346-A7D2-D101978EDF66}"/>
                </a:ext>
              </a:extLst>
            </p:cNvPr>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226/129/137</a:t>
              </a:r>
            </a:p>
          </p:txBody>
        </p:sp>
        <p:sp>
          <p:nvSpPr>
            <p:cNvPr id="114" name="矩形 13">
              <a:extLst>
                <a:ext uri="{FF2B5EF4-FFF2-40B4-BE49-F238E27FC236}">
                  <a16:creationId xmlns:a16="http://schemas.microsoft.com/office/drawing/2014/main" id="{5BB50A4A-0B64-7E4C-824C-1EBCA1A992CF}"/>
                </a:ext>
              </a:extLst>
            </p:cNvPr>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226/129/152</a:t>
              </a:r>
            </a:p>
          </p:txBody>
        </p:sp>
        <p:sp>
          <p:nvSpPr>
            <p:cNvPr id="115" name="矩形 13">
              <a:extLst>
                <a:ext uri="{FF2B5EF4-FFF2-40B4-BE49-F238E27FC236}">
                  <a16:creationId xmlns:a16="http://schemas.microsoft.com/office/drawing/2014/main" id="{756A7E25-6C44-8A44-A8C5-61D19BC9EDAF}"/>
                </a:ext>
              </a:extLst>
            </p:cNvPr>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235/179/204</a:t>
              </a:r>
            </a:p>
          </p:txBody>
        </p:sp>
        <p:sp>
          <p:nvSpPr>
            <p:cNvPr id="116" name="矩形 13">
              <a:extLst>
                <a:ext uri="{FF2B5EF4-FFF2-40B4-BE49-F238E27FC236}">
                  <a16:creationId xmlns:a16="http://schemas.microsoft.com/office/drawing/2014/main" id="{96588389-39CD-DF4E-B9AC-92091E25724E}"/>
                </a:ext>
              </a:extLst>
            </p:cNvPr>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Arial" charset="0"/>
                  <a:ea typeface="Arial" charset="0"/>
                  <a:cs typeface="Arial" charset="0"/>
                </a:rPr>
                <a:t>RGB 216/179/179</a:t>
              </a:r>
            </a:p>
          </p:txBody>
        </p:sp>
        <p:sp>
          <p:nvSpPr>
            <p:cNvPr id="117" name="矩形 13">
              <a:extLst>
                <a:ext uri="{FF2B5EF4-FFF2-40B4-BE49-F238E27FC236}">
                  <a16:creationId xmlns:a16="http://schemas.microsoft.com/office/drawing/2014/main" id="{20725C9F-31AE-DB44-B70A-B4ECDEC0BC00}"/>
                </a:ext>
              </a:extLst>
            </p:cNvPr>
            <p:cNvSpPr/>
            <p:nvPr/>
          </p:nvSpPr>
          <p:spPr>
            <a:xfrm>
              <a:off x="7811114" y="3415851"/>
              <a:ext cx="791510" cy="664398"/>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250/211/187</a:t>
              </a:r>
              <a:endParaRPr kumimoji="1" lang="mr-IN" altLang="zh-CN" sz="500" b="1" dirty="0">
                <a:solidFill>
                  <a:srgbClr val="595757"/>
                </a:solidFill>
                <a:latin typeface="Arial" charset="0"/>
                <a:ea typeface="Arial" charset="0"/>
                <a:cs typeface="Arial" charset="0"/>
              </a:endParaRPr>
            </a:p>
          </p:txBody>
        </p:sp>
        <p:sp>
          <p:nvSpPr>
            <p:cNvPr id="118" name="矩形 13">
              <a:extLst>
                <a:ext uri="{FF2B5EF4-FFF2-40B4-BE49-F238E27FC236}">
                  <a16:creationId xmlns:a16="http://schemas.microsoft.com/office/drawing/2014/main" id="{AC5BCC27-B68D-0743-8E0B-E25F8D01C3A4}"/>
                </a:ext>
              </a:extLst>
            </p:cNvPr>
            <p:cNvSpPr/>
            <p:nvPr/>
          </p:nvSpPr>
          <p:spPr>
            <a:xfrm>
              <a:off x="7820945" y="4866463"/>
              <a:ext cx="791510" cy="664398"/>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208/232/196</a:t>
              </a:r>
            </a:p>
          </p:txBody>
        </p:sp>
        <p:sp>
          <p:nvSpPr>
            <p:cNvPr id="119" name="矩形 13">
              <a:extLst>
                <a:ext uri="{FF2B5EF4-FFF2-40B4-BE49-F238E27FC236}">
                  <a16:creationId xmlns:a16="http://schemas.microsoft.com/office/drawing/2014/main" id="{51C2E83A-C975-6945-B2FD-5B22BBB53DB7}"/>
                </a:ext>
              </a:extLst>
            </p:cNvPr>
            <p:cNvSpPr/>
            <p:nvPr/>
          </p:nvSpPr>
          <p:spPr>
            <a:xfrm>
              <a:off x="7818707" y="4134866"/>
              <a:ext cx="791510" cy="664398"/>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254/238/193</a:t>
              </a:r>
            </a:p>
          </p:txBody>
        </p:sp>
        <p:sp>
          <p:nvSpPr>
            <p:cNvPr id="120" name="矩形 13">
              <a:extLst>
                <a:ext uri="{FF2B5EF4-FFF2-40B4-BE49-F238E27FC236}">
                  <a16:creationId xmlns:a16="http://schemas.microsoft.com/office/drawing/2014/main" id="{BEE9A95F-6965-354F-A2C7-2E8C81DDA52F}"/>
                </a:ext>
              </a:extLst>
            </p:cNvPr>
            <p:cNvSpPr/>
            <p:nvPr/>
          </p:nvSpPr>
          <p:spPr>
            <a:xfrm>
              <a:off x="7823691" y="5596166"/>
              <a:ext cx="791510" cy="664398"/>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190/233/238</a:t>
              </a:r>
            </a:p>
          </p:txBody>
        </p:sp>
        <p:sp>
          <p:nvSpPr>
            <p:cNvPr id="121" name="矩形 13">
              <a:extLst>
                <a:ext uri="{FF2B5EF4-FFF2-40B4-BE49-F238E27FC236}">
                  <a16:creationId xmlns:a16="http://schemas.microsoft.com/office/drawing/2014/main" id="{509164EB-3DC4-7A4F-9E7C-06EBC981CD0A}"/>
                </a:ext>
              </a:extLst>
            </p:cNvPr>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239/178/184</a:t>
              </a:r>
            </a:p>
          </p:txBody>
        </p:sp>
        <p:sp>
          <p:nvSpPr>
            <p:cNvPr id="122" name="矩形 13">
              <a:extLst>
                <a:ext uri="{FF2B5EF4-FFF2-40B4-BE49-F238E27FC236}">
                  <a16:creationId xmlns:a16="http://schemas.microsoft.com/office/drawing/2014/main" id="{667867DD-D3E6-3040-A7B5-39345C0CE2E3}"/>
                </a:ext>
              </a:extLst>
            </p:cNvPr>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238/179/193</a:t>
              </a:r>
            </a:p>
          </p:txBody>
        </p:sp>
        <p:sp>
          <p:nvSpPr>
            <p:cNvPr id="123" name="矩形 13">
              <a:extLst>
                <a:ext uri="{FF2B5EF4-FFF2-40B4-BE49-F238E27FC236}">
                  <a16:creationId xmlns:a16="http://schemas.microsoft.com/office/drawing/2014/main" id="{9EE10597-3782-AB46-8453-89FA049C6C46}"/>
                </a:ext>
              </a:extLst>
            </p:cNvPr>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0/0/0</a:t>
              </a:r>
            </a:p>
          </p:txBody>
        </p:sp>
        <p:sp>
          <p:nvSpPr>
            <p:cNvPr id="124" name="矩形 13">
              <a:extLst>
                <a:ext uri="{FF2B5EF4-FFF2-40B4-BE49-F238E27FC236}">
                  <a16:creationId xmlns:a16="http://schemas.microsoft.com/office/drawing/2014/main" id="{966B3529-B594-884C-BED0-5887B34BBBB8}"/>
                </a:ext>
              </a:extLst>
            </p:cNvPr>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p>
            <a:p>
              <a:pPr algn="ctr">
                <a:lnSpc>
                  <a:spcPts val="620"/>
                </a:lnSpc>
              </a:pPr>
              <a:r>
                <a:rPr kumimoji="1" lang="en-US" altLang="zh-CN" sz="500" b="1" dirty="0">
                  <a:solidFill>
                    <a:srgbClr val="FFFFFF"/>
                  </a:solidFill>
                  <a:latin typeface="Arial" charset="0"/>
                  <a:ea typeface="Arial" charset="0"/>
                  <a:cs typeface="Arial" charset="0"/>
                </a:rPr>
                <a:t>89/87/87</a:t>
              </a:r>
            </a:p>
          </p:txBody>
        </p:sp>
        <p:sp>
          <p:nvSpPr>
            <p:cNvPr id="125" name="矩形 13">
              <a:extLst>
                <a:ext uri="{FF2B5EF4-FFF2-40B4-BE49-F238E27FC236}">
                  <a16:creationId xmlns:a16="http://schemas.microsoft.com/office/drawing/2014/main" id="{0B0545C9-147F-584F-80D2-EF13876D7D33}"/>
                </a:ext>
              </a:extLst>
            </p:cNvPr>
            <p:cNvSpPr/>
            <p:nvPr userDrawn="1"/>
          </p:nvSpPr>
          <p:spPr>
            <a:xfrm>
              <a:off x="6445335" y="6324024"/>
              <a:ext cx="513579" cy="664398"/>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p>
            <a:p>
              <a:pPr algn="ctr">
                <a:lnSpc>
                  <a:spcPts val="620"/>
                </a:lnSpc>
              </a:pPr>
              <a:r>
                <a:rPr kumimoji="1" lang="en-US" altLang="zh-CN" sz="500" b="1" dirty="0">
                  <a:solidFill>
                    <a:srgbClr val="FFFFFF"/>
                  </a:solidFill>
                  <a:latin typeface="Arial" charset="0"/>
                  <a:ea typeface="Arial" charset="0"/>
                  <a:cs typeface="Arial" charset="0"/>
                </a:rPr>
                <a:t>137/137/</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137</a:t>
              </a:r>
            </a:p>
          </p:txBody>
        </p:sp>
        <p:sp>
          <p:nvSpPr>
            <p:cNvPr id="126" name="矩形 13">
              <a:extLst>
                <a:ext uri="{FF2B5EF4-FFF2-40B4-BE49-F238E27FC236}">
                  <a16:creationId xmlns:a16="http://schemas.microsoft.com/office/drawing/2014/main" id="{44FD0A0B-0D45-3340-A523-465AC24134BF}"/>
                </a:ext>
              </a:extLst>
            </p:cNvPr>
            <p:cNvSpPr/>
            <p:nvPr userDrawn="1"/>
          </p:nvSpPr>
          <p:spPr>
            <a:xfrm>
              <a:off x="7003279" y="6324024"/>
              <a:ext cx="513579" cy="664398"/>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p>
            <a:p>
              <a:pPr algn="ctr">
                <a:lnSpc>
                  <a:spcPts val="620"/>
                </a:lnSpc>
              </a:pPr>
              <a:r>
                <a:rPr kumimoji="1" lang="en-US" altLang="zh-CN" sz="500" b="1" dirty="0">
                  <a:solidFill>
                    <a:srgbClr val="FFFFFF"/>
                  </a:solidFill>
                  <a:latin typeface="Arial" charset="0"/>
                  <a:ea typeface="Arial" charset="0"/>
                  <a:cs typeface="Arial" charset="0"/>
                </a:rPr>
                <a:t>181/181/</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181</a:t>
              </a:r>
            </a:p>
          </p:txBody>
        </p:sp>
        <p:sp>
          <p:nvSpPr>
            <p:cNvPr id="127" name="矩形 13">
              <a:extLst>
                <a:ext uri="{FF2B5EF4-FFF2-40B4-BE49-F238E27FC236}">
                  <a16:creationId xmlns:a16="http://schemas.microsoft.com/office/drawing/2014/main" id="{2C404A07-276B-3648-BB25-4EDB5905448C}"/>
                </a:ext>
              </a:extLst>
            </p:cNvPr>
            <p:cNvSpPr/>
            <p:nvPr userDrawn="1"/>
          </p:nvSpPr>
          <p:spPr>
            <a:xfrm>
              <a:off x="7551547" y="6324024"/>
              <a:ext cx="513579" cy="664398"/>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221/221/</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221</a:t>
              </a:r>
            </a:p>
          </p:txBody>
        </p:sp>
        <p:sp>
          <p:nvSpPr>
            <p:cNvPr id="128" name="矩形 13">
              <a:extLst>
                <a:ext uri="{FF2B5EF4-FFF2-40B4-BE49-F238E27FC236}">
                  <a16:creationId xmlns:a16="http://schemas.microsoft.com/office/drawing/2014/main" id="{72B0F29C-A346-8946-9B8E-8F1B9DFF7AD0}"/>
                </a:ext>
              </a:extLst>
            </p:cNvPr>
            <p:cNvSpPr/>
            <p:nvPr userDrawn="1"/>
          </p:nvSpPr>
          <p:spPr>
            <a:xfrm>
              <a:off x="8098559" y="6324024"/>
              <a:ext cx="513579" cy="664398"/>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a:t>
              </a:r>
            </a:p>
            <a:p>
              <a:pPr algn="ctr">
                <a:lnSpc>
                  <a:spcPts val="620"/>
                </a:lnSpc>
              </a:pPr>
              <a:r>
                <a:rPr kumimoji="1" lang="en-US" altLang="zh-CN" sz="500" b="1" dirty="0">
                  <a:solidFill>
                    <a:srgbClr val="595757"/>
                  </a:solidFill>
                  <a:latin typeface="Arial" charset="0"/>
                  <a:ea typeface="Arial" charset="0"/>
                  <a:cs typeface="Arial" charset="0"/>
                </a:rPr>
                <a:t>255/255/</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255</a:t>
              </a:r>
            </a:p>
          </p:txBody>
        </p:sp>
      </p:grpSp>
      <p:pic>
        <p:nvPicPr>
          <p:cNvPr id="47" name="Picture 46">
            <a:extLst>
              <a:ext uri="{FF2B5EF4-FFF2-40B4-BE49-F238E27FC236}">
                <a16:creationId xmlns:a16="http://schemas.microsoft.com/office/drawing/2014/main" id="{92D9040A-3082-2F49-987E-B51574332EF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196176" y="6323416"/>
            <a:ext cx="1270800" cy="275024"/>
          </a:xfrm>
          <a:prstGeom prst="rect">
            <a:avLst/>
          </a:prstGeom>
        </p:spPr>
      </p:pic>
    </p:spTree>
    <p:extLst>
      <p:ext uri="{BB962C8B-B14F-4D97-AF65-F5344CB8AC3E}">
        <p14:creationId xmlns:p14="http://schemas.microsoft.com/office/powerpoint/2010/main" val="99056531"/>
      </p:ext>
    </p:extLst>
  </p:cSld>
  <p:clrMap bg1="lt1" tx1="dk1" bg2="lt2" tx2="dk2" accent1="accent1" accent2="accent2" accent3="accent3" accent4="accent4" accent5="accent5" accent6="accent6" hlink="hlink" folHlink="folHlink"/>
  <p:hf hdr="0" ftr="0" dt="0"/>
  <p:txStyles>
    <p:titleStyle>
      <a:lvl1pPr algn="l" defTabSz="1187798" rtl="0" eaLnBrk="1" latinLnBrk="0" hangingPunct="1">
        <a:lnSpc>
          <a:spcPct val="90000"/>
        </a:lnSpc>
        <a:spcBef>
          <a:spcPct val="0"/>
        </a:spcBef>
        <a:buNone/>
        <a:defRPr sz="5716" kern="1200">
          <a:solidFill>
            <a:schemeClr val="tx1"/>
          </a:solidFill>
          <a:latin typeface="+mj-lt"/>
          <a:ea typeface="+mj-ea"/>
          <a:cs typeface="+mj-cs"/>
        </a:defRPr>
      </a:lvl1pPr>
    </p:titleStyle>
    <p:bodyStyle>
      <a:lvl1pPr marL="296950" indent="-296950" algn="l" defTabSz="1187798" rtl="0" eaLnBrk="1" latinLnBrk="0" hangingPunct="1">
        <a:lnSpc>
          <a:spcPct val="90000"/>
        </a:lnSpc>
        <a:spcBef>
          <a:spcPts val="1299"/>
        </a:spcBef>
        <a:buFont typeface="Arial" panose="020B0604020202020204" pitchFamily="34" charset="0"/>
        <a:buChar char="•"/>
        <a:defRPr sz="3636" kern="1200">
          <a:solidFill>
            <a:schemeClr val="tx1"/>
          </a:solidFill>
          <a:latin typeface="+mn-lt"/>
          <a:ea typeface="+mn-ea"/>
          <a:cs typeface="+mn-cs"/>
        </a:defRPr>
      </a:lvl1pPr>
      <a:lvl2pPr marL="890849" indent="-296950" algn="l" defTabSz="1187798" rtl="0" eaLnBrk="1" latinLnBrk="0" hangingPunct="1">
        <a:lnSpc>
          <a:spcPct val="90000"/>
        </a:lnSpc>
        <a:spcBef>
          <a:spcPts val="650"/>
        </a:spcBef>
        <a:buFont typeface="Arial" panose="020B0604020202020204" pitchFamily="34" charset="0"/>
        <a:buChar char="•"/>
        <a:defRPr sz="3118" kern="1200">
          <a:solidFill>
            <a:schemeClr val="tx1"/>
          </a:solidFill>
          <a:latin typeface="+mn-lt"/>
          <a:ea typeface="+mn-ea"/>
          <a:cs typeface="+mn-cs"/>
        </a:defRPr>
      </a:lvl2pPr>
      <a:lvl3pPr marL="1484748" indent="-296950" algn="l" defTabSz="1187798" rtl="0" eaLnBrk="1" latinLnBrk="0" hangingPunct="1">
        <a:lnSpc>
          <a:spcPct val="90000"/>
        </a:lnSpc>
        <a:spcBef>
          <a:spcPts val="650"/>
        </a:spcBef>
        <a:buFont typeface="Arial" panose="020B0604020202020204" pitchFamily="34" charset="0"/>
        <a:buChar char="•"/>
        <a:defRPr sz="2598" kern="1200">
          <a:solidFill>
            <a:schemeClr val="tx1"/>
          </a:solidFill>
          <a:latin typeface="+mn-lt"/>
          <a:ea typeface="+mn-ea"/>
          <a:cs typeface="+mn-cs"/>
        </a:defRPr>
      </a:lvl3pPr>
      <a:lvl4pPr marL="2078648"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4pPr>
      <a:lvl5pPr marL="26725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5pPr>
      <a:lvl6pPr marL="32664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6pPr>
      <a:lvl7pPr marL="3860346"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7pPr>
      <a:lvl8pPr marL="4454245"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8pPr>
      <a:lvl9pPr marL="5048144"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9pPr>
    </p:bodyStyle>
    <p:otherStyle>
      <a:defPPr>
        <a:defRPr lang="en-US"/>
      </a:defPPr>
      <a:lvl1pPr marL="0" algn="l" defTabSz="1187798" rtl="0" eaLnBrk="1" latinLnBrk="0" hangingPunct="1">
        <a:defRPr sz="2338" kern="1200">
          <a:solidFill>
            <a:schemeClr val="tx1"/>
          </a:solidFill>
          <a:latin typeface="+mn-lt"/>
          <a:ea typeface="+mn-ea"/>
          <a:cs typeface="+mn-cs"/>
        </a:defRPr>
      </a:lvl1pPr>
      <a:lvl2pPr marL="593900" algn="l" defTabSz="1187798" rtl="0" eaLnBrk="1" latinLnBrk="0" hangingPunct="1">
        <a:defRPr sz="2338" kern="1200">
          <a:solidFill>
            <a:schemeClr val="tx1"/>
          </a:solidFill>
          <a:latin typeface="+mn-lt"/>
          <a:ea typeface="+mn-ea"/>
          <a:cs typeface="+mn-cs"/>
        </a:defRPr>
      </a:lvl2pPr>
      <a:lvl3pPr marL="1187798" algn="l" defTabSz="1187798" rtl="0" eaLnBrk="1" latinLnBrk="0" hangingPunct="1">
        <a:defRPr sz="2338" kern="1200">
          <a:solidFill>
            <a:schemeClr val="tx1"/>
          </a:solidFill>
          <a:latin typeface="+mn-lt"/>
          <a:ea typeface="+mn-ea"/>
          <a:cs typeface="+mn-cs"/>
        </a:defRPr>
      </a:lvl3pPr>
      <a:lvl4pPr marL="1781699" algn="l" defTabSz="1187798" rtl="0" eaLnBrk="1" latinLnBrk="0" hangingPunct="1">
        <a:defRPr sz="2338" kern="1200">
          <a:solidFill>
            <a:schemeClr val="tx1"/>
          </a:solidFill>
          <a:latin typeface="+mn-lt"/>
          <a:ea typeface="+mn-ea"/>
          <a:cs typeface="+mn-cs"/>
        </a:defRPr>
      </a:lvl4pPr>
      <a:lvl5pPr marL="2375598" algn="l" defTabSz="1187798" rtl="0" eaLnBrk="1" latinLnBrk="0" hangingPunct="1">
        <a:defRPr sz="2338" kern="1200">
          <a:solidFill>
            <a:schemeClr val="tx1"/>
          </a:solidFill>
          <a:latin typeface="+mn-lt"/>
          <a:ea typeface="+mn-ea"/>
          <a:cs typeface="+mn-cs"/>
        </a:defRPr>
      </a:lvl5pPr>
      <a:lvl6pPr marL="2969497" algn="l" defTabSz="1187798" rtl="0" eaLnBrk="1" latinLnBrk="0" hangingPunct="1">
        <a:defRPr sz="2338" kern="1200">
          <a:solidFill>
            <a:schemeClr val="tx1"/>
          </a:solidFill>
          <a:latin typeface="+mn-lt"/>
          <a:ea typeface="+mn-ea"/>
          <a:cs typeface="+mn-cs"/>
        </a:defRPr>
      </a:lvl6pPr>
      <a:lvl7pPr marL="3563396" algn="l" defTabSz="1187798" rtl="0" eaLnBrk="1" latinLnBrk="0" hangingPunct="1">
        <a:defRPr sz="2338" kern="1200">
          <a:solidFill>
            <a:schemeClr val="tx1"/>
          </a:solidFill>
          <a:latin typeface="+mn-lt"/>
          <a:ea typeface="+mn-ea"/>
          <a:cs typeface="+mn-cs"/>
        </a:defRPr>
      </a:lvl7pPr>
      <a:lvl8pPr marL="4157297" algn="l" defTabSz="1187798" rtl="0" eaLnBrk="1" latinLnBrk="0" hangingPunct="1">
        <a:defRPr sz="2338" kern="1200">
          <a:solidFill>
            <a:schemeClr val="tx1"/>
          </a:solidFill>
          <a:latin typeface="+mn-lt"/>
          <a:ea typeface="+mn-ea"/>
          <a:cs typeface="+mn-cs"/>
        </a:defRPr>
      </a:lvl8pPr>
      <a:lvl9pPr marL="4751195" algn="l" defTabSz="1187798" rtl="0" eaLnBrk="1" latinLnBrk="0" hangingPunct="1">
        <a:defRPr sz="2338"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45F1158-B1AA-8F41-AF0A-FEA0EC1874AC}"/>
              </a:ext>
            </a:extLst>
          </p:cNvPr>
          <p:cNvSpPr>
            <a:spLocks noGrp="1"/>
          </p:cNvSpPr>
          <p:nvPr>
            <p:ph type="title"/>
          </p:nvPr>
        </p:nvSpPr>
        <p:spPr>
          <a:xfrm>
            <a:off x="618969" y="1467870"/>
            <a:ext cx="3984232" cy="2816080"/>
          </a:xfrm>
          <a:prstGeom prst="rect">
            <a:avLst/>
          </a:prstGeom>
        </p:spPr>
        <p:txBody>
          <a:bodyPr vert="horz" lIns="91440" tIns="45720" rIns="91440" bIns="45720" rtlCol="0" anchor="t">
            <a:normAutofit/>
          </a:bodyPr>
          <a:lstStyle/>
          <a:p>
            <a:r>
              <a:rPr lang="en-US" dirty="0"/>
              <a:t>Click to edit Master title style</a:t>
            </a:r>
          </a:p>
        </p:txBody>
      </p:sp>
      <p:sp>
        <p:nvSpPr>
          <p:cNvPr id="5" name="Text Placeholder 1">
            <a:extLst>
              <a:ext uri="{FF2B5EF4-FFF2-40B4-BE49-F238E27FC236}">
                <a16:creationId xmlns:a16="http://schemas.microsoft.com/office/drawing/2014/main" id="{F8FC7CCD-75EB-9C44-BC7D-29679334A8CA}"/>
              </a:ext>
            </a:extLst>
          </p:cNvPr>
          <p:cNvSpPr txBox="1">
            <a:spLocks/>
          </p:cNvSpPr>
          <p:nvPr userDrawn="1"/>
        </p:nvSpPr>
        <p:spPr>
          <a:xfrm>
            <a:off x="7979357" y="2794960"/>
            <a:ext cx="3225168" cy="2029962"/>
          </a:xfrm>
          <a:prstGeom prst="rect">
            <a:avLst/>
          </a:prstGeom>
        </p:spPr>
        <p:txBody>
          <a:bodyPr lIns="0" tIns="0" rIns="0" bIns="0">
            <a:norm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rgbClr val="FFFFFF"/>
                </a:solidFill>
                <a:latin typeface="Microsoft YaHei" panose="020B0503020204020204" pitchFamily="34" charset="-122"/>
                <a:ea typeface="Microsoft YaHei" panose="020B0503020204020204" pitchFamily="34" charset="-122"/>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ts val="1065"/>
              </a:lnSpc>
            </a:pPr>
            <a:r>
              <a:rPr kumimoji="1" lang="en-US" altLang="zh-CN" sz="850" b="1" baseline="0" dirty="0">
                <a:solidFill>
                  <a:srgbClr val="1D1D1B"/>
                </a:solidFill>
                <a:latin typeface="+mj-lt"/>
              </a:rPr>
              <a:t>Copyright©2018 Huawei Technologies Co., Ltd.</a:t>
            </a:r>
            <a:br>
              <a:rPr kumimoji="1" lang="en-US" altLang="zh-CN" sz="850" b="1" baseline="0" dirty="0">
                <a:solidFill>
                  <a:srgbClr val="1D1D1B"/>
                </a:solidFill>
                <a:latin typeface="+mj-lt"/>
              </a:rPr>
            </a:br>
            <a:r>
              <a:rPr kumimoji="1" lang="en-US" altLang="zh-CN" sz="850" b="1" baseline="0" dirty="0">
                <a:solidFill>
                  <a:srgbClr val="1D1D1B"/>
                </a:solidFill>
                <a:latin typeface="+mj-lt"/>
              </a:rPr>
              <a:t>All Rights Reserved.</a:t>
            </a:r>
            <a:br>
              <a:rPr kumimoji="1" lang="en-US" altLang="zh-CN" sz="779" dirty="0">
                <a:solidFill>
                  <a:srgbClr val="1D1D1B"/>
                </a:solidFill>
                <a:latin typeface="+mn-lt"/>
              </a:rPr>
            </a:br>
            <a:br>
              <a:rPr kumimoji="1" lang="en-US" altLang="zh-CN" sz="779" dirty="0">
                <a:solidFill>
                  <a:srgbClr val="1D1D1B"/>
                </a:solidFill>
                <a:latin typeface="+mn-lt"/>
              </a:rPr>
            </a:br>
            <a:r>
              <a:rPr kumimoji="1" lang="en-US" altLang="zh-CN" sz="850" baseline="0" dirty="0">
                <a:solidFill>
                  <a:srgbClr val="1D1D1B"/>
                </a:solidFill>
                <a:latin typeface="+mn-lt"/>
                <a:cs typeface="Arial" panose="020B0604020202020204" pitchFamily="34" charset="0"/>
              </a:rPr>
              <a:t>The information in this document may contain predictive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statements including, without limitation, statements regarding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the future financial and operating results, future product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portfolio, new technology, etc. There are a number of factors that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could cause actual results and developments to differ materially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from those expressed or implied in the predictive statements.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Therefore, such information is provided for reference purpose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only and constitutes neither an offer nor an acceptance. Huawei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may change the information at any time without notice. </a:t>
            </a:r>
          </a:p>
          <a:p>
            <a:pPr>
              <a:lnSpc>
                <a:spcPts val="1065"/>
              </a:lnSpc>
            </a:pPr>
            <a:endParaRPr kumimoji="1" lang="zh-CN" altLang="en-US" sz="779" dirty="0">
              <a:solidFill>
                <a:srgbClr val="1D1D1B"/>
              </a:solidFill>
              <a:latin typeface="+mn-lt"/>
            </a:endParaRPr>
          </a:p>
        </p:txBody>
      </p:sp>
      <p:sp>
        <p:nvSpPr>
          <p:cNvPr id="6" name="Subtitle 6">
            <a:extLst>
              <a:ext uri="{FF2B5EF4-FFF2-40B4-BE49-F238E27FC236}">
                <a16:creationId xmlns:a16="http://schemas.microsoft.com/office/drawing/2014/main" id="{12B8F806-ABD5-064C-8793-5E22C72554FD}"/>
              </a:ext>
            </a:extLst>
          </p:cNvPr>
          <p:cNvSpPr txBox="1">
            <a:spLocks/>
          </p:cNvSpPr>
          <p:nvPr userDrawn="1"/>
        </p:nvSpPr>
        <p:spPr>
          <a:xfrm>
            <a:off x="7987276" y="1631849"/>
            <a:ext cx="3477701" cy="491114"/>
          </a:xfrm>
          <a:prstGeom prst="rect">
            <a:avLst/>
          </a:prstGeom>
        </p:spPr>
        <p:txBody>
          <a:bodyPr lIns="0" tIns="0" rIns="0" bIns="0">
            <a:norm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rgbClr val="FFFFFF"/>
                </a:solidFill>
                <a:latin typeface="Microsoft YaHei" panose="020B0503020204020204" pitchFamily="34" charset="-122"/>
                <a:ea typeface="Microsoft YaHei" panose="020B0503020204020204" pitchFamily="34" charset="-122"/>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ts val="1681"/>
              </a:lnSpc>
              <a:spcBef>
                <a:spcPts val="0"/>
              </a:spcBef>
            </a:pPr>
            <a:r>
              <a:rPr kumimoji="1" lang="zh-CN" altLang="en-US" sz="1300" dirty="0">
                <a:solidFill>
                  <a:srgbClr val="1D1D1B"/>
                </a:solidFill>
                <a:latin typeface="Microsoft YaHei" charset="-122"/>
                <a:ea typeface="Microsoft YaHei" charset="-122"/>
                <a:cs typeface="Microsoft YaHei" charset="-122"/>
              </a:rPr>
              <a:t>把数字世界带入每个人、每个家庭、</a:t>
            </a:r>
            <a:br>
              <a:rPr kumimoji="1" lang="en-US" altLang="zh-CN" sz="1300" dirty="0">
                <a:solidFill>
                  <a:srgbClr val="1D1D1B"/>
                </a:solidFill>
                <a:latin typeface="Microsoft YaHei" charset="-122"/>
                <a:ea typeface="Microsoft YaHei" charset="-122"/>
                <a:cs typeface="Microsoft YaHei" charset="-122"/>
              </a:rPr>
            </a:br>
            <a:r>
              <a:rPr kumimoji="1" lang="zh-CN" altLang="en-US" sz="1300" dirty="0">
                <a:solidFill>
                  <a:srgbClr val="1D1D1B"/>
                </a:solidFill>
                <a:latin typeface="Microsoft YaHei" charset="-122"/>
                <a:ea typeface="Microsoft YaHei" charset="-122"/>
                <a:cs typeface="Microsoft YaHei" charset="-122"/>
              </a:rPr>
              <a:t>每个组织，构建万物互联的智能世界。</a:t>
            </a:r>
          </a:p>
        </p:txBody>
      </p:sp>
      <p:sp>
        <p:nvSpPr>
          <p:cNvPr id="7" name="Subtitle 6">
            <a:extLst>
              <a:ext uri="{FF2B5EF4-FFF2-40B4-BE49-F238E27FC236}">
                <a16:creationId xmlns:a16="http://schemas.microsoft.com/office/drawing/2014/main" id="{F1235B6F-D691-2C40-93D4-EC5427ADDFB0}"/>
              </a:ext>
            </a:extLst>
          </p:cNvPr>
          <p:cNvSpPr txBox="1">
            <a:spLocks/>
          </p:cNvSpPr>
          <p:nvPr userDrawn="1"/>
        </p:nvSpPr>
        <p:spPr>
          <a:xfrm>
            <a:off x="7977672" y="2106124"/>
            <a:ext cx="3481833" cy="582808"/>
          </a:xfrm>
          <a:prstGeom prst="rect">
            <a:avLst/>
          </a:prstGeom>
        </p:spPr>
        <p:txBody>
          <a:bodyPr vert="horz" lIns="0" tIns="0" rIns="0" bIns="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chemeClr val="tx1"/>
                </a:solidFill>
                <a:latin typeface="Microsoft YaHei" panose="020B0503020204020204" pitchFamily="34" charset="-122"/>
                <a:ea typeface="Microsoft YaHei" panose="020B0503020204020204" pitchFamily="34" charset="-122"/>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ts val="1294"/>
              </a:lnSpc>
            </a:pPr>
            <a:r>
              <a:rPr kumimoji="1" lang="en-US" altLang="zh-CN" sz="1200" dirty="0">
                <a:solidFill>
                  <a:srgbClr val="1D1D1B"/>
                </a:solidFill>
                <a:latin typeface="+mn-lt"/>
                <a:cs typeface="Arial" panose="020B0604020202020204" pitchFamily="34" charset="0"/>
              </a:rPr>
              <a:t>Bring digital to every person, home and </a:t>
            </a:r>
            <a:br>
              <a:rPr kumimoji="1" lang="en-US" altLang="zh-CN" sz="1200" dirty="0">
                <a:solidFill>
                  <a:srgbClr val="1D1D1B"/>
                </a:solidFill>
                <a:latin typeface="+mn-lt"/>
                <a:cs typeface="Arial" panose="020B0604020202020204" pitchFamily="34" charset="0"/>
              </a:rPr>
            </a:br>
            <a:r>
              <a:rPr kumimoji="1" lang="en-US" altLang="zh-CN" sz="1200" dirty="0">
                <a:solidFill>
                  <a:srgbClr val="1D1D1B"/>
                </a:solidFill>
                <a:latin typeface="+mn-lt"/>
                <a:cs typeface="Arial" panose="020B0604020202020204" pitchFamily="34" charset="0"/>
              </a:rPr>
              <a:t>organization for a fully connected, </a:t>
            </a:r>
            <a:br>
              <a:rPr kumimoji="1" lang="en-US" altLang="zh-CN" sz="1200" dirty="0">
                <a:solidFill>
                  <a:srgbClr val="1D1D1B"/>
                </a:solidFill>
                <a:latin typeface="+mn-lt"/>
                <a:cs typeface="Arial" panose="020B0604020202020204" pitchFamily="34" charset="0"/>
              </a:rPr>
            </a:br>
            <a:r>
              <a:rPr kumimoji="1" lang="en-US" altLang="zh-CN" sz="1200" dirty="0">
                <a:solidFill>
                  <a:srgbClr val="1D1D1B"/>
                </a:solidFill>
                <a:latin typeface="+mn-lt"/>
                <a:cs typeface="Arial" panose="020B0604020202020204" pitchFamily="34" charset="0"/>
              </a:rPr>
              <a:t>intelligent world.</a:t>
            </a:r>
            <a:endParaRPr kumimoji="1" lang="zh-CN" altLang="en-US" sz="1200" dirty="0">
              <a:solidFill>
                <a:srgbClr val="1D1D1B"/>
              </a:solidFill>
              <a:latin typeface="+mn-lt"/>
              <a:ea typeface="Microsoft YaHei" charset="-122"/>
              <a:cs typeface="Microsoft YaHei" charset="-122"/>
            </a:endParaRPr>
          </a:p>
        </p:txBody>
      </p:sp>
      <p:pic>
        <p:nvPicPr>
          <p:cNvPr id="8" name="Picture 7">
            <a:extLst>
              <a:ext uri="{FF2B5EF4-FFF2-40B4-BE49-F238E27FC236}">
                <a16:creationId xmlns:a16="http://schemas.microsoft.com/office/drawing/2014/main" id="{BA792140-33FB-E045-9071-EE8DB65F2A19}"/>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973676" y="5237566"/>
            <a:ext cx="1875600" cy="405914"/>
          </a:xfrm>
          <a:prstGeom prst="rect">
            <a:avLst/>
          </a:prstGeom>
        </p:spPr>
      </p:pic>
    </p:spTree>
    <p:extLst>
      <p:ext uri="{BB962C8B-B14F-4D97-AF65-F5344CB8AC3E}">
        <p14:creationId xmlns:p14="http://schemas.microsoft.com/office/powerpoint/2010/main" val="2848406896"/>
      </p:ext>
    </p:extLst>
  </p:cSld>
  <p:clrMap bg1="lt1" tx1="dk1" bg2="lt2" tx2="dk2" accent1="accent1" accent2="accent2" accent3="accent3" accent4="accent4" accent5="accent5" accent6="accent6" hlink="hlink" folHlink="folHlink"/>
  <p:sldLayoutIdLst>
    <p:sldLayoutId id="2147483686" r:id="rId1"/>
  </p:sldLayoutIdLst>
  <p:hf hdr="0" ftr="0" dt="0"/>
  <p:txStyles>
    <p:titleStyle>
      <a:lvl1pPr algn="l" defTabSz="1187798" rtl="0" eaLnBrk="1" latinLnBrk="0" hangingPunct="1">
        <a:lnSpc>
          <a:spcPct val="90000"/>
        </a:lnSpc>
        <a:spcBef>
          <a:spcPct val="0"/>
        </a:spcBef>
        <a:buNone/>
        <a:defRPr sz="5000" b="0" kern="1200">
          <a:solidFill>
            <a:schemeClr val="tx1"/>
          </a:solidFill>
          <a:latin typeface="Arial" panose="020B0604020202020204" pitchFamily="34" charset="0"/>
          <a:ea typeface="Microsoft YaHei" panose="020B0503020204020204" pitchFamily="34" charset="-122"/>
          <a:cs typeface="Arial" panose="020B0604020202020204" pitchFamily="34" charset="0"/>
        </a:defRPr>
      </a:lvl1pPr>
    </p:titleStyle>
    <p:bodyStyle>
      <a:lvl1pPr marL="0" indent="0" algn="l" defTabSz="1187798" rtl="0" eaLnBrk="1" latinLnBrk="0" hangingPunct="1">
        <a:lnSpc>
          <a:spcPct val="90000"/>
        </a:lnSpc>
        <a:spcBef>
          <a:spcPts val="1299"/>
        </a:spcBef>
        <a:buFont typeface="Arial" panose="020B0604020202020204" pitchFamily="34" charset="0"/>
        <a:buNone/>
        <a:defRPr sz="1819" kern="1200">
          <a:solidFill>
            <a:srgbClr val="FFFFFF"/>
          </a:solidFill>
          <a:latin typeface="Microsoft YaHei" panose="020B0503020204020204" pitchFamily="34" charset="-122"/>
          <a:ea typeface="Microsoft YaHei" panose="020B0503020204020204" pitchFamily="34" charset="-122"/>
          <a:cs typeface="+mn-cs"/>
        </a:defRPr>
      </a:lvl1pPr>
      <a:lvl2pPr marL="593900" indent="0" algn="l" defTabSz="1187798" rtl="0" eaLnBrk="1" latinLnBrk="0" hangingPunct="1">
        <a:lnSpc>
          <a:spcPct val="90000"/>
        </a:lnSpc>
        <a:spcBef>
          <a:spcPts val="650"/>
        </a:spcBef>
        <a:buFont typeface="Arial" panose="020B0604020202020204" pitchFamily="34" charset="0"/>
        <a:buNone/>
        <a:defRPr sz="3118" kern="1200">
          <a:solidFill>
            <a:schemeClr val="tx1"/>
          </a:solidFill>
          <a:latin typeface="+mn-lt"/>
          <a:ea typeface="+mn-ea"/>
          <a:cs typeface="+mn-cs"/>
        </a:defRPr>
      </a:lvl2pPr>
      <a:lvl3pPr marL="1187798" indent="0" algn="l" defTabSz="1187798" rtl="0" eaLnBrk="1" latinLnBrk="0" hangingPunct="1">
        <a:lnSpc>
          <a:spcPct val="90000"/>
        </a:lnSpc>
        <a:spcBef>
          <a:spcPts val="650"/>
        </a:spcBef>
        <a:buFont typeface="Arial" panose="020B0604020202020204" pitchFamily="34" charset="0"/>
        <a:buNone/>
        <a:defRPr sz="2598" kern="1200">
          <a:solidFill>
            <a:schemeClr val="tx1"/>
          </a:solidFill>
          <a:latin typeface="+mn-lt"/>
          <a:ea typeface="+mn-ea"/>
          <a:cs typeface="+mn-cs"/>
        </a:defRPr>
      </a:lvl3pPr>
      <a:lvl4pPr marL="1781699" indent="0" algn="l" defTabSz="1187798" rtl="0" eaLnBrk="1" latinLnBrk="0" hangingPunct="1">
        <a:lnSpc>
          <a:spcPct val="90000"/>
        </a:lnSpc>
        <a:spcBef>
          <a:spcPts val="650"/>
        </a:spcBef>
        <a:buFont typeface="Arial" panose="020B0604020202020204" pitchFamily="34" charset="0"/>
        <a:buNone/>
        <a:defRPr sz="2338" kern="1200">
          <a:solidFill>
            <a:schemeClr val="tx1"/>
          </a:solidFill>
          <a:latin typeface="+mn-lt"/>
          <a:ea typeface="+mn-ea"/>
          <a:cs typeface="+mn-cs"/>
        </a:defRPr>
      </a:lvl4pPr>
      <a:lvl5pPr marL="2375598" indent="0" algn="l" defTabSz="1187798" rtl="0" eaLnBrk="1" latinLnBrk="0" hangingPunct="1">
        <a:lnSpc>
          <a:spcPct val="90000"/>
        </a:lnSpc>
        <a:spcBef>
          <a:spcPts val="650"/>
        </a:spcBef>
        <a:buFont typeface="Arial" panose="020B0604020202020204" pitchFamily="34" charset="0"/>
        <a:buNone/>
        <a:defRPr sz="2338" kern="1200">
          <a:solidFill>
            <a:schemeClr val="tx1"/>
          </a:solidFill>
          <a:latin typeface="+mn-lt"/>
          <a:ea typeface="+mn-ea"/>
          <a:cs typeface="+mn-cs"/>
        </a:defRPr>
      </a:lvl5pPr>
      <a:lvl6pPr marL="32664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6pPr>
      <a:lvl7pPr marL="3860346"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7pPr>
      <a:lvl8pPr marL="4454245"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8pPr>
      <a:lvl9pPr marL="5048144"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9pPr>
    </p:bodyStyle>
    <p:otherStyle>
      <a:defPPr>
        <a:defRPr lang="en-US"/>
      </a:defPPr>
      <a:lvl1pPr marL="0" algn="l" defTabSz="1187798" rtl="0" eaLnBrk="1" latinLnBrk="0" hangingPunct="1">
        <a:defRPr sz="2338" kern="1200">
          <a:solidFill>
            <a:schemeClr val="tx1"/>
          </a:solidFill>
          <a:latin typeface="+mn-lt"/>
          <a:ea typeface="+mn-ea"/>
          <a:cs typeface="+mn-cs"/>
        </a:defRPr>
      </a:lvl1pPr>
      <a:lvl2pPr marL="593900" algn="l" defTabSz="1187798" rtl="0" eaLnBrk="1" latinLnBrk="0" hangingPunct="1">
        <a:defRPr sz="2338" kern="1200">
          <a:solidFill>
            <a:schemeClr val="tx1"/>
          </a:solidFill>
          <a:latin typeface="+mn-lt"/>
          <a:ea typeface="+mn-ea"/>
          <a:cs typeface="+mn-cs"/>
        </a:defRPr>
      </a:lvl2pPr>
      <a:lvl3pPr marL="1187798" algn="l" defTabSz="1187798" rtl="0" eaLnBrk="1" latinLnBrk="0" hangingPunct="1">
        <a:defRPr sz="2338" kern="1200">
          <a:solidFill>
            <a:schemeClr val="tx1"/>
          </a:solidFill>
          <a:latin typeface="+mn-lt"/>
          <a:ea typeface="+mn-ea"/>
          <a:cs typeface="+mn-cs"/>
        </a:defRPr>
      </a:lvl3pPr>
      <a:lvl4pPr marL="1781699" algn="l" defTabSz="1187798" rtl="0" eaLnBrk="1" latinLnBrk="0" hangingPunct="1">
        <a:defRPr sz="2338" kern="1200">
          <a:solidFill>
            <a:schemeClr val="tx1"/>
          </a:solidFill>
          <a:latin typeface="+mn-lt"/>
          <a:ea typeface="+mn-ea"/>
          <a:cs typeface="+mn-cs"/>
        </a:defRPr>
      </a:lvl4pPr>
      <a:lvl5pPr marL="2375598" algn="l" defTabSz="1187798" rtl="0" eaLnBrk="1" latinLnBrk="0" hangingPunct="1">
        <a:defRPr sz="2338" kern="1200">
          <a:solidFill>
            <a:schemeClr val="tx1"/>
          </a:solidFill>
          <a:latin typeface="+mn-lt"/>
          <a:ea typeface="+mn-ea"/>
          <a:cs typeface="+mn-cs"/>
        </a:defRPr>
      </a:lvl5pPr>
      <a:lvl6pPr marL="2969497" algn="l" defTabSz="1187798" rtl="0" eaLnBrk="1" latinLnBrk="0" hangingPunct="1">
        <a:defRPr sz="2338" kern="1200">
          <a:solidFill>
            <a:schemeClr val="tx1"/>
          </a:solidFill>
          <a:latin typeface="+mn-lt"/>
          <a:ea typeface="+mn-ea"/>
          <a:cs typeface="+mn-cs"/>
        </a:defRPr>
      </a:lvl6pPr>
      <a:lvl7pPr marL="3563396" algn="l" defTabSz="1187798" rtl="0" eaLnBrk="1" latinLnBrk="0" hangingPunct="1">
        <a:defRPr sz="2338" kern="1200">
          <a:solidFill>
            <a:schemeClr val="tx1"/>
          </a:solidFill>
          <a:latin typeface="+mn-lt"/>
          <a:ea typeface="+mn-ea"/>
          <a:cs typeface="+mn-cs"/>
        </a:defRPr>
      </a:lvl7pPr>
      <a:lvl8pPr marL="4157297" algn="l" defTabSz="1187798" rtl="0" eaLnBrk="1" latinLnBrk="0" hangingPunct="1">
        <a:defRPr sz="2338" kern="1200">
          <a:solidFill>
            <a:schemeClr val="tx1"/>
          </a:solidFill>
          <a:latin typeface="+mn-lt"/>
          <a:ea typeface="+mn-ea"/>
          <a:cs typeface="+mn-cs"/>
        </a:defRPr>
      </a:lvl8pPr>
      <a:lvl9pPr marL="4751195" algn="l" defTabSz="1187798" rtl="0" eaLnBrk="1" latinLnBrk="0" hangingPunct="1">
        <a:defRPr sz="2338"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bwMode="auto">
          <a:xfrm>
            <a:off x="-14258" y="-44818"/>
            <a:ext cx="12056068" cy="2977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78008" tIns="39004" rIns="78008" bIns="39004" numCol="1" anchor="ctr" anchorCtr="0" compatLnSpc="1"/>
          <a:lstStyle>
            <a:lvl1pPr algn="l" defTabSz="775970" rtl="0" eaLnBrk="0" fontAlgn="base" hangingPunct="0">
              <a:spcBef>
                <a:spcPct val="0"/>
              </a:spcBef>
              <a:spcAft>
                <a:spcPct val="0"/>
              </a:spcAft>
              <a:defRPr sz="3000" b="1">
                <a:solidFill>
                  <a:srgbClr val="990000"/>
                </a:solidFill>
                <a:latin typeface="+mj-lt"/>
                <a:ea typeface="+mj-ea"/>
                <a:cs typeface="+mj-cs"/>
              </a:defRPr>
            </a:lvl1pPr>
            <a:lvl2pPr algn="l" defTabSz="775970" rtl="0" eaLnBrk="0" fontAlgn="base" hangingPunct="0">
              <a:spcBef>
                <a:spcPct val="0"/>
              </a:spcBef>
              <a:spcAft>
                <a:spcPct val="0"/>
              </a:spcAft>
              <a:defRPr sz="3000" b="1">
                <a:solidFill>
                  <a:srgbClr val="990000"/>
                </a:solidFill>
                <a:latin typeface="Arial" panose="020B0604020202020204" pitchFamily="34" charset="0"/>
                <a:ea typeface="宋体" pitchFamily="2" charset="-122"/>
              </a:defRPr>
            </a:lvl2pPr>
            <a:lvl3pPr algn="l" defTabSz="775970" rtl="0" eaLnBrk="0" fontAlgn="base" hangingPunct="0">
              <a:spcBef>
                <a:spcPct val="0"/>
              </a:spcBef>
              <a:spcAft>
                <a:spcPct val="0"/>
              </a:spcAft>
              <a:defRPr sz="3000" b="1">
                <a:solidFill>
                  <a:srgbClr val="990000"/>
                </a:solidFill>
                <a:latin typeface="Arial" panose="020B0604020202020204" pitchFamily="34" charset="0"/>
                <a:ea typeface="宋体" pitchFamily="2" charset="-122"/>
              </a:defRPr>
            </a:lvl3pPr>
            <a:lvl4pPr algn="l" defTabSz="775970" rtl="0" eaLnBrk="0" fontAlgn="base" hangingPunct="0">
              <a:spcBef>
                <a:spcPct val="0"/>
              </a:spcBef>
              <a:spcAft>
                <a:spcPct val="0"/>
              </a:spcAft>
              <a:defRPr sz="3000" b="1">
                <a:solidFill>
                  <a:srgbClr val="990000"/>
                </a:solidFill>
                <a:latin typeface="Arial" panose="020B0604020202020204" pitchFamily="34" charset="0"/>
                <a:ea typeface="宋体" pitchFamily="2" charset="-122"/>
              </a:defRPr>
            </a:lvl4pPr>
            <a:lvl5pPr algn="l" defTabSz="775970" rtl="0" eaLnBrk="0" fontAlgn="base" hangingPunct="0">
              <a:spcBef>
                <a:spcPct val="0"/>
              </a:spcBef>
              <a:spcAft>
                <a:spcPct val="0"/>
              </a:spcAft>
              <a:defRPr sz="3000" b="1">
                <a:solidFill>
                  <a:srgbClr val="990000"/>
                </a:solidFill>
                <a:latin typeface="Arial" panose="020B0604020202020204" pitchFamily="34" charset="0"/>
                <a:ea typeface="宋体" pitchFamily="2" charset="-122"/>
              </a:defRPr>
            </a:lvl5pPr>
            <a:lvl6pPr marL="455930" algn="l" defTabSz="782320" rtl="0" fontAlgn="base">
              <a:spcBef>
                <a:spcPct val="0"/>
              </a:spcBef>
              <a:spcAft>
                <a:spcPct val="0"/>
              </a:spcAft>
              <a:defRPr sz="3000" b="1">
                <a:solidFill>
                  <a:srgbClr val="990000"/>
                </a:solidFill>
                <a:latin typeface="Arial" panose="020B0604020202020204" pitchFamily="34" charset="0"/>
                <a:ea typeface="宋体" pitchFamily="2" charset="-122"/>
              </a:defRPr>
            </a:lvl6pPr>
            <a:lvl7pPr marL="911860" algn="l" defTabSz="782320" rtl="0" fontAlgn="base">
              <a:spcBef>
                <a:spcPct val="0"/>
              </a:spcBef>
              <a:spcAft>
                <a:spcPct val="0"/>
              </a:spcAft>
              <a:defRPr sz="3000" b="1">
                <a:solidFill>
                  <a:srgbClr val="990000"/>
                </a:solidFill>
                <a:latin typeface="Arial" panose="020B0604020202020204" pitchFamily="34" charset="0"/>
                <a:ea typeface="宋体" pitchFamily="2" charset="-122"/>
              </a:defRPr>
            </a:lvl7pPr>
            <a:lvl8pPr marL="1368425" algn="l" defTabSz="782320" rtl="0" fontAlgn="base">
              <a:spcBef>
                <a:spcPct val="0"/>
              </a:spcBef>
              <a:spcAft>
                <a:spcPct val="0"/>
              </a:spcAft>
              <a:defRPr sz="3000" b="1">
                <a:solidFill>
                  <a:srgbClr val="990000"/>
                </a:solidFill>
                <a:latin typeface="Arial" panose="020B0604020202020204" pitchFamily="34" charset="0"/>
                <a:ea typeface="宋体" pitchFamily="2" charset="-122"/>
              </a:defRPr>
            </a:lvl8pPr>
            <a:lvl9pPr marL="1824355" algn="l" defTabSz="782320" rtl="0" fontAlgn="base">
              <a:spcBef>
                <a:spcPct val="0"/>
              </a:spcBef>
              <a:spcAft>
                <a:spcPct val="0"/>
              </a:spcAft>
              <a:defRPr sz="3000" b="1">
                <a:solidFill>
                  <a:srgbClr val="990000"/>
                </a:solidFill>
                <a:latin typeface="Arial" panose="020B0604020202020204" pitchFamily="34" charset="0"/>
                <a:ea typeface="宋体" pitchFamily="2" charset="-122"/>
              </a:defRPr>
            </a:lvl9pPr>
          </a:lstStyle>
          <a:p>
            <a:pPr marL="0" marR="0" lvl="0" indent="0" algn="l" defTabSz="1186180" rtl="0" eaLnBrk="1" fontAlgn="auto" latinLnBrk="0" hangingPunct="1">
              <a:lnSpc>
                <a:spcPts val="3430"/>
              </a:lnSpc>
              <a:spcBef>
                <a:spcPts val="0"/>
              </a:spcBef>
              <a:spcAft>
                <a:spcPts val="0"/>
              </a:spcAft>
              <a:buClrTx/>
              <a:buSzTx/>
              <a:buFontTx/>
              <a:buNone/>
              <a:defRPr/>
            </a:pPr>
            <a:r>
              <a:rPr lang="zh-CN" altLang="en-US" sz="1800" dirty="0">
                <a:solidFill>
                  <a:srgbClr val="C00000"/>
                </a:solidFill>
                <a:latin typeface="微软雅黑" panose="020B0503020204020204" pitchFamily="34" charset="-122"/>
                <a:ea typeface="微软雅黑" panose="020B0503020204020204" pitchFamily="34" charset="-122"/>
                <a:cs typeface="+mn-cs"/>
                <a:sym typeface="+mn-ea"/>
              </a:rPr>
              <a:t>推理关键进展-开箱总结：</a:t>
            </a:r>
            <a:r>
              <a:rPr lang="en-US" altLang="zh-CN" sz="1800" b="1" dirty="0">
                <a:solidFill>
                  <a:srgbClr val="C00000"/>
                </a:solidFill>
                <a:latin typeface="微软雅黑" panose="020B0503020204020204" pitchFamily="34" charset="-122"/>
                <a:ea typeface="微软雅黑" panose="020B0503020204020204" pitchFamily="34" charset="-122"/>
                <a:sym typeface="Arial" panose="020B0604020202020204"/>
              </a:rPr>
              <a:t>SOTA</a:t>
            </a:r>
            <a:r>
              <a:rPr lang="zh-CN" altLang="en-US" sz="1800" b="1" dirty="0">
                <a:solidFill>
                  <a:srgbClr val="C00000"/>
                </a:solidFill>
                <a:latin typeface="微软雅黑" panose="020B0503020204020204" pitchFamily="34" charset="-122"/>
                <a:ea typeface="微软雅黑" panose="020B0503020204020204" pitchFamily="34" charset="-122"/>
                <a:sym typeface="Arial" panose="020B0604020202020204"/>
              </a:rPr>
              <a:t>模型浪涌</a:t>
            </a:r>
            <a:r>
              <a:rPr lang="en-US" altLang="zh-CN" sz="1800" dirty="0">
                <a:solidFill>
                  <a:srgbClr val="C00000"/>
                </a:solidFill>
                <a:latin typeface="微软雅黑" charset="0"/>
                <a:ea typeface="微软雅黑" charset="0"/>
                <a:cs typeface="+mn-cs"/>
              </a:rPr>
              <a:t>，从被动响应到主动出击，</a:t>
            </a:r>
            <a:r>
              <a:rPr lang="zh-CN" altLang="en-US" sz="1800" dirty="0">
                <a:solidFill>
                  <a:srgbClr val="C00000"/>
                </a:solidFill>
                <a:latin typeface="微软雅黑" charset="0"/>
                <a:ea typeface="微软雅黑" charset="0"/>
                <a:cs typeface="+mn-cs"/>
              </a:rPr>
              <a:t>多模型并行开箱，优化天数由月级优化到周级</a:t>
            </a:r>
            <a:endParaRPr lang="en-US" altLang="zh-CN" sz="1800" dirty="0">
              <a:solidFill>
                <a:srgbClr val="C00000"/>
              </a:solidFill>
              <a:latin typeface="微软雅黑" charset="0"/>
              <a:ea typeface="微软雅黑" charset="0"/>
              <a:cs typeface="+mn-cs"/>
            </a:endParaRPr>
          </a:p>
        </p:txBody>
      </p:sp>
      <p:graphicFrame>
        <p:nvGraphicFramePr>
          <p:cNvPr id="3" name="表格 2"/>
          <p:cNvGraphicFramePr>
            <a:graphicFrameLocks noGrp="1"/>
          </p:cNvGraphicFramePr>
          <p:nvPr/>
        </p:nvGraphicFramePr>
        <p:xfrm>
          <a:off x="80031" y="1489746"/>
          <a:ext cx="9772650" cy="5322570"/>
        </p:xfrm>
        <a:graphic>
          <a:graphicData uri="http://schemas.openxmlformats.org/drawingml/2006/table">
            <a:tbl>
              <a:tblPr>
                <a:tableStyleId>{5C22544A-7EE6-4342-B048-85BDC9FD1C3A}</a:tableStyleId>
              </a:tblPr>
              <a:tblGrid>
                <a:gridCol w="327025">
                  <a:extLst>
                    <a:ext uri="{9D8B030D-6E8A-4147-A177-3AD203B41FA5}">
                      <a16:colId xmlns:a16="http://schemas.microsoft.com/office/drawing/2014/main" val="20000"/>
                    </a:ext>
                  </a:extLst>
                </a:gridCol>
                <a:gridCol w="816610">
                  <a:extLst>
                    <a:ext uri="{9D8B030D-6E8A-4147-A177-3AD203B41FA5}">
                      <a16:colId xmlns:a16="http://schemas.microsoft.com/office/drawing/2014/main" val="20001"/>
                    </a:ext>
                  </a:extLst>
                </a:gridCol>
                <a:gridCol w="496570">
                  <a:extLst>
                    <a:ext uri="{9D8B030D-6E8A-4147-A177-3AD203B41FA5}">
                      <a16:colId xmlns:a16="http://schemas.microsoft.com/office/drawing/2014/main" val="20002"/>
                    </a:ext>
                  </a:extLst>
                </a:gridCol>
                <a:gridCol w="3738245">
                  <a:extLst>
                    <a:ext uri="{9D8B030D-6E8A-4147-A177-3AD203B41FA5}">
                      <a16:colId xmlns:a16="http://schemas.microsoft.com/office/drawing/2014/main" val="20003"/>
                    </a:ext>
                  </a:extLst>
                </a:gridCol>
                <a:gridCol w="598805">
                  <a:extLst>
                    <a:ext uri="{9D8B030D-6E8A-4147-A177-3AD203B41FA5}">
                      <a16:colId xmlns:a16="http://schemas.microsoft.com/office/drawing/2014/main" val="20004"/>
                    </a:ext>
                  </a:extLst>
                </a:gridCol>
                <a:gridCol w="884555">
                  <a:extLst>
                    <a:ext uri="{9D8B030D-6E8A-4147-A177-3AD203B41FA5}">
                      <a16:colId xmlns:a16="http://schemas.microsoft.com/office/drawing/2014/main" val="20005"/>
                    </a:ext>
                  </a:extLst>
                </a:gridCol>
                <a:gridCol w="2910840">
                  <a:extLst>
                    <a:ext uri="{9D8B030D-6E8A-4147-A177-3AD203B41FA5}">
                      <a16:colId xmlns:a16="http://schemas.microsoft.com/office/drawing/2014/main" val="20006"/>
                    </a:ext>
                  </a:extLst>
                </a:gridCol>
              </a:tblGrid>
              <a:tr h="438150">
                <a:tc gridSpan="2">
                  <a:txBody>
                    <a:bodyPr/>
                    <a:lstStyle/>
                    <a:p>
                      <a:pPr algn="ctr" fontAlgn="ctr"/>
                      <a:r>
                        <a:rPr lang="zh-CN" altLang="en-US" sz="1000" b="1" i="0" u="none" strike="noStrike" dirty="0">
                          <a:solidFill>
                            <a:srgbClr val="000000"/>
                          </a:solidFill>
                          <a:effectLst/>
                          <a:latin typeface="微软雅黑" panose="020B0503020204020204" pitchFamily="34" charset="-122"/>
                          <a:ea typeface="微软雅黑" panose="020B0503020204020204" pitchFamily="34" charset="-122"/>
                        </a:rPr>
                        <a:t>模型名称</a:t>
                      </a:r>
                    </a:p>
                  </a:txBody>
                  <a:tcPr marL="35972" marR="35972" marT="35972" marB="35972" anchor="ctr">
                    <a:solidFill>
                      <a:srgbClr val="D4F1F5">
                        <a:alpha val="100000"/>
                      </a:srgbClr>
                    </a:solidFill>
                  </a:tcPr>
                </a:tc>
                <a:tc hMerge="1">
                  <a:txBody>
                    <a:bodyPr/>
                    <a:lstStyle/>
                    <a:p>
                      <a:endParaRPr lang="zh-CN"/>
                    </a:p>
                  </a:txBody>
                  <a:tcPr marL="35972" marR="35972" marT="35972" marB="35972" anchor="ctr">
                    <a:solidFill>
                      <a:srgbClr val="D4F1F5">
                        <a:alpha val="100000"/>
                      </a:srgbClr>
                    </a:solidFill>
                  </a:tcPr>
                </a:tc>
                <a:tc>
                  <a:txBody>
                    <a:bodyPr/>
                    <a:lstStyle/>
                    <a:p>
                      <a:pPr algn="ctr" fontAlgn="ctr">
                        <a:buNone/>
                      </a:pPr>
                      <a:r>
                        <a:rPr lang="zh-CN" altLang="en-US" sz="1000" b="1" i="0" u="none" strike="noStrike" dirty="0">
                          <a:solidFill>
                            <a:srgbClr val="000000"/>
                          </a:solidFill>
                          <a:effectLst/>
                          <a:latin typeface="微软雅黑" panose="020B0503020204020204" pitchFamily="34" charset="-122"/>
                          <a:ea typeface="微软雅黑" panose="020B0503020204020204" pitchFamily="34" charset="-122"/>
                        </a:rPr>
                        <a:t>模型结构变化</a:t>
                      </a:r>
                    </a:p>
                  </a:txBody>
                  <a:tcPr marL="35972" marR="35972" marT="35972" marB="35972" anchor="ctr">
                    <a:solidFill>
                      <a:srgbClr val="D4F1F5">
                        <a:alpha val="100000"/>
                      </a:srgbClr>
                    </a:solidFill>
                  </a:tcPr>
                </a:tc>
                <a:tc>
                  <a:txBody>
                    <a:bodyPr/>
                    <a:lstStyle/>
                    <a:p>
                      <a:pPr algn="ctr" fontAlgn="ctr"/>
                      <a:r>
                        <a:rPr lang="zh-CN" altLang="en-US" sz="1000" b="1" i="0" u="none" strike="noStrike" dirty="0">
                          <a:solidFill>
                            <a:srgbClr val="000000"/>
                          </a:solidFill>
                          <a:effectLst/>
                          <a:latin typeface="微软雅黑" panose="020B0503020204020204" pitchFamily="34" charset="-122"/>
                          <a:ea typeface="微软雅黑" panose="020B0503020204020204" pitchFamily="34" charset="-122"/>
                        </a:rPr>
                        <a:t>模型结构变化力度及关键特点</a:t>
                      </a:r>
                    </a:p>
                  </a:txBody>
                  <a:tcPr marL="35972" marR="35972" marT="35972" marB="35972" anchor="ctr">
                    <a:solidFill>
                      <a:srgbClr val="D4F1F5">
                        <a:alpha val="100000"/>
                      </a:srgbClr>
                    </a:solidFill>
                  </a:tcPr>
                </a:tc>
                <a:tc>
                  <a:txBody>
                    <a:bodyPr/>
                    <a:lstStyle/>
                    <a:p>
                      <a:pPr algn="ctr" fontAlgn="ctr">
                        <a:buNone/>
                      </a:pPr>
                      <a:r>
                        <a:rPr lang="zh-CN" altLang="en-US" sz="800" b="1" i="0" u="none" strike="noStrike" dirty="0">
                          <a:solidFill>
                            <a:srgbClr val="000000"/>
                          </a:solidFill>
                          <a:effectLst/>
                          <a:latin typeface="微软雅黑" panose="020B0503020204020204" pitchFamily="34" charset="-122"/>
                          <a:ea typeface="微软雅黑" panose="020B0503020204020204" pitchFamily="34" charset="-122"/>
                        </a:rPr>
                        <a:t>是否</a:t>
                      </a:r>
                      <a:r>
                        <a:rPr lang="en-US" altLang="zh-CN" sz="800" b="1" i="0" u="none" strike="noStrike" dirty="0">
                          <a:solidFill>
                            <a:srgbClr val="000000"/>
                          </a:solidFill>
                          <a:effectLst/>
                          <a:latin typeface="微软雅黑" panose="020B0503020204020204" pitchFamily="34" charset="-122"/>
                          <a:ea typeface="微软雅黑" panose="020B0503020204020204" pitchFamily="34" charset="-122"/>
                        </a:rPr>
                        <a:t>Day0</a:t>
                      </a:r>
                      <a:r>
                        <a:rPr lang="zh-CN" altLang="en-US" sz="800" b="1" i="0" u="none" strike="noStrike" dirty="0">
                          <a:solidFill>
                            <a:srgbClr val="000000"/>
                          </a:solidFill>
                          <a:effectLst/>
                          <a:latin typeface="微软雅黑" panose="020B0503020204020204" pitchFamily="34" charset="-122"/>
                          <a:ea typeface="微软雅黑" panose="020B0503020204020204" pitchFamily="34" charset="-122"/>
                        </a:rPr>
                        <a:t>可用</a:t>
                      </a:r>
                    </a:p>
                  </a:txBody>
                  <a:tcPr marL="35972" marR="35972" marT="35972" marB="35972" anchor="ctr">
                    <a:solidFill>
                      <a:srgbClr val="D4F1F5">
                        <a:alpha val="100000"/>
                      </a:srgbClr>
                    </a:solidFill>
                  </a:tcPr>
                </a:tc>
                <a:tc>
                  <a:txBody>
                    <a:bodyPr/>
                    <a:lstStyle/>
                    <a:p>
                      <a:pPr algn="ctr" fontAlgn="ctr"/>
                      <a:r>
                        <a:rPr lang="en-US" altLang="zh-CN" sz="800" b="1" i="0" u="none" strike="noStrike" dirty="0">
                          <a:solidFill>
                            <a:srgbClr val="000000"/>
                          </a:solidFill>
                          <a:effectLst/>
                          <a:latin typeface="微软雅黑" panose="020B0503020204020204" pitchFamily="34" charset="-122"/>
                          <a:ea typeface="微软雅黑" panose="020B0503020204020204" pitchFamily="34" charset="-122"/>
                        </a:rPr>
                        <a:t>Step1</a:t>
                      </a:r>
                      <a:r>
                        <a:rPr lang="zh-CN" altLang="en-US" sz="800" b="1" i="0" u="none" strike="noStrike" dirty="0">
                          <a:solidFill>
                            <a:srgbClr val="000000"/>
                          </a:solidFill>
                          <a:effectLst/>
                          <a:latin typeface="微软雅黑" panose="020B0503020204020204" pitchFamily="34" charset="-122"/>
                          <a:ea typeface="微软雅黑" panose="020B0503020204020204" pitchFamily="34" charset="-122"/>
                        </a:rPr>
                        <a:t>：</a:t>
                      </a:r>
                      <a:endParaRPr lang="en-US" altLang="zh-CN" sz="800" b="1" i="0" u="none" strike="noStrike" dirty="0">
                        <a:solidFill>
                          <a:srgbClr val="000000"/>
                        </a:solidFill>
                        <a:effectLst/>
                        <a:latin typeface="微软雅黑" panose="020B0503020204020204" pitchFamily="34" charset="-122"/>
                        <a:ea typeface="微软雅黑" panose="020B0503020204020204" pitchFamily="34" charset="-122"/>
                      </a:endParaRPr>
                    </a:p>
                    <a:p>
                      <a:pPr algn="ctr" fontAlgn="ctr"/>
                      <a:r>
                        <a:rPr lang="zh-CN" altLang="en-US" sz="800" b="1" i="0" u="none" strike="noStrike" dirty="0">
                          <a:solidFill>
                            <a:srgbClr val="000000"/>
                          </a:solidFill>
                          <a:effectLst/>
                          <a:latin typeface="微软雅黑" panose="020B0503020204020204" pitchFamily="34" charset="-122"/>
                          <a:ea typeface="微软雅黑" panose="020B0503020204020204" pitchFamily="34" charset="-122"/>
                        </a:rPr>
                        <a:t>功能可用及</a:t>
                      </a:r>
                      <a:endParaRPr lang="en-US" altLang="zh-CN" sz="800" b="1" i="0" u="none" strike="noStrike" dirty="0">
                        <a:solidFill>
                          <a:srgbClr val="000000"/>
                        </a:solidFill>
                        <a:effectLst/>
                        <a:latin typeface="微软雅黑" panose="020B0503020204020204" pitchFamily="34" charset="-122"/>
                        <a:ea typeface="微软雅黑" panose="020B0503020204020204" pitchFamily="34" charset="-122"/>
                      </a:endParaRPr>
                    </a:p>
                    <a:p>
                      <a:pPr algn="ctr" fontAlgn="ctr"/>
                      <a:r>
                        <a:rPr lang="zh-CN" altLang="en-US" sz="800" b="1" i="0" u="none" strike="noStrike" dirty="0">
                          <a:solidFill>
                            <a:srgbClr val="000000"/>
                          </a:solidFill>
                          <a:effectLst/>
                          <a:latin typeface="微软雅黑" panose="020B0503020204020204" pitchFamily="34" charset="-122"/>
                          <a:ea typeface="微软雅黑" panose="020B0503020204020204" pitchFamily="34" charset="-122"/>
                        </a:rPr>
                        <a:t>精度对齐耗时</a:t>
                      </a:r>
                    </a:p>
                  </a:txBody>
                  <a:tcPr marL="35972" marR="35972" marT="35972" marB="35972" anchor="ctr">
                    <a:solidFill>
                      <a:srgbClr val="D4F1F5">
                        <a:alpha val="100000"/>
                      </a:srgbClr>
                    </a:solidFill>
                  </a:tcPr>
                </a:tc>
                <a:tc>
                  <a:txBody>
                    <a:bodyPr/>
                    <a:lstStyle/>
                    <a:p>
                      <a:pPr algn="ctr" fontAlgn="ctr"/>
                      <a:r>
                        <a:rPr lang="en-US" altLang="zh-CN" sz="800" b="1" i="0" u="none" strike="noStrike" dirty="0">
                          <a:solidFill>
                            <a:srgbClr val="000000"/>
                          </a:solidFill>
                          <a:effectLst/>
                          <a:latin typeface="微软雅黑" panose="020B0503020204020204" pitchFamily="34" charset="-122"/>
                          <a:ea typeface="微软雅黑" panose="020B0503020204020204" pitchFamily="34" charset="-122"/>
                        </a:rPr>
                        <a:t>Step2</a:t>
                      </a:r>
                      <a:r>
                        <a:rPr lang="zh-CN" altLang="en-US" sz="800" b="1" i="0" u="none" strike="noStrike" dirty="0">
                          <a:solidFill>
                            <a:srgbClr val="000000"/>
                          </a:solidFill>
                          <a:effectLst/>
                          <a:latin typeface="微软雅黑" panose="020B0503020204020204" pitchFamily="34" charset="-122"/>
                          <a:ea typeface="微软雅黑" panose="020B0503020204020204" pitchFamily="34" charset="-122"/>
                        </a:rPr>
                        <a:t>：</a:t>
                      </a:r>
                      <a:endParaRPr lang="en-US" altLang="zh-CN" sz="800" b="1" i="0" u="none" strike="noStrike" dirty="0">
                        <a:solidFill>
                          <a:srgbClr val="000000"/>
                        </a:solidFill>
                        <a:effectLst/>
                        <a:latin typeface="微软雅黑" panose="020B0503020204020204" pitchFamily="34" charset="-122"/>
                        <a:ea typeface="微软雅黑" panose="020B0503020204020204" pitchFamily="34" charset="-122"/>
                      </a:endParaRPr>
                    </a:p>
                    <a:p>
                      <a:pPr algn="ctr" fontAlgn="ctr"/>
                      <a:r>
                        <a:rPr lang="zh-CN" altLang="en-US" sz="800" b="1" i="0" u="none" strike="noStrike" dirty="0">
                          <a:solidFill>
                            <a:srgbClr val="000000"/>
                          </a:solidFill>
                          <a:effectLst/>
                          <a:latin typeface="微软雅黑" panose="020B0503020204020204" pitchFamily="34" charset="-122"/>
                          <a:ea typeface="微软雅黑" panose="020B0503020204020204" pitchFamily="34" charset="-122"/>
                        </a:rPr>
                        <a:t>性能调优耗时</a:t>
                      </a:r>
                    </a:p>
                  </a:txBody>
                  <a:tcPr marL="35972" marR="35972" marT="35972" marB="35972" anchor="ctr">
                    <a:solidFill>
                      <a:srgbClr val="D4F1F5">
                        <a:alpha val="100000"/>
                      </a:srgbClr>
                    </a:solidFill>
                  </a:tcPr>
                </a:tc>
                <a:extLst>
                  <a:ext uri="{0D108BD9-81ED-4DB2-BD59-A6C34878D82A}">
                    <a16:rowId xmlns:a16="http://schemas.microsoft.com/office/drawing/2014/main" val="10000"/>
                  </a:ext>
                </a:extLst>
              </a:tr>
              <a:tr h="461010">
                <a:tc rowSpan="2">
                  <a:txBody>
                    <a:bodyPr/>
                    <a:lstStyle/>
                    <a:p>
                      <a:pPr algn="ctr" fontAlgn="ctr"/>
                      <a:r>
                        <a:rPr lang="en-US" altLang="zh-CN" sz="800" b="1" i="0" u="none" strike="noStrike" dirty="0">
                          <a:solidFill>
                            <a:srgbClr val="000000"/>
                          </a:solidFill>
                          <a:effectLst/>
                          <a:latin typeface="微软雅黑" charset="0"/>
                          <a:ea typeface="微软雅黑" charset="0"/>
                        </a:rPr>
                        <a:t>DS</a:t>
                      </a:r>
                      <a:endParaRPr lang="zh-CN" altLang="en-US" sz="800" b="1" i="0" u="none" strike="noStrike" dirty="0">
                        <a:solidFill>
                          <a:srgbClr val="000000"/>
                        </a:solidFill>
                        <a:effectLst/>
                        <a:latin typeface="微软雅黑" panose="020B0503020204020204" pitchFamily="34" charset="-122"/>
                        <a:ea typeface="微软雅黑" panose="020B0503020204020204" pitchFamily="34" charset="-122"/>
                      </a:endParaRPr>
                    </a:p>
                  </a:txBody>
                  <a:tcPr marL="35972" marR="35972" marT="35972" marB="35972" anchor="ctr">
                    <a:solidFill>
                      <a:schemeClr val="tx2">
                        <a:lumMod val="95000"/>
                      </a:schemeClr>
                    </a:solidFill>
                  </a:tcPr>
                </a:tc>
                <a:tc>
                  <a:txBody>
                    <a:bodyPr/>
                    <a:lstStyle/>
                    <a:p>
                      <a:pPr algn="ctr" fontAlgn="ctr">
                        <a:buNone/>
                      </a:pPr>
                      <a:r>
                        <a:rPr lang="en-US" altLang="zh-CN" sz="800" b="1" dirty="0">
                          <a:solidFill>
                            <a:srgbClr val="000000"/>
                          </a:solidFill>
                          <a:effectLst/>
                          <a:latin typeface="微软雅黑" charset="0"/>
                          <a:ea typeface="微软雅黑" charset="0"/>
                          <a:sym typeface="+mn-ea"/>
                        </a:rPr>
                        <a:t>DeepSeek</a:t>
                      </a:r>
                      <a:r>
                        <a:rPr lang="zh-CN" altLang="en-US" sz="800" b="1" dirty="0">
                          <a:solidFill>
                            <a:srgbClr val="000000"/>
                          </a:solidFill>
                          <a:effectLst/>
                          <a:latin typeface="微软雅黑" charset="0"/>
                          <a:ea typeface="微软雅黑" charset="0"/>
                          <a:sym typeface="+mn-ea"/>
                        </a:rPr>
                        <a:t>-</a:t>
                      </a:r>
                      <a:r>
                        <a:rPr lang="en-US" altLang="zh-CN" sz="800" b="1" dirty="0">
                          <a:solidFill>
                            <a:srgbClr val="000000"/>
                          </a:solidFill>
                          <a:effectLst/>
                          <a:latin typeface="微软雅黑" charset="0"/>
                          <a:ea typeface="微软雅黑" charset="0"/>
                          <a:sym typeface="+mn-ea"/>
                        </a:rPr>
                        <a:t>V4</a:t>
                      </a:r>
                    </a:p>
                    <a:p>
                      <a:pPr algn="ctr" fontAlgn="ctr">
                        <a:buNone/>
                      </a:pPr>
                      <a:r>
                        <a:rPr lang="en-US" altLang="zh-CN" sz="800" b="1" i="0" u="none" strike="noStrike" dirty="0">
                          <a:solidFill>
                            <a:srgbClr val="000000"/>
                          </a:solidFill>
                          <a:effectLst/>
                          <a:latin typeface="微软雅黑" charset="0"/>
                          <a:ea typeface="微软雅黑" charset="0"/>
                          <a:sym typeface="+mn-ea"/>
                        </a:rPr>
                        <a:t>Flash</a:t>
                      </a:r>
                      <a:endParaRPr lang="zh-CN" altLang="en-US" sz="800" b="1" i="0" u="none" strike="noStrike" dirty="0">
                        <a:solidFill>
                          <a:srgbClr val="000000"/>
                        </a:solidFill>
                        <a:effectLst/>
                        <a:latin typeface="微软雅黑" charset="0"/>
                        <a:ea typeface="微软雅黑" charset="0"/>
                        <a:sym typeface="+mn-ea"/>
                      </a:endParaRPr>
                    </a:p>
                  </a:txBody>
                  <a:tcPr marL="35972" marR="35972" marT="35972" marB="35972" anchor="ctr">
                    <a:solidFill>
                      <a:schemeClr val="tx2">
                        <a:lumMod val="95000"/>
                      </a:schemeClr>
                    </a:solidFill>
                  </a:tcPr>
                </a:tc>
                <a:tc>
                  <a:txBody>
                    <a:bodyPr/>
                    <a:lstStyle/>
                    <a:p>
                      <a:pPr algn="ctr" fontAlgn="ctr">
                        <a:buNone/>
                      </a:pPr>
                      <a:r>
                        <a:rPr lang="zh-CN" altLang="en-US" sz="1000" b="1" i="0" u="none" strike="noStrike" dirty="0">
                          <a:solidFill>
                            <a:srgbClr val="000000"/>
                          </a:solidFill>
                          <a:effectLst/>
                          <a:latin typeface="微软雅黑" charset="0"/>
                          <a:ea typeface="微软雅黑" charset="0"/>
                          <a:sym typeface="+mn-ea"/>
                        </a:rPr>
                        <a:t>大</a:t>
                      </a:r>
                    </a:p>
                  </a:txBody>
                  <a:tcPr marL="35972" marR="35972" marT="35972" marB="35972" anchor="ctr">
                    <a:solidFill>
                      <a:srgbClr val="FFF2CC">
                        <a:alpha val="100000"/>
                      </a:srgbClr>
                    </a:solidFill>
                  </a:tcPr>
                </a:tc>
                <a:tc>
                  <a:txBody>
                    <a:bodyPr/>
                    <a:lstStyle/>
                    <a:p>
                      <a:pPr marL="0" marR="0" lvl="0" indent="0" algn="l" defTabSz="1188085" rtl="0" eaLnBrk="1" fontAlgn="ctr" latinLnBrk="0" hangingPunct="1">
                        <a:lnSpc>
                          <a:spcPct val="150000"/>
                        </a:lnSpc>
                        <a:spcBef>
                          <a:spcPts val="0"/>
                        </a:spcBef>
                        <a:spcAft>
                          <a:spcPts val="0"/>
                        </a:spcAft>
                        <a:buClrTx/>
                        <a:buSzTx/>
                        <a:buFontTx/>
                        <a:buNone/>
                        <a:defRPr/>
                      </a:pPr>
                      <a:r>
                        <a:rPr lang="zh-CN" altLang="en-US" sz="800" b="1" dirty="0">
                          <a:solidFill>
                            <a:srgbClr val="C00000"/>
                          </a:solidFill>
                          <a:effectLst/>
                          <a:latin typeface="微软雅黑" panose="020B0503020204020204" pitchFamily="34" charset="-122"/>
                          <a:ea typeface="微软雅黑" panose="020B0503020204020204" pitchFamily="34" charset="-122"/>
                          <a:sym typeface="+mn-ea"/>
                        </a:rPr>
                        <a:t> 模型结构变化大：</a:t>
                      </a:r>
                      <a:r>
                        <a:rPr lang="zh-CN" altLang="en-US" sz="800" dirty="0">
                          <a:effectLst/>
                          <a:latin typeface="微软雅黑" panose="020B0503020204020204" pitchFamily="34" charset="-122"/>
                          <a:ea typeface="微软雅黑" panose="020B0503020204020204" pitchFamily="34" charset="-122"/>
                          <a:sym typeface="+mn-ea"/>
                        </a:rPr>
                        <a:t>创新引入</a:t>
                      </a:r>
                      <a:r>
                        <a:rPr lang="en-US" altLang="zh-CN" sz="800" dirty="0" err="1">
                          <a:effectLst/>
                          <a:latin typeface="微软雅黑" panose="020B0503020204020204" pitchFamily="34" charset="-122"/>
                          <a:ea typeface="微软雅黑" panose="020B0503020204020204" pitchFamily="34" charset="-122"/>
                          <a:sym typeface="+mn-ea"/>
                        </a:rPr>
                        <a:t>mhc</a:t>
                      </a:r>
                      <a:r>
                        <a:rPr lang="zh-CN" altLang="en-US" sz="800" dirty="0">
                          <a:effectLst/>
                          <a:latin typeface="微软雅黑" panose="020B0503020204020204" pitchFamily="34" charset="-122"/>
                          <a:ea typeface="微软雅黑" panose="020B0503020204020204" pitchFamily="34" charset="-122"/>
                          <a:sym typeface="+mn-ea"/>
                        </a:rPr>
                        <a:t>，</a:t>
                      </a:r>
                      <a:r>
                        <a:rPr lang="en-US" altLang="zh-CN" sz="800" dirty="0">
                          <a:effectLst/>
                          <a:latin typeface="微软雅黑" panose="020B0503020204020204" pitchFamily="34" charset="-122"/>
                          <a:ea typeface="微软雅黑" panose="020B0503020204020204" pitchFamily="34" charset="-122"/>
                          <a:sym typeface="+mn-ea"/>
                        </a:rPr>
                        <a:t>compress</a:t>
                      </a:r>
                      <a:r>
                        <a:rPr lang="zh-CN" altLang="en-US" sz="800" dirty="0">
                          <a:effectLst/>
                          <a:latin typeface="微软雅黑" panose="020B0503020204020204" pitchFamily="34" charset="-122"/>
                          <a:ea typeface="微软雅黑" panose="020B0503020204020204" pitchFamily="34" charset="-122"/>
                          <a:sym typeface="+mn-ea"/>
                        </a:rPr>
                        <a:t>，</a:t>
                      </a:r>
                      <a:r>
                        <a:rPr lang="en-US" altLang="zh-CN" sz="800" dirty="0">
                          <a:effectLst/>
                          <a:latin typeface="微软雅黑" panose="020B0503020204020204" pitchFamily="34" charset="-122"/>
                          <a:ea typeface="微软雅黑" panose="020B0503020204020204" pitchFamily="34" charset="-122"/>
                          <a:sym typeface="+mn-ea"/>
                        </a:rPr>
                        <a:t>hash routing</a:t>
                      </a:r>
                      <a:r>
                        <a:rPr lang="zh-CN" altLang="en-US" sz="800" dirty="0">
                          <a:effectLst/>
                          <a:latin typeface="微软雅黑" panose="020B0503020204020204" pitchFamily="34" charset="-122"/>
                          <a:ea typeface="微软雅黑" panose="020B0503020204020204" pitchFamily="34" charset="-122"/>
                          <a:sym typeface="+mn-ea"/>
                        </a:rPr>
                        <a:t>等多块模型结构，针对新结构，引入算子，框架，模型等多出工作量</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35972" marR="35972" marT="35972" marB="35972" anchor="ctr">
                    <a:solidFill>
                      <a:srgbClr val="FFF2CC">
                        <a:alpha val="100000"/>
                      </a:srgbClr>
                    </a:solidFill>
                  </a:tcPr>
                </a:tc>
                <a:tc>
                  <a:txBody>
                    <a:bodyPr/>
                    <a:lstStyle/>
                    <a:p>
                      <a:pPr marL="0" marR="0" lvl="0" indent="0" algn="ctr" defTabSz="1188085" rtl="0" eaLnBrk="1" fontAlgn="ctr" latinLnBrk="0" hangingPunct="1">
                        <a:lnSpc>
                          <a:spcPct val="150000"/>
                        </a:lnSpc>
                        <a:spcBef>
                          <a:spcPts val="0"/>
                        </a:spcBef>
                        <a:spcAft>
                          <a:spcPts val="0"/>
                        </a:spcAft>
                        <a:buClrTx/>
                        <a:buSzTx/>
                        <a:buFontTx/>
                        <a:buNone/>
                        <a:defRPr/>
                      </a:pPr>
                      <a:r>
                        <a:rPr lang="zh-CN" altLang="en-US" sz="1000" b="1" i="0" u="none" strike="noStrike" dirty="0">
                          <a:solidFill>
                            <a:srgbClr val="00B050"/>
                          </a:solidFill>
                          <a:effectLst/>
                          <a:latin typeface="微软雅黑" panose="020B0503020204020204" pitchFamily="34" charset="-122"/>
                          <a:ea typeface="微软雅黑" panose="020B0503020204020204" pitchFamily="34" charset="-122"/>
                        </a:rPr>
                        <a:t>是√</a:t>
                      </a:r>
                    </a:p>
                  </a:txBody>
                  <a:tcPr marL="35972" marR="35972" marT="35972" marB="35972" anchor="ctr">
                    <a:solidFill>
                      <a:srgbClr val="FFF2CC">
                        <a:alpha val="100000"/>
                      </a:srgbClr>
                    </a:solidFill>
                  </a:tcPr>
                </a:tc>
                <a:tc>
                  <a:txBody>
                    <a:bodyPr/>
                    <a:lstStyle/>
                    <a:p>
                      <a:pPr algn="ctr" fontAlgn="ctr"/>
                      <a:r>
                        <a:rPr lang="en-US" altLang="zh-CN" sz="900" b="1" u="none" strike="noStrike" kern="1200" dirty="0">
                          <a:solidFill>
                            <a:schemeClr val="dk1"/>
                          </a:solidFill>
                          <a:effectLst/>
                          <a:latin typeface="微软雅黑" charset="0"/>
                          <a:ea typeface="微软雅黑" charset="0"/>
                          <a:cs typeface="+mn-cs"/>
                        </a:rPr>
                        <a:t>15</a:t>
                      </a:r>
                      <a:r>
                        <a:rPr lang="zh-CN" altLang="en-US" sz="900" b="1" u="none" strike="noStrike" kern="1200" dirty="0">
                          <a:solidFill>
                            <a:schemeClr val="dk1"/>
                          </a:solidFill>
                          <a:effectLst/>
                          <a:latin typeface="微软雅黑" panose="020B0503020204020204" pitchFamily="34" charset="-122"/>
                          <a:ea typeface="微软雅黑" panose="020B0503020204020204" pitchFamily="34" charset="-122"/>
                          <a:cs typeface="+mn-cs"/>
                        </a:rPr>
                        <a:t>天</a:t>
                      </a:r>
                      <a:endParaRPr lang="en-US" altLang="zh-CN" sz="900" b="1" u="none" strike="noStrike" kern="1200" dirty="0">
                        <a:solidFill>
                          <a:schemeClr val="dk1"/>
                        </a:solidFill>
                        <a:effectLst/>
                        <a:latin typeface="微软雅黑" panose="020B0503020204020204" pitchFamily="34" charset="-122"/>
                        <a:ea typeface="微软雅黑" panose="020B0503020204020204" pitchFamily="34" charset="-122"/>
                        <a:cs typeface="+mn-cs"/>
                      </a:endParaRPr>
                    </a:p>
                  </a:txBody>
                  <a:tcPr marL="35972" marR="35972" marT="35972" marB="35972" anchor="ctr">
                    <a:solidFill>
                      <a:srgbClr val="FFF2CC">
                        <a:alpha val="100000"/>
                      </a:srgbClr>
                    </a:solidFill>
                  </a:tcPr>
                </a:tc>
                <a:tc>
                  <a:txBody>
                    <a:bodyPr/>
                    <a:lstStyle/>
                    <a:p>
                      <a:pPr marL="0" algn="l" defTabSz="1186815" rtl="0" eaLnBrk="1" fontAlgn="ctr" latinLnBrk="0" hangingPunct="1">
                        <a:lnSpc>
                          <a:spcPct val="150000"/>
                        </a:lnSpc>
                      </a:pPr>
                      <a:r>
                        <a:rPr lang="en-US" altLang="zh-CN" sz="900" b="1" dirty="0">
                          <a:solidFill>
                            <a:srgbClr val="C00000"/>
                          </a:solidFill>
                          <a:effectLst/>
                          <a:latin typeface="微软雅黑" panose="020B0503020204020204" pitchFamily="34" charset="-122"/>
                          <a:ea typeface="微软雅黑" panose="020B0503020204020204" pitchFamily="34" charset="-122"/>
                          <a:sym typeface="+mn-ea"/>
                        </a:rPr>
                        <a:t>15</a:t>
                      </a:r>
                      <a:r>
                        <a:rPr lang="zh-CN" altLang="en-US" sz="900" b="1" dirty="0">
                          <a:solidFill>
                            <a:srgbClr val="C00000"/>
                          </a:solidFill>
                          <a:effectLst/>
                          <a:latin typeface="微软雅黑" panose="020B0503020204020204" pitchFamily="34" charset="-122"/>
                          <a:ea typeface="微软雅黑" panose="020B0503020204020204" pitchFamily="34" charset="-122"/>
                          <a:sym typeface="+mn-ea"/>
                        </a:rPr>
                        <a:t>天：</a:t>
                      </a:r>
                      <a:r>
                        <a:rPr lang="zh-CN" altLang="en-US" sz="800" dirty="0">
                          <a:solidFill>
                            <a:srgbClr val="000000"/>
                          </a:solidFill>
                          <a:effectLst/>
                          <a:latin typeface="微软雅黑" panose="020B0503020204020204" pitchFamily="34" charset="-122"/>
                          <a:ea typeface="微软雅黑" panose="020B0503020204020204" pitchFamily="34" charset="-122"/>
                          <a:sym typeface="+mn-ea"/>
                        </a:rPr>
                        <a:t>模型结构创新大，涉及大量算子能力补齐，框架侧需要对</a:t>
                      </a:r>
                      <a:r>
                        <a:rPr lang="en-US" altLang="zh-CN" sz="800" dirty="0" err="1">
                          <a:solidFill>
                            <a:srgbClr val="000000"/>
                          </a:solidFill>
                          <a:effectLst/>
                          <a:latin typeface="微软雅黑" panose="020B0503020204020204" pitchFamily="34" charset="-122"/>
                          <a:ea typeface="微软雅黑" panose="020B0503020204020204" pitchFamily="34" charset="-122"/>
                          <a:sym typeface="+mn-ea"/>
                        </a:rPr>
                        <a:t>kvcache</a:t>
                      </a:r>
                      <a:r>
                        <a:rPr lang="zh-CN" altLang="en-US" sz="800" dirty="0">
                          <a:solidFill>
                            <a:srgbClr val="000000"/>
                          </a:solidFill>
                          <a:effectLst/>
                          <a:latin typeface="微软雅黑" panose="020B0503020204020204" pitchFamily="34" charset="-122"/>
                          <a:ea typeface="微软雅黑" panose="020B0503020204020204" pitchFamily="34" charset="-122"/>
                          <a:sym typeface="+mn-ea"/>
                        </a:rPr>
                        <a:t>做针对性适配优化</a:t>
                      </a:r>
                      <a:endParaRPr lang="en-US" altLang="zh-CN"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35972" marR="35972" marT="35972" marB="35972" anchor="ctr">
                    <a:solidFill>
                      <a:srgbClr val="FFF2CC">
                        <a:alpha val="100000"/>
                      </a:srgbClr>
                    </a:solidFill>
                  </a:tcPr>
                </a:tc>
                <a:extLst>
                  <a:ext uri="{0D108BD9-81ED-4DB2-BD59-A6C34878D82A}">
                    <a16:rowId xmlns:a16="http://schemas.microsoft.com/office/drawing/2014/main" val="10001"/>
                  </a:ext>
                </a:extLst>
              </a:tr>
              <a:tr h="461010">
                <a:tc vMerge="1">
                  <a:txBody>
                    <a:bodyPr/>
                    <a:lstStyle/>
                    <a:p>
                      <a:endParaRPr lang="zh-CN"/>
                    </a:p>
                  </a:txBody>
                  <a:tcPr marL="35972" marR="35972" marT="35972" marB="35972" anchor="ctr">
                    <a:solidFill>
                      <a:schemeClr val="tx2">
                        <a:lumMod val="95000"/>
                      </a:schemeClr>
                    </a:solidFill>
                  </a:tcPr>
                </a:tc>
                <a:tc>
                  <a:txBody>
                    <a:bodyPr/>
                    <a:lstStyle/>
                    <a:p>
                      <a:pPr algn="ctr" fontAlgn="ctr">
                        <a:buNone/>
                      </a:pPr>
                      <a:r>
                        <a:rPr lang="en-US" altLang="zh-CN" sz="800" b="1" dirty="0">
                          <a:solidFill>
                            <a:srgbClr val="000000"/>
                          </a:solidFill>
                          <a:effectLst/>
                          <a:latin typeface="微软雅黑" charset="0"/>
                          <a:ea typeface="微软雅黑" charset="0"/>
                          <a:sym typeface="+mn-ea"/>
                        </a:rPr>
                        <a:t>DeepSeek</a:t>
                      </a:r>
                      <a:r>
                        <a:rPr lang="zh-CN" altLang="en-US" sz="800" b="1" dirty="0">
                          <a:solidFill>
                            <a:srgbClr val="000000"/>
                          </a:solidFill>
                          <a:effectLst/>
                          <a:latin typeface="微软雅黑" charset="0"/>
                          <a:ea typeface="微软雅黑" charset="0"/>
                          <a:sym typeface="+mn-ea"/>
                        </a:rPr>
                        <a:t>-</a:t>
                      </a:r>
                      <a:r>
                        <a:rPr lang="en-US" altLang="zh-CN" sz="800" b="1" dirty="0">
                          <a:solidFill>
                            <a:srgbClr val="000000"/>
                          </a:solidFill>
                          <a:effectLst/>
                          <a:latin typeface="微软雅黑" charset="0"/>
                          <a:ea typeface="微软雅黑" charset="0"/>
                          <a:sym typeface="+mn-ea"/>
                        </a:rPr>
                        <a:t>V4</a:t>
                      </a:r>
                    </a:p>
                    <a:p>
                      <a:pPr algn="ctr" fontAlgn="ctr">
                        <a:buNone/>
                      </a:pPr>
                      <a:r>
                        <a:rPr lang="en-US" altLang="zh-CN" sz="800" b="1" i="0" u="none" strike="noStrike" dirty="0">
                          <a:solidFill>
                            <a:srgbClr val="000000"/>
                          </a:solidFill>
                          <a:effectLst/>
                          <a:latin typeface="微软雅黑" charset="0"/>
                          <a:ea typeface="微软雅黑" charset="0"/>
                          <a:sym typeface="+mn-ea"/>
                        </a:rPr>
                        <a:t>Pro</a:t>
                      </a:r>
                      <a:endParaRPr lang="zh-CN" altLang="en-US" sz="800" b="1" i="0" u="none" strike="noStrike" dirty="0">
                        <a:solidFill>
                          <a:srgbClr val="000000"/>
                        </a:solidFill>
                        <a:effectLst/>
                        <a:latin typeface="微软雅黑" charset="0"/>
                        <a:ea typeface="微软雅黑" charset="0"/>
                        <a:sym typeface="+mn-ea"/>
                      </a:endParaRPr>
                    </a:p>
                  </a:txBody>
                  <a:tcPr marL="35972" marR="35972" marT="35972" marB="35972" anchor="ctr">
                    <a:solidFill>
                      <a:schemeClr val="tx2">
                        <a:lumMod val="95000"/>
                      </a:schemeClr>
                    </a:solidFill>
                  </a:tcPr>
                </a:tc>
                <a:tc>
                  <a:txBody>
                    <a:bodyPr/>
                    <a:lstStyle/>
                    <a:p>
                      <a:pPr algn="ctr" fontAlgn="ctr">
                        <a:buNone/>
                      </a:pPr>
                      <a:r>
                        <a:rPr lang="zh-CN" altLang="en-US" sz="1000" b="1" i="0" u="none" strike="noStrike" dirty="0">
                          <a:solidFill>
                            <a:srgbClr val="000000"/>
                          </a:solidFill>
                          <a:effectLst/>
                          <a:latin typeface="微软雅黑" charset="0"/>
                          <a:ea typeface="微软雅黑" charset="0"/>
                          <a:sym typeface="+mn-ea"/>
                        </a:rPr>
                        <a:t>大</a:t>
                      </a:r>
                    </a:p>
                  </a:txBody>
                  <a:tcPr marL="35972" marR="35972" marT="35972" marB="35972" anchor="ctr">
                    <a:solidFill>
                      <a:srgbClr val="FFF2CC">
                        <a:alpha val="100000"/>
                      </a:srgbClr>
                    </a:solidFill>
                  </a:tcPr>
                </a:tc>
                <a:tc>
                  <a:txBody>
                    <a:bodyPr/>
                    <a:lstStyle/>
                    <a:p>
                      <a:pPr marL="0" marR="0" lvl="0" indent="0" algn="l" defTabSz="1188085" rtl="0" eaLnBrk="1" fontAlgn="ctr" latinLnBrk="0" hangingPunct="1">
                        <a:lnSpc>
                          <a:spcPct val="150000"/>
                        </a:lnSpc>
                        <a:spcBef>
                          <a:spcPts val="0"/>
                        </a:spcBef>
                        <a:spcAft>
                          <a:spcPts val="0"/>
                        </a:spcAft>
                        <a:buClrTx/>
                        <a:buSzTx/>
                        <a:buFontTx/>
                        <a:buNone/>
                        <a:defRPr/>
                      </a:pPr>
                      <a:r>
                        <a:rPr lang="zh-CN" altLang="en-US" sz="800" b="1" u="none" strike="noStrike" kern="1200" dirty="0">
                          <a:solidFill>
                            <a:srgbClr val="C00000"/>
                          </a:solidFill>
                          <a:effectLst/>
                          <a:latin typeface="微软雅黑" panose="020B0503020204020204" pitchFamily="34" charset="-122"/>
                          <a:ea typeface="微软雅黑" panose="020B0503020204020204" pitchFamily="34" charset="-122"/>
                          <a:cs typeface="+mn-cs"/>
                        </a:rPr>
                        <a:t>模型结构变化小：</a:t>
                      </a:r>
                      <a:r>
                        <a:rPr lang="zh-CN" altLang="en-US" sz="800" b="0" u="none" strike="noStrike" dirty="0">
                          <a:effectLst/>
                          <a:latin typeface="微软雅黑" panose="020B0503020204020204" pitchFamily="34" charset="-122"/>
                          <a:ea typeface="微软雅黑" panose="020B0503020204020204" pitchFamily="34" charset="-122"/>
                        </a:rPr>
                        <a:t>结构上与</a:t>
                      </a:r>
                      <a:r>
                        <a:rPr lang="en-US" altLang="zh-CN" sz="800" b="0" u="none" strike="noStrike" dirty="0">
                          <a:effectLst/>
                          <a:latin typeface="微软雅黑" panose="020B0503020204020204" pitchFamily="34" charset="-122"/>
                          <a:ea typeface="微软雅黑" panose="020B0503020204020204" pitchFamily="34" charset="-122"/>
                        </a:rPr>
                        <a:t>DeepSeekV4</a:t>
                      </a:r>
                      <a:r>
                        <a:rPr lang="zh-CN" altLang="en-US" sz="800" b="0" u="none" strike="noStrike" dirty="0">
                          <a:effectLst/>
                          <a:latin typeface="微软雅黑" panose="020B0503020204020204" pitchFamily="34" charset="-122"/>
                          <a:ea typeface="微软雅黑" panose="020B0503020204020204" pitchFamily="34" charset="-122"/>
                        </a:rPr>
                        <a:t>-</a:t>
                      </a:r>
                      <a:r>
                        <a:rPr lang="en-US" altLang="zh-CN" sz="800" b="0" u="none" strike="noStrike" dirty="0">
                          <a:effectLst/>
                          <a:latin typeface="微软雅黑" panose="020B0503020204020204" pitchFamily="34" charset="-122"/>
                          <a:ea typeface="微软雅黑" panose="020B0503020204020204" pitchFamily="34" charset="-122"/>
                        </a:rPr>
                        <a:t>Flash</a:t>
                      </a:r>
                      <a:r>
                        <a:rPr lang="zh-CN" altLang="en-US" sz="800" b="0" u="none" strike="noStrike" dirty="0">
                          <a:effectLst/>
                          <a:latin typeface="微软雅黑" panose="020B0503020204020204" pitchFamily="34" charset="-122"/>
                          <a:ea typeface="微软雅黑" panose="020B0503020204020204" pitchFamily="34" charset="-122"/>
                        </a:rPr>
                        <a:t>一致，参数量为</a:t>
                      </a:r>
                      <a:r>
                        <a:rPr lang="en-US" altLang="zh-CN" sz="800" b="0" u="none" strike="noStrike" dirty="0">
                          <a:effectLst/>
                          <a:latin typeface="微软雅黑" panose="020B0503020204020204" pitchFamily="34" charset="-122"/>
                          <a:ea typeface="微软雅黑" panose="020B0503020204020204" pitchFamily="34" charset="-122"/>
                        </a:rPr>
                        <a:t>1600B</a:t>
                      </a:r>
                      <a:r>
                        <a:rPr lang="zh-CN" altLang="en-US" sz="800" b="0" u="none" strike="noStrike" dirty="0">
                          <a:effectLst/>
                          <a:latin typeface="微软雅黑" panose="020B0503020204020204" pitchFamily="34" charset="-122"/>
                          <a:ea typeface="微软雅黑" panose="020B0503020204020204" pitchFamily="34" charset="-122"/>
                        </a:rPr>
                        <a:t>；权重规模较大，量化周期较长，部分算子存在泛化性适配工作量</a:t>
                      </a:r>
                      <a:endParaRPr kumimoji="0" lang="en-US" altLang="zh-CN" sz="8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endParaRPr>
                    </a:p>
                  </a:txBody>
                  <a:tcPr marL="35972" marR="35972" marT="35972" marB="35972" anchor="ctr">
                    <a:solidFill>
                      <a:srgbClr val="FFF2CC">
                        <a:alpha val="100000"/>
                      </a:srgbClr>
                    </a:solidFill>
                  </a:tcPr>
                </a:tc>
                <a:tc>
                  <a:txBody>
                    <a:bodyPr/>
                    <a:lstStyle/>
                    <a:p>
                      <a:pPr marL="0" marR="0" lvl="0" indent="0" algn="ctr" defTabSz="1188085" rtl="0" eaLnBrk="1" fontAlgn="ctr" latinLnBrk="0" hangingPunct="1">
                        <a:lnSpc>
                          <a:spcPct val="150000"/>
                        </a:lnSpc>
                        <a:spcBef>
                          <a:spcPts val="0"/>
                        </a:spcBef>
                        <a:spcAft>
                          <a:spcPts val="0"/>
                        </a:spcAft>
                        <a:buClrTx/>
                        <a:buSzTx/>
                        <a:buFontTx/>
                        <a:buNone/>
                        <a:defRPr/>
                      </a:pPr>
                      <a:r>
                        <a:rPr lang="zh-CN" altLang="en-US" sz="1000" b="1" dirty="0">
                          <a:solidFill>
                            <a:srgbClr val="0202FF"/>
                          </a:solidFill>
                          <a:effectLst/>
                          <a:latin typeface="微软雅黑" panose="020B0503020204020204" pitchFamily="34" charset="-122"/>
                          <a:ea typeface="微软雅黑" panose="020B0503020204020204" pitchFamily="34" charset="-122"/>
                          <a:sym typeface="+mn-ea"/>
                        </a:rPr>
                        <a:t>否×</a:t>
                      </a:r>
                      <a:endParaRPr kumimoji="0" lang="zh-CN" altLang="en-US" sz="1000" b="1" i="0" u="none" strike="noStrike" kern="1200" cap="none" spc="0" normalizeH="0" baseline="0" noProof="0" dirty="0">
                        <a:ln>
                          <a:noFill/>
                        </a:ln>
                        <a:solidFill>
                          <a:srgbClr val="0202FF"/>
                        </a:solidFill>
                        <a:effectLst/>
                        <a:uLnTx/>
                        <a:uFillTx/>
                        <a:latin typeface="微软雅黑" panose="020B0503020204020204" pitchFamily="34" charset="-122"/>
                        <a:ea typeface="微软雅黑" panose="020B0503020204020204" pitchFamily="34" charset="-122"/>
                        <a:cs typeface="+mn-cs"/>
                        <a:sym typeface="+mn-ea"/>
                      </a:endParaRPr>
                    </a:p>
                  </a:txBody>
                  <a:tcPr marL="35972" marR="35972" marT="35972" marB="35972" anchor="ctr">
                    <a:solidFill>
                      <a:srgbClr val="FFF2CC">
                        <a:alpha val="100000"/>
                      </a:srgbClr>
                    </a:solidFill>
                  </a:tcPr>
                </a:tc>
                <a:tc>
                  <a:txBody>
                    <a:bodyPr/>
                    <a:lstStyle/>
                    <a:p>
                      <a:pPr algn="ctr" fontAlgn="ctr"/>
                      <a:r>
                        <a:rPr lang="en-US" altLang="zh-CN" sz="900" b="1" u="none" strike="noStrike" kern="1200" dirty="0">
                          <a:solidFill>
                            <a:schemeClr val="dk1"/>
                          </a:solidFill>
                          <a:effectLst/>
                          <a:latin typeface="微软雅黑" charset="0"/>
                          <a:ea typeface="微软雅黑" charset="0"/>
                          <a:cs typeface="+mn-cs"/>
                        </a:rPr>
                        <a:t>7</a:t>
                      </a:r>
                      <a:r>
                        <a:rPr lang="zh-CN" altLang="en-US" sz="900" b="1" u="none" strike="noStrike" kern="1200" dirty="0">
                          <a:solidFill>
                            <a:schemeClr val="dk1"/>
                          </a:solidFill>
                          <a:effectLst/>
                          <a:latin typeface="微软雅黑" panose="020B0503020204020204" pitchFamily="34" charset="-122"/>
                          <a:ea typeface="微软雅黑" panose="020B0503020204020204" pitchFamily="34" charset="-122"/>
                          <a:cs typeface="+mn-cs"/>
                        </a:rPr>
                        <a:t>天</a:t>
                      </a:r>
                      <a:endParaRPr lang="en-US" altLang="zh-CN" sz="900" b="1" u="none" strike="noStrike" kern="1200" dirty="0">
                        <a:solidFill>
                          <a:schemeClr val="dk1"/>
                        </a:solidFill>
                        <a:effectLst/>
                        <a:latin typeface="微软雅黑" panose="020B0503020204020204" pitchFamily="34" charset="-122"/>
                        <a:ea typeface="微软雅黑" panose="020B0503020204020204" pitchFamily="34" charset="-122"/>
                        <a:cs typeface="+mn-cs"/>
                      </a:endParaRPr>
                    </a:p>
                  </a:txBody>
                  <a:tcPr marL="35972" marR="35972" marT="35972" marB="35972" anchor="ctr">
                    <a:solidFill>
                      <a:srgbClr val="FFF2CC">
                        <a:alpha val="100000"/>
                      </a:srgbClr>
                    </a:solidFill>
                  </a:tcPr>
                </a:tc>
                <a:tc>
                  <a:txBody>
                    <a:bodyPr/>
                    <a:lstStyle/>
                    <a:p>
                      <a:pPr marL="0" algn="l" defTabSz="1186815" rtl="0" eaLnBrk="1" fontAlgn="ctr" latinLnBrk="0" hangingPunct="1">
                        <a:lnSpc>
                          <a:spcPct val="150000"/>
                        </a:lnSpc>
                      </a:pPr>
                      <a:r>
                        <a:rPr lang="en-US" altLang="zh-CN" sz="900" b="1" dirty="0">
                          <a:solidFill>
                            <a:srgbClr val="C00000"/>
                          </a:solidFill>
                          <a:effectLst/>
                          <a:latin typeface="微软雅黑" charset="0"/>
                          <a:ea typeface="微软雅黑" charset="0"/>
                        </a:rPr>
                        <a:t>7天：</a:t>
                      </a:r>
                      <a:r>
                        <a:rPr lang="zh-CN" altLang="en-US" sz="800" b="0" dirty="0">
                          <a:solidFill>
                            <a:srgbClr val="000000"/>
                          </a:solidFill>
                          <a:effectLst/>
                          <a:latin typeface="微软雅黑" panose="020B0503020204020204" pitchFamily="34" charset="-122"/>
                          <a:ea typeface="微软雅黑" panose="020B0503020204020204" pitchFamily="34" charset="-122"/>
                        </a:rPr>
                        <a:t>完成融合算子，</a:t>
                      </a:r>
                      <a:r>
                        <a:rPr lang="en-US" altLang="zh-CN" sz="800" b="0" dirty="0">
                          <a:solidFill>
                            <a:srgbClr val="000000"/>
                          </a:solidFill>
                          <a:effectLst/>
                          <a:latin typeface="微软雅黑" panose="020B0503020204020204" pitchFamily="34" charset="-122"/>
                          <a:ea typeface="微软雅黑" panose="020B0503020204020204" pitchFamily="34" charset="-122"/>
                        </a:rPr>
                        <a:t>PD</a:t>
                      </a:r>
                      <a:r>
                        <a:rPr lang="zh-CN" altLang="en-US" sz="800" b="0" dirty="0">
                          <a:solidFill>
                            <a:srgbClr val="000000"/>
                          </a:solidFill>
                          <a:effectLst/>
                          <a:latin typeface="微软雅黑" panose="020B0503020204020204" pitchFamily="34" charset="-122"/>
                          <a:ea typeface="微软雅黑" panose="020B0503020204020204" pitchFamily="34" charset="-122"/>
                        </a:rPr>
                        <a:t>分离</a:t>
                      </a:r>
                      <a:r>
                        <a:rPr lang="en-US" altLang="zh-CN" sz="800" b="0" dirty="0">
                          <a:solidFill>
                            <a:srgbClr val="000000"/>
                          </a:solidFill>
                          <a:effectLst/>
                          <a:latin typeface="微软雅黑" panose="020B0503020204020204" pitchFamily="34" charset="-122"/>
                          <a:ea typeface="微软雅黑" panose="020B0503020204020204" pitchFamily="34" charset="-122"/>
                        </a:rPr>
                        <a:t>prefixcache</a:t>
                      </a:r>
                      <a:r>
                        <a:rPr lang="zh-CN" altLang="en-US" sz="800" b="0" dirty="0">
                          <a:solidFill>
                            <a:srgbClr val="000000"/>
                          </a:solidFill>
                          <a:effectLst/>
                          <a:latin typeface="微软雅黑" panose="020B0503020204020204" pitchFamily="34" charset="-122"/>
                          <a:ea typeface="微软雅黑" panose="020B0503020204020204" pitchFamily="34" charset="-122"/>
                        </a:rPr>
                        <a:t>等特性叠加，性能持平</a:t>
                      </a:r>
                      <a:r>
                        <a:rPr lang="en-US" altLang="zh-CN" sz="800" b="0" dirty="0">
                          <a:solidFill>
                            <a:srgbClr val="000000"/>
                          </a:solidFill>
                          <a:effectLst/>
                          <a:latin typeface="微软雅黑" panose="020B0503020204020204" pitchFamily="34" charset="-122"/>
                          <a:ea typeface="微软雅黑" panose="020B0503020204020204" pitchFamily="34" charset="-122"/>
                        </a:rPr>
                        <a:t>H200</a:t>
                      </a:r>
                      <a:r>
                        <a:rPr lang="zh-CN" altLang="en-US" sz="800" b="0" dirty="0">
                          <a:solidFill>
                            <a:srgbClr val="000000"/>
                          </a:solidFill>
                          <a:effectLst/>
                          <a:latin typeface="微软雅黑" panose="020B0503020204020204" pitchFamily="34" charset="-122"/>
                          <a:ea typeface="微软雅黑" panose="020B0503020204020204" pitchFamily="34" charset="-122"/>
                        </a:rPr>
                        <a:t>（</a:t>
                      </a:r>
                      <a:r>
                        <a:rPr lang="en-US" altLang="zh-CN" sz="800" b="0" dirty="0">
                          <a:solidFill>
                            <a:srgbClr val="000000"/>
                          </a:solidFill>
                          <a:effectLst/>
                          <a:latin typeface="微软雅黑" panose="020B0503020204020204" pitchFamily="34" charset="-122"/>
                          <a:ea typeface="微软雅黑" panose="020B0503020204020204" pitchFamily="34" charset="-122"/>
                        </a:rPr>
                        <a:t>H200</a:t>
                      </a:r>
                      <a:r>
                        <a:rPr lang="zh-CN" altLang="en-US" sz="800" b="0" dirty="0">
                          <a:solidFill>
                            <a:srgbClr val="000000"/>
                          </a:solidFill>
                          <a:effectLst/>
                          <a:latin typeface="微软雅黑" panose="020B0503020204020204" pitchFamily="34" charset="-122"/>
                          <a:ea typeface="微软雅黑" panose="020B0503020204020204" pitchFamily="34" charset="-122"/>
                        </a:rPr>
                        <a:t>同步调优进行中）</a:t>
                      </a:r>
                      <a:endParaRPr lang="en-US" altLang="zh-CN" sz="800" b="0" i="0" u="none" strike="noStrike" dirty="0">
                        <a:solidFill>
                          <a:schemeClr val="tx1"/>
                        </a:solidFill>
                        <a:effectLst/>
                        <a:latin typeface="微软雅黑" panose="020B0503020204020204" pitchFamily="34" charset="-122"/>
                        <a:ea typeface="微软雅黑" panose="020B0503020204020204" pitchFamily="34" charset="-122"/>
                      </a:endParaRPr>
                    </a:p>
                  </a:txBody>
                  <a:tcPr marL="35972" marR="35972" marT="35972" marB="35972" anchor="ctr">
                    <a:solidFill>
                      <a:srgbClr val="FFF2CC">
                        <a:alpha val="100000"/>
                      </a:srgbClr>
                    </a:solidFill>
                  </a:tcPr>
                </a:tc>
                <a:extLst>
                  <a:ext uri="{0D108BD9-81ED-4DB2-BD59-A6C34878D82A}">
                    <a16:rowId xmlns:a16="http://schemas.microsoft.com/office/drawing/2014/main" val="10002"/>
                  </a:ext>
                </a:extLst>
              </a:tr>
              <a:tr h="621030">
                <a:tc rowSpan="2">
                  <a:txBody>
                    <a:bodyPr/>
                    <a:lstStyle/>
                    <a:p>
                      <a:pPr algn="ctr" fontAlgn="ctr"/>
                      <a:r>
                        <a:rPr lang="en-US" altLang="zh-CN" sz="800" b="1" dirty="0">
                          <a:solidFill>
                            <a:srgbClr val="000000"/>
                          </a:solidFill>
                          <a:effectLst/>
                          <a:latin typeface="微软雅黑" charset="0"/>
                          <a:ea typeface="微软雅黑" charset="0"/>
                        </a:rPr>
                        <a:t>GLM</a:t>
                      </a:r>
                      <a:endParaRPr lang="zh-CN" altLang="en-US" sz="800" b="1" i="0" u="none" strike="noStrike" dirty="0">
                        <a:solidFill>
                          <a:srgbClr val="000000"/>
                        </a:solidFill>
                        <a:effectLst/>
                        <a:latin typeface="微软雅黑" panose="020B0503020204020204" pitchFamily="34" charset="-122"/>
                        <a:ea typeface="微软雅黑" panose="020B0503020204020204" pitchFamily="34" charset="-122"/>
                      </a:endParaRPr>
                    </a:p>
                  </a:txBody>
                  <a:tcPr marL="35972" marR="35972" marT="35972" marB="35972" anchor="ctr">
                    <a:solidFill>
                      <a:schemeClr val="tx2">
                        <a:lumMod val="95000"/>
                      </a:schemeClr>
                    </a:solidFill>
                  </a:tcPr>
                </a:tc>
                <a:tc>
                  <a:txBody>
                    <a:bodyPr/>
                    <a:lstStyle/>
                    <a:p>
                      <a:pPr algn="ctr" fontAlgn="ctr">
                        <a:buNone/>
                      </a:pPr>
                      <a:r>
                        <a:rPr lang="en-US" altLang="zh-CN" sz="800" b="1" i="0" u="none" strike="noStrike" dirty="0">
                          <a:solidFill>
                            <a:srgbClr val="000000"/>
                          </a:solidFill>
                          <a:effectLst/>
                          <a:latin typeface="微软雅黑" panose="020B0503020204020204" pitchFamily="34" charset="-122"/>
                          <a:ea typeface="微软雅黑" panose="020B0503020204020204" pitchFamily="34" charset="-122"/>
                        </a:rPr>
                        <a:t>GLM</a:t>
                      </a:r>
                      <a:r>
                        <a:rPr lang="zh-CN" altLang="en-US" sz="800" b="1" i="0" u="none" strike="noStrike" dirty="0">
                          <a:solidFill>
                            <a:srgbClr val="000000"/>
                          </a:solidFill>
                          <a:effectLst/>
                          <a:latin typeface="微软雅黑" panose="020B0503020204020204" pitchFamily="34" charset="-122"/>
                          <a:ea typeface="微软雅黑" panose="020B0503020204020204" pitchFamily="34" charset="-122"/>
                        </a:rPr>
                        <a:t>-</a:t>
                      </a:r>
                      <a:r>
                        <a:rPr lang="en-US" altLang="zh-CN" sz="800" b="1" i="0" u="none" strike="noStrike" dirty="0">
                          <a:solidFill>
                            <a:srgbClr val="000000"/>
                          </a:solidFill>
                          <a:effectLst/>
                          <a:latin typeface="微软雅黑" panose="020B0503020204020204" pitchFamily="34" charset="-122"/>
                          <a:ea typeface="微软雅黑" panose="020B0503020204020204" pitchFamily="34" charset="-122"/>
                        </a:rPr>
                        <a:t>5.0</a:t>
                      </a:r>
                      <a:endParaRPr lang="zh-CN" altLang="en-US" sz="800" b="1" i="0" u="none" strike="noStrike" dirty="0">
                        <a:solidFill>
                          <a:srgbClr val="000000"/>
                        </a:solidFill>
                        <a:effectLst/>
                        <a:latin typeface="微软雅黑" panose="020B0503020204020204" pitchFamily="34" charset="-122"/>
                        <a:ea typeface="微软雅黑" panose="020B0503020204020204" pitchFamily="34" charset="-122"/>
                      </a:endParaRPr>
                    </a:p>
                  </a:txBody>
                  <a:tcPr marL="35972" marR="35972" marT="35972" marB="35972" anchor="ctr">
                    <a:solidFill>
                      <a:schemeClr val="tx2">
                        <a:lumMod val="95000"/>
                      </a:schemeClr>
                    </a:solidFill>
                  </a:tcPr>
                </a:tc>
                <a:tc>
                  <a:txBody>
                    <a:bodyPr/>
                    <a:lstStyle/>
                    <a:p>
                      <a:pPr algn="ctr" fontAlgn="ctr">
                        <a:buNone/>
                      </a:pPr>
                      <a:r>
                        <a:rPr lang="zh-CN" altLang="en-US" sz="1000" b="1" dirty="0">
                          <a:solidFill>
                            <a:srgbClr val="000000"/>
                          </a:solidFill>
                          <a:effectLst/>
                          <a:latin typeface="微软雅黑" panose="020B0503020204020204" pitchFamily="34" charset="-122"/>
                          <a:ea typeface="微软雅黑" panose="020B0503020204020204" pitchFamily="34" charset="-122"/>
                        </a:rPr>
                        <a:t>中</a:t>
                      </a:r>
                      <a:endParaRPr lang="zh-CN" altLang="en-US" sz="1000" b="1" i="0" u="none" strike="noStrike" dirty="0">
                        <a:solidFill>
                          <a:srgbClr val="000000"/>
                        </a:solidFill>
                        <a:effectLst/>
                        <a:latin typeface="微软雅黑" panose="020B0503020204020204" pitchFamily="34" charset="-122"/>
                        <a:ea typeface="微软雅黑" panose="020B0503020204020204" pitchFamily="34" charset="-122"/>
                      </a:endParaRPr>
                    </a:p>
                  </a:txBody>
                  <a:tcPr marL="35972" marR="35972" marT="35972" marB="35972" anchor="ctr">
                    <a:solidFill>
                      <a:srgbClr val="DEEBF7">
                        <a:alpha val="100000"/>
                      </a:srgbClr>
                    </a:solidFill>
                  </a:tcPr>
                </a:tc>
                <a:tc>
                  <a:txBody>
                    <a:bodyPr/>
                    <a:lstStyle/>
                    <a:p>
                      <a:pPr marL="0" marR="0" lvl="0" indent="0" algn="l" defTabSz="1188085" rtl="0" eaLnBrk="1" fontAlgn="ctr" latinLnBrk="0" hangingPunct="1">
                        <a:lnSpc>
                          <a:spcPct val="150000"/>
                        </a:lnSpc>
                        <a:spcBef>
                          <a:spcPts val="0"/>
                        </a:spcBef>
                        <a:spcAft>
                          <a:spcPts val="0"/>
                        </a:spcAft>
                        <a:buClrTx/>
                        <a:buSzTx/>
                        <a:buFontTx/>
                        <a:buNone/>
                        <a:defRPr/>
                      </a:pPr>
                      <a:r>
                        <a:rPr lang="zh-CN" altLang="en-US" sz="800" b="1" dirty="0">
                          <a:solidFill>
                            <a:srgbClr val="C00000"/>
                          </a:solidFill>
                          <a:effectLst/>
                          <a:latin typeface="微软雅黑" panose="020B0503020204020204" pitchFamily="34" charset="-122"/>
                          <a:ea typeface="微软雅黑" panose="020B0503020204020204" pitchFamily="34" charset="-122"/>
                          <a:sym typeface="+mn-ea"/>
                        </a:rPr>
                        <a:t>模型结构变化中：</a:t>
                      </a:r>
                      <a:r>
                        <a:rPr lang="zh-CN" altLang="en-US" sz="800" dirty="0">
                          <a:effectLst/>
                          <a:latin typeface="微软雅黑" panose="020B0503020204020204" pitchFamily="34" charset="-122"/>
                          <a:ea typeface="微软雅黑" panose="020B0503020204020204" pitchFamily="34" charset="-122"/>
                          <a:sym typeface="+mn-ea"/>
                        </a:rPr>
                        <a:t>结构上与</a:t>
                      </a:r>
                      <a:r>
                        <a:rPr lang="en-US" altLang="zh-CN" sz="800" dirty="0">
                          <a:effectLst/>
                          <a:latin typeface="微软雅黑" panose="020B0503020204020204" pitchFamily="34" charset="-122"/>
                          <a:ea typeface="微软雅黑" panose="020B0503020204020204" pitchFamily="34" charset="-122"/>
                          <a:sym typeface="+mn-ea"/>
                        </a:rPr>
                        <a:t>DeepSeekV</a:t>
                      </a:r>
                      <a:r>
                        <a:rPr lang="en-US" altLang="zh-CN" sz="800" dirty="0">
                          <a:effectLst/>
                          <a:latin typeface="微软雅黑" charset="0"/>
                          <a:ea typeface="微软雅黑" charset="0"/>
                          <a:sym typeface="+mn-ea"/>
                        </a:rPr>
                        <a:t>32</a:t>
                      </a:r>
                      <a:r>
                        <a:rPr lang="zh-CN" altLang="en-US" sz="800" dirty="0">
                          <a:effectLst/>
                          <a:latin typeface="微软雅黑" charset="0"/>
                          <a:ea typeface="微软雅黑" charset="0"/>
                          <a:sym typeface="+mn-ea"/>
                        </a:rPr>
                        <a:t>基本</a:t>
                      </a:r>
                      <a:r>
                        <a:rPr lang="zh-CN" altLang="en-US" sz="800" dirty="0">
                          <a:effectLst/>
                          <a:latin typeface="微软雅黑" panose="020B0503020204020204" pitchFamily="34" charset="-122"/>
                          <a:ea typeface="微软雅黑" panose="020B0503020204020204" pitchFamily="34" charset="-122"/>
                          <a:sym typeface="+mn-ea"/>
                        </a:rPr>
                        <a:t>致，但</a:t>
                      </a:r>
                      <a:r>
                        <a:rPr lang="en-US" altLang="zh-CN" sz="800" dirty="0">
                          <a:effectLst/>
                          <a:latin typeface="微软雅黑" panose="020B0503020204020204" pitchFamily="34" charset="-122"/>
                          <a:ea typeface="微软雅黑" panose="020B0503020204020204" pitchFamily="34" charset="-122"/>
                          <a:sym typeface="+mn-ea"/>
                        </a:rPr>
                        <a:t>MTP</a:t>
                      </a:r>
                      <a:r>
                        <a:rPr lang="zh-CN" altLang="en-US" sz="800" dirty="0">
                          <a:effectLst/>
                          <a:latin typeface="微软雅黑" panose="020B0503020204020204" pitchFamily="34" charset="-122"/>
                          <a:ea typeface="微软雅黑" panose="020B0503020204020204" pitchFamily="34" charset="-122"/>
                          <a:sym typeface="+mn-ea"/>
                        </a:rPr>
                        <a:t>部分与</a:t>
                      </a:r>
                      <a:r>
                        <a:rPr lang="en-US" altLang="zh-CN" sz="800" dirty="0">
                          <a:effectLst/>
                          <a:latin typeface="微软雅黑" panose="020B0503020204020204" pitchFamily="34" charset="-122"/>
                          <a:ea typeface="微软雅黑" panose="020B0503020204020204" pitchFamily="34" charset="-122"/>
                          <a:sym typeface="+mn-ea"/>
                        </a:rPr>
                        <a:t>DSV32</a:t>
                      </a:r>
                      <a:r>
                        <a:rPr lang="zh-CN" altLang="en-US" sz="800" dirty="0">
                          <a:effectLst/>
                          <a:latin typeface="微软雅黑" panose="020B0503020204020204" pitchFamily="34" charset="-122"/>
                          <a:ea typeface="微软雅黑" panose="020B0503020204020204" pitchFamily="34" charset="-122"/>
                          <a:sym typeface="+mn-ea"/>
                        </a:rPr>
                        <a:t>存在较大差异，且为保障</a:t>
                      </a:r>
                      <a:r>
                        <a:rPr lang="en-US" altLang="zh-CN" sz="800" dirty="0">
                          <a:effectLst/>
                          <a:latin typeface="微软雅黑" panose="020B0503020204020204" pitchFamily="34" charset="-122"/>
                          <a:ea typeface="微软雅黑" panose="020B0503020204020204" pitchFamily="34" charset="-122"/>
                          <a:sym typeface="+mn-ea"/>
                        </a:rPr>
                        <a:t>int8</a:t>
                      </a:r>
                      <a:r>
                        <a:rPr lang="zh-CN" altLang="en-US" sz="800" dirty="0">
                          <a:effectLst/>
                          <a:latin typeface="微软雅黑" panose="020B0503020204020204" pitchFamily="34" charset="-122"/>
                          <a:ea typeface="微软雅黑" panose="020B0503020204020204" pitchFamily="34" charset="-122"/>
                          <a:sym typeface="+mn-ea"/>
                        </a:rPr>
                        <a:t>精度，需采用旋转量化提升精度，</a:t>
                      </a:r>
                      <a:r>
                        <a:rPr lang="en-US" altLang="zh-CN" sz="800" dirty="0">
                          <a:effectLst/>
                          <a:latin typeface="微软雅黑" panose="020B0503020204020204" pitchFamily="34" charset="-122"/>
                          <a:ea typeface="微软雅黑" panose="020B0503020204020204" pitchFamily="34" charset="-122"/>
                          <a:sym typeface="+mn-ea"/>
                        </a:rPr>
                        <a:t>vllm</a:t>
                      </a:r>
                      <a:r>
                        <a:rPr lang="zh-CN" altLang="en-US" sz="800" dirty="0">
                          <a:effectLst/>
                          <a:latin typeface="微软雅黑" panose="020B0503020204020204" pitchFamily="34" charset="-122"/>
                          <a:ea typeface="微软雅黑" panose="020B0503020204020204" pitchFamily="34" charset="-122"/>
                          <a:sym typeface="+mn-ea"/>
                        </a:rPr>
                        <a:t>官方社区采用</a:t>
                      </a:r>
                      <a:r>
                        <a:rPr lang="en-US" altLang="zh-CN" sz="800" dirty="0">
                          <a:effectLst/>
                          <a:latin typeface="微软雅黑" panose="020B0503020204020204" pitchFamily="34" charset="-122"/>
                          <a:ea typeface="微软雅黑" panose="020B0503020204020204" pitchFamily="34" charset="-122"/>
                          <a:sym typeface="+mn-ea"/>
                        </a:rPr>
                        <a:t>FP8</a:t>
                      </a:r>
                      <a:r>
                        <a:rPr lang="zh-CN" altLang="en-US" sz="800" dirty="0">
                          <a:effectLst/>
                          <a:latin typeface="微软雅黑" panose="020B0503020204020204" pitchFamily="34" charset="-122"/>
                          <a:ea typeface="微软雅黑" panose="020B0503020204020204" pitchFamily="34" charset="-122"/>
                          <a:sym typeface="+mn-ea"/>
                        </a:rPr>
                        <a:t>不涉及旋转量化，未原生支持旋转量化+</a:t>
                      </a:r>
                      <a:r>
                        <a:rPr lang="en-US" altLang="zh-CN" sz="800" dirty="0">
                          <a:effectLst/>
                          <a:latin typeface="微软雅黑" panose="020B0503020204020204" pitchFamily="34" charset="-122"/>
                          <a:ea typeface="微软雅黑" panose="020B0503020204020204" pitchFamily="34" charset="-122"/>
                          <a:sym typeface="+mn-ea"/>
                        </a:rPr>
                        <a:t>MTP</a:t>
                      </a:r>
                      <a:r>
                        <a:rPr lang="zh-CN" altLang="en-US" sz="800" dirty="0">
                          <a:effectLst/>
                          <a:latin typeface="微软雅黑" panose="020B0503020204020204" pitchFamily="34" charset="-122"/>
                          <a:ea typeface="微软雅黑" panose="020B0503020204020204" pitchFamily="34" charset="-122"/>
                          <a:sym typeface="+mn-ea"/>
                        </a:rPr>
                        <a:t>叠加场景</a:t>
                      </a:r>
                      <a:endParaRPr kumimoji="0" lang="en-US" altLang="zh-CN" sz="8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endParaRPr>
                    </a:p>
                  </a:txBody>
                  <a:tcPr marL="35972" marR="35972" marT="35972" marB="35972" anchor="ctr">
                    <a:solidFill>
                      <a:srgbClr val="DEEBF7">
                        <a:alpha val="100000"/>
                      </a:srgbClr>
                    </a:solidFill>
                  </a:tcPr>
                </a:tc>
                <a:tc>
                  <a:txBody>
                    <a:bodyPr/>
                    <a:lstStyle/>
                    <a:p>
                      <a:pPr marL="0" marR="0" lvl="0" indent="0" algn="ctr" defTabSz="1188085" rtl="0" eaLnBrk="1" fontAlgn="ctr" latinLnBrk="0" hangingPunct="1">
                        <a:lnSpc>
                          <a:spcPct val="150000"/>
                        </a:lnSpc>
                        <a:spcBef>
                          <a:spcPts val="0"/>
                        </a:spcBef>
                        <a:spcAft>
                          <a:spcPts val="0"/>
                        </a:spcAft>
                        <a:buClrTx/>
                        <a:buSzTx/>
                        <a:buFontTx/>
                        <a:buNone/>
                        <a:defRPr/>
                      </a:pPr>
                      <a:r>
                        <a:rPr lang="zh-CN" altLang="en-US" sz="1000" b="1" dirty="0">
                          <a:solidFill>
                            <a:srgbClr val="00B050"/>
                          </a:solidFill>
                          <a:effectLst/>
                          <a:latin typeface="微软雅黑" panose="020B0503020204020204" pitchFamily="34" charset="-122"/>
                          <a:ea typeface="微软雅黑" panose="020B0503020204020204" pitchFamily="34" charset="-122"/>
                          <a:sym typeface="+mn-ea"/>
                        </a:rPr>
                        <a:t>是√</a:t>
                      </a:r>
                      <a:endParaRPr kumimoji="0" lang="zh-CN" altLang="en-US" sz="1000" b="1" i="0" u="none" strike="noStrike" kern="1200" cap="none" spc="0" normalizeH="0" baseline="0" noProof="0" dirty="0">
                        <a:ln>
                          <a:noFill/>
                        </a:ln>
                        <a:solidFill>
                          <a:srgbClr val="00B050"/>
                        </a:solidFill>
                        <a:effectLst/>
                        <a:uLnTx/>
                        <a:uFillTx/>
                        <a:latin typeface="微软雅黑" panose="020B0503020204020204" pitchFamily="34" charset="-122"/>
                        <a:ea typeface="微软雅黑" panose="020B0503020204020204" pitchFamily="34" charset="-122"/>
                        <a:cs typeface="+mn-cs"/>
                        <a:sym typeface="+mn-ea"/>
                      </a:endParaRPr>
                    </a:p>
                  </a:txBody>
                  <a:tcPr marL="35972" marR="35972" marT="35972" marB="35972" anchor="ctr">
                    <a:solidFill>
                      <a:srgbClr val="DEEBF7">
                        <a:alpha val="100000"/>
                      </a:srgbClr>
                    </a:solidFill>
                  </a:tcPr>
                </a:tc>
                <a:tc>
                  <a:txBody>
                    <a:bodyPr/>
                    <a:lstStyle/>
                    <a:p>
                      <a:pPr algn="ctr" fontAlgn="ctr"/>
                      <a:r>
                        <a:rPr lang="en-US" altLang="zh-CN" sz="900" b="1" u="none" strike="noStrike" kern="1200" dirty="0">
                          <a:solidFill>
                            <a:schemeClr val="dk1"/>
                          </a:solidFill>
                          <a:effectLst/>
                          <a:latin typeface="微软雅黑" panose="020B0503020204020204" pitchFamily="34" charset="-122"/>
                          <a:ea typeface="微软雅黑" panose="020B0503020204020204" pitchFamily="34" charset="-122"/>
                          <a:cs typeface="+mn-cs"/>
                        </a:rPr>
                        <a:t>7</a:t>
                      </a:r>
                      <a:r>
                        <a:rPr lang="zh-CN" altLang="en-US" sz="900" b="1" u="none" strike="noStrike" kern="1200" dirty="0">
                          <a:solidFill>
                            <a:schemeClr val="dk1"/>
                          </a:solidFill>
                          <a:effectLst/>
                          <a:latin typeface="微软雅黑" panose="020B0503020204020204" pitchFamily="34" charset="-122"/>
                          <a:ea typeface="微软雅黑" panose="020B0503020204020204" pitchFamily="34" charset="-122"/>
                          <a:cs typeface="+mn-cs"/>
                        </a:rPr>
                        <a:t>天</a:t>
                      </a:r>
                    </a:p>
                  </a:txBody>
                  <a:tcPr marL="35972" marR="35972" marT="35972" marB="35972" anchor="ctr">
                    <a:solidFill>
                      <a:srgbClr val="DEEBF7">
                        <a:alpha val="100000"/>
                      </a:srgbClr>
                    </a:solidFill>
                  </a:tcPr>
                </a:tc>
                <a:tc>
                  <a:txBody>
                    <a:bodyPr/>
                    <a:lstStyle/>
                    <a:p>
                      <a:pPr marL="0" algn="l" defTabSz="1186815" rtl="0" eaLnBrk="1" fontAlgn="ctr" latinLnBrk="0" hangingPunct="1">
                        <a:lnSpc>
                          <a:spcPct val="150000"/>
                        </a:lnSpc>
                      </a:pPr>
                      <a:r>
                        <a:rPr lang="en-US" altLang="zh-CN" sz="900" b="1" dirty="0">
                          <a:solidFill>
                            <a:srgbClr val="C00000"/>
                          </a:solidFill>
                          <a:effectLst/>
                          <a:latin typeface="微软雅黑" panose="020B0503020204020204" pitchFamily="34" charset="-122"/>
                          <a:ea typeface="微软雅黑" panose="020B0503020204020204" pitchFamily="34" charset="-122"/>
                          <a:cs typeface="+mn-cs"/>
                        </a:rPr>
                        <a:t>10</a:t>
                      </a:r>
                      <a:r>
                        <a:rPr lang="zh-CN" altLang="en-US" sz="900" b="1" u="none" strike="noStrike" kern="1200" dirty="0">
                          <a:solidFill>
                            <a:srgbClr val="C00000"/>
                          </a:solidFill>
                          <a:effectLst/>
                          <a:latin typeface="微软雅黑" panose="020B0503020204020204" pitchFamily="34" charset="-122"/>
                          <a:ea typeface="微软雅黑" panose="020B0503020204020204" pitchFamily="34" charset="-122"/>
                          <a:cs typeface="+mn-cs"/>
                        </a:rPr>
                        <a:t>天：</a:t>
                      </a:r>
                      <a:r>
                        <a:rPr lang="en-US" altLang="zh-CN" sz="800" b="0" u="none" strike="noStrike" kern="1200" dirty="0">
                          <a:solidFill>
                            <a:schemeClr val="dk1"/>
                          </a:solidFill>
                          <a:effectLst/>
                          <a:latin typeface="微软雅黑" panose="020B0503020204020204" pitchFamily="34" charset="-122"/>
                          <a:ea typeface="微软雅黑" panose="020B0503020204020204" pitchFamily="34" charset="-122"/>
                          <a:cs typeface="+mn-cs"/>
                        </a:rPr>
                        <a:t>MTP</a:t>
                      </a:r>
                      <a:r>
                        <a:rPr lang="zh-CN" altLang="en-US" sz="800" b="0" u="none" strike="noStrike" kern="1200" dirty="0">
                          <a:solidFill>
                            <a:schemeClr val="dk1"/>
                          </a:solidFill>
                          <a:effectLst/>
                          <a:latin typeface="微软雅黑" panose="020B0503020204020204" pitchFamily="34" charset="-122"/>
                          <a:ea typeface="微软雅黑" panose="020B0503020204020204" pitchFamily="34" charset="-122"/>
                          <a:cs typeface="+mn-cs"/>
                        </a:rPr>
                        <a:t>与</a:t>
                      </a:r>
                      <a:r>
                        <a:rPr lang="en-US" altLang="zh-CN" sz="800" b="0" u="none" strike="noStrike" kern="1200" dirty="0">
                          <a:solidFill>
                            <a:schemeClr val="dk1"/>
                          </a:solidFill>
                          <a:effectLst/>
                          <a:latin typeface="微软雅黑" panose="020B0503020204020204" pitchFamily="34" charset="-122"/>
                          <a:ea typeface="微软雅黑" panose="020B0503020204020204" pitchFamily="34" charset="-122"/>
                          <a:cs typeface="+mn-cs"/>
                        </a:rPr>
                        <a:t>DeepSeekV32</a:t>
                      </a:r>
                      <a:r>
                        <a:rPr lang="zh-CN" altLang="en-US" sz="800" b="0" u="none" strike="noStrike" kern="1200" dirty="0">
                          <a:solidFill>
                            <a:schemeClr val="dk1"/>
                          </a:solidFill>
                          <a:effectLst/>
                          <a:latin typeface="微软雅黑" panose="020B0503020204020204" pitchFamily="34" charset="-122"/>
                          <a:ea typeface="微软雅黑" panose="020B0503020204020204" pitchFamily="34" charset="-122"/>
                          <a:cs typeface="+mn-cs"/>
                        </a:rPr>
                        <a:t>存在较大差异，且模型对旋转量化敏感，</a:t>
                      </a:r>
                      <a:r>
                        <a:rPr lang="en-US" altLang="zh-CN" sz="800" b="0" u="none" strike="noStrike" kern="1200" dirty="0">
                          <a:solidFill>
                            <a:schemeClr val="dk1"/>
                          </a:solidFill>
                          <a:effectLst/>
                          <a:latin typeface="微软雅黑" panose="020B0503020204020204" pitchFamily="34" charset="-122"/>
                          <a:ea typeface="微软雅黑" panose="020B0503020204020204" pitchFamily="34" charset="-122"/>
                          <a:cs typeface="+mn-cs"/>
                        </a:rPr>
                        <a:t>MTP</a:t>
                      </a:r>
                      <a:r>
                        <a:rPr lang="zh-CN" altLang="en-US" sz="800" b="0" u="none" strike="noStrike" kern="1200" dirty="0">
                          <a:solidFill>
                            <a:schemeClr val="dk1"/>
                          </a:solidFill>
                          <a:effectLst/>
                          <a:latin typeface="微软雅黑" panose="020B0503020204020204" pitchFamily="34" charset="-122"/>
                          <a:ea typeface="微软雅黑" panose="020B0503020204020204" pitchFamily="34" charset="-122"/>
                          <a:cs typeface="+mn-cs"/>
                        </a:rPr>
                        <a:t>需对旋转量化进行额外适配</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35972" marR="35972" marT="35972" marB="35972" anchor="ctr">
                    <a:solidFill>
                      <a:srgbClr val="DEEBF7">
                        <a:alpha val="100000"/>
                      </a:srgbClr>
                    </a:solidFill>
                  </a:tcPr>
                </a:tc>
                <a:extLst>
                  <a:ext uri="{0D108BD9-81ED-4DB2-BD59-A6C34878D82A}">
                    <a16:rowId xmlns:a16="http://schemas.microsoft.com/office/drawing/2014/main" val="10003"/>
                  </a:ext>
                </a:extLst>
              </a:tr>
              <a:tr h="438150">
                <a:tc vMerge="1">
                  <a:txBody>
                    <a:bodyPr/>
                    <a:lstStyle/>
                    <a:p>
                      <a:endParaRPr lang="zh-CN"/>
                    </a:p>
                  </a:txBody>
                  <a:tcPr marL="35972" marR="35972" marT="35972" marB="35972" anchor="ctr">
                    <a:solidFill>
                      <a:schemeClr val="tx2">
                        <a:lumMod val="95000"/>
                      </a:schemeClr>
                    </a:solidFill>
                  </a:tcPr>
                </a:tc>
                <a:tc>
                  <a:txBody>
                    <a:bodyPr/>
                    <a:lstStyle/>
                    <a:p>
                      <a:pPr algn="ctr" fontAlgn="ctr">
                        <a:buNone/>
                      </a:pPr>
                      <a:r>
                        <a:rPr lang="en-US" altLang="zh-CN" sz="800" b="1" dirty="0">
                          <a:solidFill>
                            <a:srgbClr val="000000"/>
                          </a:solidFill>
                          <a:effectLst/>
                          <a:latin typeface="微软雅黑" panose="020B0503020204020204" pitchFamily="34" charset="-122"/>
                          <a:ea typeface="微软雅黑" panose="020B0503020204020204" pitchFamily="34" charset="-122"/>
                          <a:sym typeface="+mn-ea"/>
                        </a:rPr>
                        <a:t>GLM</a:t>
                      </a:r>
                      <a:r>
                        <a:rPr lang="zh-CN" altLang="en-US" sz="800" b="1" dirty="0">
                          <a:solidFill>
                            <a:srgbClr val="000000"/>
                          </a:solidFill>
                          <a:effectLst/>
                          <a:latin typeface="微软雅黑" panose="020B0503020204020204" pitchFamily="34" charset="-122"/>
                          <a:ea typeface="微软雅黑" panose="020B0503020204020204" pitchFamily="34" charset="-122"/>
                          <a:sym typeface="+mn-ea"/>
                        </a:rPr>
                        <a:t>-</a:t>
                      </a:r>
                      <a:r>
                        <a:rPr lang="en-US" altLang="zh-CN" sz="800" b="1" dirty="0">
                          <a:solidFill>
                            <a:srgbClr val="000000"/>
                          </a:solidFill>
                          <a:effectLst/>
                          <a:latin typeface="微软雅黑" panose="020B0503020204020204" pitchFamily="34" charset="-122"/>
                          <a:ea typeface="微软雅黑" panose="020B0503020204020204" pitchFamily="34" charset="-122"/>
                          <a:sym typeface="+mn-ea"/>
                        </a:rPr>
                        <a:t>5.1</a:t>
                      </a:r>
                      <a:endParaRPr lang="zh-CN" altLang="en-US" sz="800" b="1" i="0" u="none" strike="noStrike" dirty="0">
                        <a:solidFill>
                          <a:srgbClr val="000000"/>
                        </a:solidFill>
                        <a:effectLst/>
                        <a:latin typeface="微软雅黑" panose="020B0503020204020204" pitchFamily="34" charset="-122"/>
                        <a:ea typeface="微软雅黑" panose="020B0503020204020204" pitchFamily="34" charset="-122"/>
                        <a:sym typeface="+mn-ea"/>
                      </a:endParaRPr>
                    </a:p>
                  </a:txBody>
                  <a:tcPr marL="35972" marR="35972" marT="35972" marB="35972" anchor="ctr">
                    <a:solidFill>
                      <a:schemeClr val="tx2">
                        <a:lumMod val="95000"/>
                      </a:schemeClr>
                    </a:solidFill>
                  </a:tcPr>
                </a:tc>
                <a:tc>
                  <a:txBody>
                    <a:bodyPr/>
                    <a:lstStyle/>
                    <a:p>
                      <a:pPr algn="ctr" fontAlgn="ctr">
                        <a:buNone/>
                      </a:pPr>
                      <a:r>
                        <a:rPr lang="zh-CN" altLang="en-US" sz="1000" b="1" i="0" u="none" strike="noStrike" dirty="0">
                          <a:solidFill>
                            <a:srgbClr val="000000"/>
                          </a:solidFill>
                          <a:effectLst/>
                          <a:latin typeface="微软雅黑" panose="020B0503020204020204" pitchFamily="34" charset="-122"/>
                          <a:ea typeface="微软雅黑" panose="020B0503020204020204" pitchFamily="34" charset="-122"/>
                          <a:sym typeface="+mn-ea"/>
                        </a:rPr>
                        <a:t>小</a:t>
                      </a:r>
                    </a:p>
                  </a:txBody>
                  <a:tcPr marL="35972" marR="35972" marT="35972" marB="35972" anchor="ctr">
                    <a:solidFill>
                      <a:srgbClr val="E2F0D9"/>
                    </a:solidFill>
                  </a:tcPr>
                </a:tc>
                <a:tc>
                  <a:txBody>
                    <a:bodyPr/>
                    <a:lstStyle/>
                    <a:p>
                      <a:pPr marL="0" marR="0" lvl="0" indent="0" algn="l" defTabSz="1188085" rtl="0" eaLnBrk="1" fontAlgn="ctr" latinLnBrk="0" hangingPunct="1">
                        <a:lnSpc>
                          <a:spcPct val="150000"/>
                        </a:lnSpc>
                        <a:spcBef>
                          <a:spcPts val="0"/>
                        </a:spcBef>
                        <a:spcAft>
                          <a:spcPts val="0"/>
                        </a:spcAft>
                        <a:buClrTx/>
                        <a:buSzTx/>
                        <a:buFontTx/>
                        <a:buNone/>
                        <a:defRPr/>
                      </a:pPr>
                      <a:r>
                        <a:rPr lang="zh-CN" altLang="en-US" sz="800" b="1" dirty="0">
                          <a:solidFill>
                            <a:srgbClr val="C00000"/>
                          </a:solidFill>
                          <a:effectLst/>
                          <a:latin typeface="微软雅黑" panose="020B0503020204020204" pitchFamily="34" charset="-122"/>
                          <a:ea typeface="微软雅黑" panose="020B0503020204020204" pitchFamily="34" charset="-122"/>
                          <a:sym typeface="+mn-ea"/>
                        </a:rPr>
                        <a:t>模型结构变化小：</a:t>
                      </a:r>
                      <a:r>
                        <a:rPr lang="zh-CN" altLang="en-US" sz="800" dirty="0">
                          <a:effectLst/>
                          <a:latin typeface="微软雅黑" panose="020B0503020204020204" pitchFamily="34" charset="-122"/>
                          <a:ea typeface="微软雅黑" panose="020B0503020204020204" pitchFamily="34" charset="-122"/>
                          <a:sym typeface="+mn-ea"/>
                        </a:rPr>
                        <a:t>结构上完全复用</a:t>
                      </a:r>
                      <a:r>
                        <a:rPr lang="en-US" altLang="zh-CN" sz="800" dirty="0">
                          <a:effectLst/>
                          <a:latin typeface="微软雅黑" panose="020B0503020204020204" pitchFamily="34" charset="-122"/>
                          <a:ea typeface="微软雅黑" panose="020B0503020204020204" pitchFamily="34" charset="-122"/>
                          <a:sym typeface="+mn-ea"/>
                        </a:rPr>
                        <a:t>GLM5.0</a:t>
                      </a:r>
                      <a:r>
                        <a:rPr lang="zh-CN" altLang="en-US" sz="800" dirty="0">
                          <a:effectLst/>
                          <a:latin typeface="微软雅黑" panose="020B0503020204020204" pitchFamily="34" charset="-122"/>
                          <a:ea typeface="微软雅黑" panose="020B0503020204020204" pitchFamily="34" charset="-122"/>
                          <a:sym typeface="+mn-ea"/>
                        </a:rPr>
                        <a:t>，仅模型权重及</a:t>
                      </a:r>
                      <a:r>
                        <a:rPr lang="en-US" altLang="zh-CN" sz="800" dirty="0">
                          <a:effectLst/>
                          <a:latin typeface="微软雅黑" panose="020B0503020204020204" pitchFamily="34" charset="-122"/>
                          <a:ea typeface="微软雅黑" panose="020B0503020204020204" pitchFamily="34" charset="-122"/>
                          <a:sym typeface="+mn-ea"/>
                        </a:rPr>
                        <a:t>chat templet</a:t>
                      </a:r>
                      <a:r>
                        <a:rPr lang="zh-CN" altLang="en-US" sz="800" dirty="0">
                          <a:effectLst/>
                          <a:latin typeface="微软雅黑" panose="020B0503020204020204" pitchFamily="34" charset="-122"/>
                          <a:ea typeface="微软雅黑" panose="020B0503020204020204" pitchFamily="34" charset="-122"/>
                          <a:sym typeface="+mn-ea"/>
                        </a:rPr>
                        <a:t>存在更新，仅需完成权重量化及精度验证</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35972" marR="35972" marT="35972" marB="35972" anchor="ctr">
                    <a:solidFill>
                      <a:srgbClr val="E2F0D9"/>
                    </a:solidFill>
                  </a:tcPr>
                </a:tc>
                <a:tc>
                  <a:txBody>
                    <a:bodyPr/>
                    <a:lstStyle/>
                    <a:p>
                      <a:pPr marL="0" marR="0" lvl="0" indent="0" algn="ctr" defTabSz="1188085" rtl="0" eaLnBrk="1" fontAlgn="ctr" latinLnBrk="0" hangingPunct="1">
                        <a:lnSpc>
                          <a:spcPct val="150000"/>
                        </a:lnSpc>
                        <a:spcBef>
                          <a:spcPts val="0"/>
                        </a:spcBef>
                        <a:spcAft>
                          <a:spcPts val="0"/>
                        </a:spcAft>
                        <a:buClrTx/>
                        <a:buSzTx/>
                        <a:buFontTx/>
                        <a:buNone/>
                        <a:defRPr/>
                      </a:pPr>
                      <a:r>
                        <a:rPr lang="zh-CN" altLang="en-US" sz="1000" b="1" dirty="0">
                          <a:solidFill>
                            <a:srgbClr val="00B050"/>
                          </a:solidFill>
                          <a:effectLst/>
                          <a:latin typeface="微软雅黑" panose="020B0503020204020204" pitchFamily="34" charset="-122"/>
                          <a:ea typeface="微软雅黑" panose="020B0503020204020204" pitchFamily="34" charset="-122"/>
                          <a:sym typeface="+mn-ea"/>
                        </a:rPr>
                        <a:t>是√</a:t>
                      </a:r>
                      <a:endParaRPr lang="zh-CN" altLang="en-US" sz="1000" b="1" i="0" u="none" strike="noStrike" dirty="0">
                        <a:solidFill>
                          <a:srgbClr val="00B050"/>
                        </a:solidFill>
                        <a:effectLst/>
                        <a:latin typeface="微软雅黑" panose="020B0503020204020204" pitchFamily="34" charset="-122"/>
                        <a:ea typeface="微软雅黑" panose="020B0503020204020204" pitchFamily="34" charset="-122"/>
                        <a:sym typeface="+mn-ea"/>
                      </a:endParaRPr>
                    </a:p>
                  </a:txBody>
                  <a:tcPr marL="35972" marR="35972" marT="35972" marB="35972" anchor="ctr">
                    <a:solidFill>
                      <a:srgbClr val="E2F0D9"/>
                    </a:solidFill>
                  </a:tcPr>
                </a:tc>
                <a:tc>
                  <a:txBody>
                    <a:bodyPr/>
                    <a:lstStyle/>
                    <a:p>
                      <a:pPr algn="ctr" fontAlgn="ctr"/>
                      <a:r>
                        <a:rPr lang="en-US" altLang="zh-CN" sz="900" b="1" dirty="0">
                          <a:solidFill>
                            <a:schemeClr val="dk1"/>
                          </a:solidFill>
                          <a:effectLst/>
                          <a:latin typeface="微软雅黑" charset="0"/>
                          <a:ea typeface="微软雅黑" charset="0"/>
                          <a:cs typeface="+mn-cs"/>
                        </a:rPr>
                        <a:t>3</a:t>
                      </a:r>
                      <a:r>
                        <a:rPr lang="zh-CN" altLang="en-US" sz="900" b="1" u="none" strike="noStrike" kern="1200" dirty="0">
                          <a:solidFill>
                            <a:schemeClr val="dk1"/>
                          </a:solidFill>
                          <a:effectLst/>
                          <a:latin typeface="微软雅黑" panose="020B0503020204020204" pitchFamily="34" charset="-122"/>
                          <a:ea typeface="微软雅黑" panose="020B0503020204020204" pitchFamily="34" charset="-122"/>
                          <a:cs typeface="+mn-cs"/>
                        </a:rPr>
                        <a:t>天</a:t>
                      </a:r>
                    </a:p>
                  </a:txBody>
                  <a:tcPr marL="35972" marR="35972" marT="35972" marB="35972" anchor="ctr">
                    <a:solidFill>
                      <a:srgbClr val="E2F0D9"/>
                    </a:solidFill>
                  </a:tcPr>
                </a:tc>
                <a:tc>
                  <a:txBody>
                    <a:bodyPr/>
                    <a:lstStyle/>
                    <a:p>
                      <a:pPr algn="l" fontAlgn="ctr">
                        <a:lnSpc>
                          <a:spcPct val="150000"/>
                        </a:lnSpc>
                      </a:pPr>
                      <a:r>
                        <a:rPr lang="en-US" altLang="zh-CN" sz="900" b="1" dirty="0">
                          <a:solidFill>
                            <a:srgbClr val="C00000"/>
                          </a:solidFill>
                          <a:effectLst/>
                          <a:latin typeface="微软雅黑" charset="0"/>
                          <a:ea typeface="微软雅黑" charset="0"/>
                          <a:cs typeface="+mn-cs"/>
                        </a:rPr>
                        <a:t>0</a:t>
                      </a:r>
                      <a:r>
                        <a:rPr lang="zh-CN" altLang="en-US" sz="900" b="1" u="none" strike="noStrike" kern="1200" dirty="0">
                          <a:solidFill>
                            <a:srgbClr val="C00000"/>
                          </a:solidFill>
                          <a:effectLst/>
                          <a:latin typeface="微软雅黑" panose="020B0503020204020204" pitchFamily="34" charset="-122"/>
                          <a:ea typeface="微软雅黑" panose="020B0503020204020204" pitchFamily="34" charset="-122"/>
                          <a:cs typeface="+mn-cs"/>
                        </a:rPr>
                        <a:t>天：</a:t>
                      </a:r>
                      <a:r>
                        <a:rPr lang="zh-CN" altLang="en-US" sz="800" b="0" dirty="0">
                          <a:solidFill>
                            <a:srgbClr val="000000"/>
                          </a:solidFill>
                          <a:effectLst/>
                          <a:latin typeface="微软雅黑" panose="020B0503020204020204" pitchFamily="34" charset="-122"/>
                          <a:ea typeface="微软雅黑" panose="020B0503020204020204" pitchFamily="34" charset="-122"/>
                        </a:rPr>
                        <a:t>复用</a:t>
                      </a:r>
                      <a:r>
                        <a:rPr lang="en-US" altLang="zh-CN" sz="800" b="0" dirty="0">
                          <a:solidFill>
                            <a:srgbClr val="000000"/>
                          </a:solidFill>
                          <a:effectLst/>
                          <a:latin typeface="微软雅黑" panose="020B0503020204020204" pitchFamily="34" charset="-122"/>
                          <a:ea typeface="微软雅黑" panose="020B0503020204020204" pitchFamily="34" charset="-122"/>
                        </a:rPr>
                        <a:t>GLM</a:t>
                      </a:r>
                      <a:r>
                        <a:rPr lang="zh-CN" altLang="en-US" sz="800" b="0" dirty="0">
                          <a:solidFill>
                            <a:srgbClr val="000000"/>
                          </a:solidFill>
                          <a:effectLst/>
                          <a:latin typeface="微软雅黑" panose="020B0503020204020204" pitchFamily="34" charset="-122"/>
                          <a:ea typeface="微软雅黑" panose="020B0503020204020204" pitchFamily="34" charset="-122"/>
                        </a:rPr>
                        <a:t> </a:t>
                      </a:r>
                      <a:r>
                        <a:rPr lang="en-US" altLang="zh-CN" sz="800" b="0" dirty="0">
                          <a:solidFill>
                            <a:srgbClr val="000000"/>
                          </a:solidFill>
                          <a:effectLst/>
                          <a:latin typeface="微软雅黑" panose="020B0503020204020204" pitchFamily="34" charset="-122"/>
                          <a:ea typeface="微软雅黑" panose="020B0503020204020204" pitchFamily="34" charset="-122"/>
                        </a:rPr>
                        <a:t>5.0</a:t>
                      </a:r>
                      <a:r>
                        <a:rPr lang="zh-CN" altLang="en-US" sz="800" b="0" dirty="0">
                          <a:solidFill>
                            <a:srgbClr val="000000"/>
                          </a:solidFill>
                          <a:effectLst/>
                          <a:latin typeface="微软雅黑" panose="020B0503020204020204" pitchFamily="34" charset="-122"/>
                          <a:ea typeface="微软雅黑" panose="020B0503020204020204" pitchFamily="34" charset="-122"/>
                        </a:rPr>
                        <a:t>最优性能，性能开箱即优</a:t>
                      </a:r>
                      <a:endParaRPr lang="en-US" altLang="zh-CN"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35972" marR="35972" marT="35972" marB="35972" anchor="ctr">
                    <a:solidFill>
                      <a:srgbClr val="E2F0D9"/>
                    </a:solidFill>
                  </a:tcPr>
                </a:tc>
                <a:extLst>
                  <a:ext uri="{0D108BD9-81ED-4DB2-BD59-A6C34878D82A}">
                    <a16:rowId xmlns:a16="http://schemas.microsoft.com/office/drawing/2014/main" val="10004"/>
                  </a:ext>
                </a:extLst>
              </a:tr>
              <a:tr h="621030">
                <a:tc rowSpan="2">
                  <a:txBody>
                    <a:bodyPr/>
                    <a:lstStyle/>
                    <a:p>
                      <a:pPr marL="0" indent="0" algn="ctr" defTabSz="1186180" rtl="0" eaLnBrk="1" fontAlgn="ctr" latinLnBrk="0" hangingPunct="1">
                        <a:spcBef>
                          <a:spcPct val="0"/>
                        </a:spcBef>
                        <a:spcAft>
                          <a:spcPct val="0"/>
                        </a:spcAft>
                        <a:buNone/>
                      </a:pPr>
                      <a:r>
                        <a:rPr lang="en-US" altLang="zh-CN" sz="800" b="1" dirty="0">
                          <a:solidFill>
                            <a:srgbClr val="000000"/>
                          </a:solidFill>
                          <a:latin typeface="微软雅黑" charset="0"/>
                          <a:ea typeface="微软雅黑" charset="0"/>
                        </a:rPr>
                        <a:t>Kimi</a:t>
                      </a:r>
                    </a:p>
                  </a:txBody>
                  <a:tcPr marL="35972" marR="35972" marT="35972" marB="35972" anchor="ctr">
                    <a:solidFill>
                      <a:schemeClr val="tx2">
                        <a:lumMod val="95000"/>
                      </a:schemeClr>
                    </a:solidFill>
                  </a:tcPr>
                </a:tc>
                <a:tc>
                  <a:txBody>
                    <a:bodyPr/>
                    <a:lstStyle/>
                    <a:p>
                      <a:pPr algn="ctr" fontAlgn="ctr">
                        <a:buNone/>
                      </a:pPr>
                      <a:r>
                        <a:rPr lang="en-US" altLang="zh-CN" sz="800" b="1" dirty="0">
                          <a:solidFill>
                            <a:srgbClr val="000000"/>
                          </a:solidFill>
                          <a:latin typeface="微软雅黑" charset="0"/>
                          <a:ea typeface="微软雅黑" charset="0"/>
                          <a:sym typeface="+mn-ea"/>
                        </a:rPr>
                        <a:t>Kimi</a:t>
                      </a:r>
                      <a:r>
                        <a:rPr lang="zh-CN" altLang="en-US" sz="800" b="1" dirty="0">
                          <a:solidFill>
                            <a:srgbClr val="000000"/>
                          </a:solidFill>
                          <a:latin typeface="微软雅黑" charset="0"/>
                          <a:ea typeface="微软雅黑" charset="0"/>
                          <a:sym typeface="+mn-ea"/>
                        </a:rPr>
                        <a:t>-</a:t>
                      </a:r>
                      <a:r>
                        <a:rPr lang="en-US" altLang="zh-CN" sz="800" b="1" dirty="0">
                          <a:solidFill>
                            <a:srgbClr val="000000"/>
                          </a:solidFill>
                          <a:latin typeface="微软雅黑" charset="0"/>
                          <a:ea typeface="微软雅黑" charset="0"/>
                          <a:sym typeface="+mn-ea"/>
                        </a:rPr>
                        <a:t>k2.5</a:t>
                      </a:r>
                      <a:endParaRPr lang="en-US" altLang="zh-CN" sz="800" b="1" i="0" u="none" strike="noStrike" dirty="0">
                        <a:solidFill>
                          <a:srgbClr val="000000"/>
                        </a:solidFill>
                        <a:effectLst/>
                        <a:latin typeface="微软雅黑" charset="0"/>
                        <a:ea typeface="微软雅黑" charset="0"/>
                        <a:sym typeface="+mn-ea"/>
                      </a:endParaRPr>
                    </a:p>
                  </a:txBody>
                  <a:tcPr marL="35972" marR="35972" marT="35972" marB="35972" anchor="ctr">
                    <a:solidFill>
                      <a:schemeClr val="tx2">
                        <a:lumMod val="95000"/>
                      </a:schemeClr>
                    </a:solidFill>
                  </a:tcPr>
                </a:tc>
                <a:tc>
                  <a:txBody>
                    <a:bodyPr/>
                    <a:lstStyle/>
                    <a:p>
                      <a:pPr algn="ctr" fontAlgn="ctr">
                        <a:buNone/>
                      </a:pPr>
                      <a:r>
                        <a:rPr lang="zh-CN" altLang="en-US" sz="1000" b="1" i="0" u="none" strike="noStrike" dirty="0">
                          <a:solidFill>
                            <a:srgbClr val="000000"/>
                          </a:solidFill>
                          <a:effectLst/>
                          <a:latin typeface="微软雅黑" charset="0"/>
                          <a:ea typeface="微软雅黑" charset="0"/>
                          <a:sym typeface="+mn-ea"/>
                        </a:rPr>
                        <a:t>中</a:t>
                      </a:r>
                      <a:endParaRPr lang="en-US" altLang="zh-CN" sz="1000" b="1" i="0" u="none" strike="noStrike" dirty="0">
                        <a:solidFill>
                          <a:srgbClr val="000000"/>
                        </a:solidFill>
                        <a:effectLst/>
                        <a:latin typeface="微软雅黑" charset="0"/>
                        <a:ea typeface="微软雅黑" charset="0"/>
                        <a:sym typeface="+mn-ea"/>
                      </a:endParaRPr>
                    </a:p>
                  </a:txBody>
                  <a:tcPr marL="35972" marR="35972" marT="35972" marB="35972" anchor="ctr">
                    <a:solidFill>
                      <a:srgbClr val="DEEBF7">
                        <a:alpha val="100000"/>
                      </a:srgbClr>
                    </a:solidFill>
                  </a:tcPr>
                </a:tc>
                <a:tc>
                  <a:txBody>
                    <a:bodyPr/>
                    <a:lstStyle/>
                    <a:p>
                      <a:pPr marL="0" marR="0" lvl="0" indent="0" algn="l" defTabSz="1188085" rtl="0" eaLnBrk="1" fontAlgn="ctr" latinLnBrk="0" hangingPunct="1">
                        <a:lnSpc>
                          <a:spcPct val="150000"/>
                        </a:lnSpc>
                        <a:spcBef>
                          <a:spcPts val="0"/>
                        </a:spcBef>
                        <a:spcAft>
                          <a:spcPts val="0"/>
                        </a:spcAft>
                        <a:buClrTx/>
                        <a:buSzTx/>
                        <a:buFontTx/>
                        <a:buNone/>
                        <a:defRPr/>
                      </a:pPr>
                      <a:r>
                        <a:rPr lang="zh-CN" altLang="en-US" sz="800" b="1" dirty="0">
                          <a:solidFill>
                            <a:srgbClr val="C00000"/>
                          </a:solidFill>
                          <a:effectLst/>
                          <a:latin typeface="微软雅黑" panose="020B0503020204020204" pitchFamily="34" charset="-122"/>
                          <a:ea typeface="微软雅黑" panose="020B0503020204020204" pitchFamily="34" charset="-122"/>
                          <a:sym typeface="+mn-ea"/>
                        </a:rPr>
                        <a:t>模型结构变化中：</a:t>
                      </a:r>
                      <a:r>
                        <a:rPr lang="zh-CN" altLang="en-US" sz="800" b="0" dirty="0">
                          <a:solidFill>
                            <a:srgbClr val="000000"/>
                          </a:solidFill>
                          <a:effectLst/>
                          <a:latin typeface="微软雅黑" panose="020B0503020204020204" pitchFamily="34" charset="-122"/>
                          <a:ea typeface="微软雅黑" panose="020B0503020204020204" pitchFamily="34" charset="-122"/>
                          <a:sym typeface="+mn-ea"/>
                        </a:rPr>
                        <a:t>原生多模态模型，</a:t>
                      </a:r>
                      <a:r>
                        <a:rPr lang="en-US" altLang="zh-CN" sz="800" b="0" dirty="0">
                          <a:solidFill>
                            <a:srgbClr val="000000"/>
                          </a:solidFill>
                          <a:effectLst/>
                          <a:latin typeface="微软雅黑" panose="020B0503020204020204" pitchFamily="34" charset="-122"/>
                          <a:ea typeface="微软雅黑" panose="020B0503020204020204" pitchFamily="34" charset="-122"/>
                          <a:sym typeface="+mn-ea"/>
                        </a:rPr>
                        <a:t>ViT</a:t>
                      </a:r>
                      <a:r>
                        <a:rPr lang="zh-CN" altLang="en-US" sz="800" b="0" dirty="0">
                          <a:solidFill>
                            <a:srgbClr val="000000"/>
                          </a:solidFill>
                          <a:effectLst/>
                          <a:latin typeface="微软雅黑" panose="020B0503020204020204" pitchFamily="34" charset="-122"/>
                          <a:ea typeface="微软雅黑" panose="020B0503020204020204" pitchFamily="34" charset="-122"/>
                          <a:sym typeface="+mn-ea"/>
                        </a:rPr>
                        <a:t>部分使用</a:t>
                      </a:r>
                      <a:r>
                        <a:rPr lang="en-US" altLang="zh-CN" sz="800" b="0" dirty="0">
                          <a:solidFill>
                            <a:srgbClr val="000000"/>
                          </a:solidFill>
                          <a:effectLst/>
                          <a:latin typeface="微软雅黑" panose="020B0503020204020204" pitchFamily="34" charset="-122"/>
                          <a:ea typeface="微软雅黑" panose="020B0503020204020204" pitchFamily="34" charset="-122"/>
                          <a:sym typeface="+mn-ea"/>
                        </a:rPr>
                        <a:t>MoonViT</a:t>
                      </a:r>
                      <a:r>
                        <a:rPr lang="zh-CN" altLang="en-US" sz="800" b="0" dirty="0">
                          <a:solidFill>
                            <a:srgbClr val="000000"/>
                          </a:solidFill>
                          <a:effectLst/>
                          <a:latin typeface="微软雅黑" panose="020B0503020204020204" pitchFamily="34" charset="-122"/>
                          <a:ea typeface="微软雅黑" panose="020B0503020204020204" pitchFamily="34" charset="-122"/>
                          <a:sym typeface="+mn-ea"/>
                        </a:rPr>
                        <a:t>-</a:t>
                      </a:r>
                      <a:r>
                        <a:rPr lang="en-US" altLang="zh-CN" sz="800" b="0" dirty="0">
                          <a:solidFill>
                            <a:srgbClr val="000000"/>
                          </a:solidFill>
                          <a:effectLst/>
                          <a:latin typeface="微软雅黑" panose="020B0503020204020204" pitchFamily="34" charset="-122"/>
                          <a:ea typeface="微软雅黑" panose="020B0503020204020204" pitchFamily="34" charset="-122"/>
                          <a:sym typeface="+mn-ea"/>
                        </a:rPr>
                        <a:t>3D</a:t>
                      </a:r>
                      <a:r>
                        <a:rPr lang="zh-CN" altLang="en-US" sz="800" b="0" dirty="0">
                          <a:solidFill>
                            <a:srgbClr val="000000"/>
                          </a:solidFill>
                          <a:effectLst/>
                          <a:latin typeface="微软雅黑" panose="020B0503020204020204" pitchFamily="34" charset="-122"/>
                          <a:ea typeface="微软雅黑" panose="020B0503020204020204" pitchFamily="34" charset="-122"/>
                          <a:sym typeface="+mn-ea"/>
                        </a:rPr>
                        <a:t>，</a:t>
                      </a:r>
                      <a:r>
                        <a:rPr lang="en-US" altLang="zh-CN" sz="800" b="0" dirty="0">
                          <a:solidFill>
                            <a:srgbClr val="000000"/>
                          </a:solidFill>
                          <a:effectLst/>
                          <a:latin typeface="微软雅黑" panose="020B0503020204020204" pitchFamily="34" charset="-122"/>
                          <a:ea typeface="微软雅黑" panose="020B0503020204020204" pitchFamily="34" charset="-122"/>
                          <a:sym typeface="+mn-ea"/>
                        </a:rPr>
                        <a:t>LLM</a:t>
                      </a:r>
                      <a:r>
                        <a:rPr lang="zh-CN" altLang="en-US" sz="800" b="0" dirty="0">
                          <a:solidFill>
                            <a:srgbClr val="000000"/>
                          </a:solidFill>
                          <a:effectLst/>
                          <a:latin typeface="微软雅黑" panose="020B0503020204020204" pitchFamily="34" charset="-122"/>
                          <a:ea typeface="微软雅黑" panose="020B0503020204020204" pitchFamily="34" charset="-122"/>
                          <a:sym typeface="+mn-ea"/>
                        </a:rPr>
                        <a:t>部分在</a:t>
                      </a:r>
                      <a:r>
                        <a:rPr lang="en-US" altLang="zh-CN" sz="800" b="0" dirty="0">
                          <a:solidFill>
                            <a:srgbClr val="000000"/>
                          </a:solidFill>
                          <a:effectLst/>
                          <a:latin typeface="微软雅黑" panose="020B0503020204020204" pitchFamily="34" charset="-122"/>
                          <a:ea typeface="微软雅黑" panose="020B0503020204020204" pitchFamily="34" charset="-122"/>
                          <a:sym typeface="+mn-ea"/>
                        </a:rPr>
                        <a:t>DeepSeekV</a:t>
                      </a:r>
                      <a:r>
                        <a:rPr lang="en-US" altLang="zh-CN" sz="800" b="0" dirty="0">
                          <a:solidFill>
                            <a:srgbClr val="000000"/>
                          </a:solidFill>
                          <a:effectLst/>
                          <a:latin typeface="微软雅黑" charset="0"/>
                          <a:ea typeface="微软雅黑" charset="0"/>
                          <a:sym typeface="+mn-ea"/>
                        </a:rPr>
                        <a:t>3</a:t>
                      </a:r>
                      <a:r>
                        <a:rPr lang="zh-CN" altLang="en-US" sz="800" b="0" dirty="0">
                          <a:solidFill>
                            <a:srgbClr val="000000"/>
                          </a:solidFill>
                          <a:effectLst/>
                          <a:latin typeface="微软雅黑" charset="0"/>
                          <a:ea typeface="微软雅黑" charset="0"/>
                          <a:sym typeface="+mn-ea"/>
                        </a:rPr>
                        <a:t>基础之上，修改了稠密层、专家数量、参数量等设计，同时</a:t>
                      </a:r>
                      <a:r>
                        <a:rPr lang="zh-CN" altLang="en-US" sz="800" dirty="0">
                          <a:solidFill>
                            <a:srgbClr val="000000"/>
                          </a:solidFill>
                          <a:effectLst/>
                          <a:latin typeface="微软雅黑" charset="0"/>
                          <a:ea typeface="微软雅黑" charset="0"/>
                          <a:sym typeface="+mn-ea"/>
                        </a:rPr>
                        <a:t>原生权重</a:t>
                      </a:r>
                      <a:r>
                        <a:rPr lang="zh-CN" altLang="en-US" sz="800" b="0" dirty="0">
                          <a:solidFill>
                            <a:srgbClr val="000000"/>
                          </a:solidFill>
                          <a:effectLst/>
                          <a:latin typeface="微软雅黑" charset="0"/>
                          <a:ea typeface="微软雅黑" charset="0"/>
                          <a:sym typeface="+mn-ea"/>
                        </a:rPr>
                        <a:t>进行了</a:t>
                      </a:r>
                      <a:r>
                        <a:rPr lang="en-US" altLang="zh-CN" sz="800" b="0" dirty="0">
                          <a:solidFill>
                            <a:srgbClr val="000000"/>
                          </a:solidFill>
                          <a:effectLst/>
                          <a:latin typeface="微软雅黑" charset="0"/>
                          <a:ea typeface="微软雅黑" charset="0"/>
                          <a:sym typeface="+mn-ea"/>
                        </a:rPr>
                        <a:t>MoE</a:t>
                      </a:r>
                      <a:r>
                        <a:rPr lang="zh-CN" altLang="en-US" sz="800" b="0" dirty="0">
                          <a:solidFill>
                            <a:srgbClr val="000000"/>
                          </a:solidFill>
                          <a:effectLst/>
                          <a:latin typeface="微软雅黑" charset="0"/>
                          <a:ea typeface="微软雅黑" charset="0"/>
                          <a:sym typeface="+mn-ea"/>
                        </a:rPr>
                        <a:t>部分的</a:t>
                      </a:r>
                      <a:r>
                        <a:rPr lang="en-US" altLang="zh-CN" sz="800" b="0" dirty="0">
                          <a:solidFill>
                            <a:srgbClr val="000000"/>
                          </a:solidFill>
                          <a:effectLst/>
                          <a:latin typeface="微软雅黑" charset="0"/>
                          <a:ea typeface="微软雅黑" charset="0"/>
                          <a:sym typeface="+mn-ea"/>
                        </a:rPr>
                        <a:t>INT4</a:t>
                      </a:r>
                      <a:r>
                        <a:rPr lang="zh-CN" altLang="en-US" sz="800" b="0" dirty="0">
                          <a:solidFill>
                            <a:srgbClr val="000000"/>
                          </a:solidFill>
                          <a:effectLst/>
                          <a:latin typeface="微软雅黑" charset="0"/>
                          <a:ea typeface="微软雅黑" charset="0"/>
                          <a:sym typeface="+mn-ea"/>
                        </a:rPr>
                        <a:t>量化</a:t>
                      </a:r>
                      <a:endParaRPr lang="en-US" altLang="zh-CN" sz="800" b="0" i="0" u="none" strike="noStrike" dirty="0">
                        <a:solidFill>
                          <a:srgbClr val="000000"/>
                        </a:solidFill>
                        <a:effectLst/>
                        <a:latin typeface="微软雅黑" panose="020B0503020204020204" pitchFamily="34" charset="-122"/>
                        <a:ea typeface="微软雅黑" panose="020B0503020204020204" pitchFamily="34" charset="-122"/>
                        <a:sym typeface="+mn-ea"/>
                      </a:endParaRPr>
                    </a:p>
                  </a:txBody>
                  <a:tcPr marL="35972" marR="35972" marT="35972" marB="35972" anchor="ctr">
                    <a:solidFill>
                      <a:srgbClr val="DEEBF7">
                        <a:alpha val="100000"/>
                      </a:srgbClr>
                    </a:solidFill>
                  </a:tcPr>
                </a:tc>
                <a:tc>
                  <a:txBody>
                    <a:bodyPr/>
                    <a:lstStyle/>
                    <a:p>
                      <a:pPr marL="0" marR="0" lvl="0" indent="0" algn="ctr" defTabSz="1188085" rtl="0" eaLnBrk="1" fontAlgn="ctr" latinLnBrk="0" hangingPunct="1">
                        <a:lnSpc>
                          <a:spcPct val="150000"/>
                        </a:lnSpc>
                        <a:spcBef>
                          <a:spcPts val="0"/>
                        </a:spcBef>
                        <a:spcAft>
                          <a:spcPts val="0"/>
                        </a:spcAft>
                        <a:buClrTx/>
                        <a:buSzTx/>
                        <a:buFontTx/>
                        <a:buNone/>
                        <a:defRPr/>
                      </a:pPr>
                      <a:r>
                        <a:rPr lang="zh-CN" altLang="en-US" sz="1000" b="1" dirty="0">
                          <a:solidFill>
                            <a:srgbClr val="0202FF"/>
                          </a:solidFill>
                          <a:effectLst/>
                          <a:latin typeface="微软雅黑" panose="020B0503020204020204" pitchFamily="34" charset="-122"/>
                          <a:ea typeface="微软雅黑" panose="020B0503020204020204" pitchFamily="34" charset="-122"/>
                          <a:sym typeface="+mn-ea"/>
                        </a:rPr>
                        <a:t>否×</a:t>
                      </a:r>
                      <a:endParaRPr lang="zh-CN" altLang="en-US" sz="1000" b="1" i="0" u="none" strike="noStrike" dirty="0">
                        <a:solidFill>
                          <a:srgbClr val="0202FF"/>
                        </a:solidFill>
                        <a:effectLst/>
                        <a:latin typeface="微软雅黑" panose="020B0503020204020204" pitchFamily="34" charset="-122"/>
                        <a:ea typeface="微软雅黑" panose="020B0503020204020204" pitchFamily="34" charset="-122"/>
                        <a:sym typeface="+mn-ea"/>
                      </a:endParaRPr>
                    </a:p>
                  </a:txBody>
                  <a:tcPr marL="35972" marR="35972" marT="35972" marB="35972" anchor="ctr">
                    <a:solidFill>
                      <a:srgbClr val="DEEBF7">
                        <a:alpha val="100000"/>
                      </a:srgbClr>
                    </a:solidFill>
                  </a:tcPr>
                </a:tc>
                <a:tc>
                  <a:txBody>
                    <a:bodyPr/>
                    <a:lstStyle/>
                    <a:p>
                      <a:pPr algn="ctr" fontAlgn="ctr">
                        <a:buNone/>
                      </a:pPr>
                      <a:r>
                        <a:rPr lang="en-US" altLang="zh-CN" sz="900" b="1" u="none" strike="noStrike" kern="1200" dirty="0">
                          <a:solidFill>
                            <a:schemeClr val="dk1"/>
                          </a:solidFill>
                          <a:effectLst/>
                          <a:latin typeface="微软雅黑" panose="020B0503020204020204" pitchFamily="34" charset="-122"/>
                          <a:ea typeface="微软雅黑" panose="020B0503020204020204" pitchFamily="34" charset="-122"/>
                          <a:cs typeface="+mn-cs"/>
                        </a:rPr>
                        <a:t>7</a:t>
                      </a:r>
                      <a:r>
                        <a:rPr lang="zh-CN" altLang="en-US" sz="900" b="1" u="none" strike="noStrike" kern="1200" dirty="0">
                          <a:solidFill>
                            <a:schemeClr val="dk1"/>
                          </a:solidFill>
                          <a:effectLst/>
                          <a:latin typeface="微软雅黑" panose="020B0503020204020204" pitchFamily="34" charset="-122"/>
                          <a:ea typeface="微软雅黑" panose="020B0503020204020204" pitchFamily="34" charset="-122"/>
                          <a:cs typeface="+mn-cs"/>
                        </a:rPr>
                        <a:t>天</a:t>
                      </a:r>
                    </a:p>
                  </a:txBody>
                  <a:tcPr marL="35972" marR="35972" marT="35972" marB="35972" anchor="ctr">
                    <a:solidFill>
                      <a:srgbClr val="DEEBF7">
                        <a:alpha val="100000"/>
                      </a:srgbClr>
                    </a:solidFill>
                  </a:tcPr>
                </a:tc>
                <a:tc>
                  <a:txBody>
                    <a:bodyPr/>
                    <a:lstStyle/>
                    <a:p>
                      <a:pPr algn="l" fontAlgn="ctr">
                        <a:lnSpc>
                          <a:spcPct val="150000"/>
                        </a:lnSpc>
                        <a:buNone/>
                      </a:pPr>
                      <a:r>
                        <a:rPr lang="en-US" altLang="zh-CN" sz="900" b="1" dirty="0">
                          <a:solidFill>
                            <a:srgbClr val="C00000"/>
                          </a:solidFill>
                          <a:effectLst/>
                          <a:latin typeface="微软雅黑" charset="0"/>
                          <a:ea typeface="微软雅黑" charset="0"/>
                          <a:sym typeface="+mn-ea"/>
                        </a:rPr>
                        <a:t>10</a:t>
                      </a:r>
                      <a:r>
                        <a:rPr lang="zh-CN" altLang="en-US" sz="900" b="1" dirty="0">
                          <a:solidFill>
                            <a:srgbClr val="C00000"/>
                          </a:solidFill>
                          <a:effectLst/>
                          <a:latin typeface="微软雅黑" panose="020B0503020204020204" pitchFamily="34" charset="-122"/>
                          <a:ea typeface="微软雅黑" panose="020B0503020204020204" pitchFamily="34" charset="-122"/>
                          <a:sym typeface="+mn-ea"/>
                        </a:rPr>
                        <a:t>天：</a:t>
                      </a:r>
                      <a:r>
                        <a:rPr lang="zh-CN" altLang="en-US" sz="800" b="0" dirty="0">
                          <a:solidFill>
                            <a:srgbClr val="000000"/>
                          </a:solidFill>
                          <a:effectLst/>
                          <a:latin typeface="微软雅黑" panose="020B0503020204020204" pitchFamily="34" charset="-122"/>
                          <a:ea typeface="微软雅黑" panose="020B0503020204020204" pitchFamily="34" charset="-122"/>
                          <a:sym typeface="+mn-ea"/>
                        </a:rPr>
                        <a:t>完成</a:t>
                      </a:r>
                      <a:r>
                        <a:rPr lang="en-US" altLang="zh-CN" sz="800" b="0" dirty="0">
                          <a:solidFill>
                            <a:srgbClr val="000000"/>
                          </a:solidFill>
                          <a:effectLst/>
                          <a:latin typeface="微软雅黑" panose="020B0503020204020204" pitchFamily="34" charset="-122"/>
                          <a:ea typeface="微软雅黑" panose="020B0503020204020204" pitchFamily="34" charset="-122"/>
                          <a:sym typeface="+mn-ea"/>
                        </a:rPr>
                        <a:t>w4a8</a:t>
                      </a:r>
                      <a:r>
                        <a:rPr lang="zh-CN" altLang="en-US" sz="800" b="0" dirty="0">
                          <a:solidFill>
                            <a:srgbClr val="000000"/>
                          </a:solidFill>
                          <a:effectLst/>
                          <a:latin typeface="微软雅黑" panose="020B0503020204020204" pitchFamily="34" charset="-122"/>
                          <a:ea typeface="微软雅黑" panose="020B0503020204020204" pitchFamily="34" charset="-122"/>
                          <a:sym typeface="+mn-ea"/>
                        </a:rPr>
                        <a:t>量化、融合算子、大</a:t>
                      </a:r>
                      <a:r>
                        <a:rPr lang="en-US" altLang="zh-CN" sz="800" b="0" dirty="0">
                          <a:solidFill>
                            <a:srgbClr val="000000"/>
                          </a:solidFill>
                          <a:effectLst/>
                          <a:latin typeface="微软雅黑" panose="020B0503020204020204" pitchFamily="34" charset="-122"/>
                          <a:ea typeface="微软雅黑" panose="020B0503020204020204" pitchFamily="34" charset="-122"/>
                          <a:sym typeface="+mn-ea"/>
                        </a:rPr>
                        <a:t>EP</a:t>
                      </a:r>
                      <a:r>
                        <a:rPr lang="zh-CN" altLang="en-US" sz="800" b="0" dirty="0">
                          <a:solidFill>
                            <a:srgbClr val="000000"/>
                          </a:solidFill>
                          <a:effectLst/>
                          <a:latin typeface="微软雅黑" panose="020B0503020204020204" pitchFamily="34" charset="-122"/>
                          <a:ea typeface="微软雅黑" panose="020B0503020204020204" pitchFamily="34" charset="-122"/>
                          <a:sym typeface="+mn-ea"/>
                        </a:rPr>
                        <a:t>等特性叠加。同时对于</a:t>
                      </a:r>
                      <a:r>
                        <a:rPr lang="en-US" altLang="zh-CN" sz="800" b="0" dirty="0">
                          <a:solidFill>
                            <a:srgbClr val="000000"/>
                          </a:solidFill>
                          <a:effectLst/>
                          <a:latin typeface="微软雅黑" panose="020B0503020204020204" pitchFamily="34" charset="-122"/>
                          <a:ea typeface="微软雅黑" panose="020B0503020204020204" pitchFamily="34" charset="-122"/>
                          <a:sym typeface="+mn-ea"/>
                        </a:rPr>
                        <a:t>ViT</a:t>
                      </a:r>
                      <a:r>
                        <a:rPr lang="zh-CN" altLang="en-US" sz="800" b="0" dirty="0">
                          <a:solidFill>
                            <a:srgbClr val="000000"/>
                          </a:solidFill>
                          <a:effectLst/>
                          <a:latin typeface="微软雅黑" panose="020B0503020204020204" pitchFamily="34" charset="-122"/>
                          <a:ea typeface="微软雅黑" panose="020B0503020204020204" pitchFamily="34" charset="-122"/>
                          <a:sym typeface="+mn-ea"/>
                        </a:rPr>
                        <a:t>+</a:t>
                      </a:r>
                      <a:r>
                        <a:rPr lang="en-US" altLang="zh-CN" sz="800" b="0" dirty="0">
                          <a:solidFill>
                            <a:srgbClr val="000000"/>
                          </a:solidFill>
                          <a:effectLst/>
                          <a:latin typeface="微软雅黑" panose="020B0503020204020204" pitchFamily="34" charset="-122"/>
                          <a:ea typeface="微软雅黑" panose="020B0503020204020204" pitchFamily="34" charset="-122"/>
                          <a:sym typeface="+mn-ea"/>
                        </a:rPr>
                        <a:t>MLA</a:t>
                      </a:r>
                      <a:r>
                        <a:rPr lang="zh-CN" altLang="en-US" sz="800" b="0" dirty="0">
                          <a:solidFill>
                            <a:srgbClr val="000000"/>
                          </a:solidFill>
                          <a:effectLst/>
                          <a:latin typeface="微软雅黑" panose="020B0503020204020204" pitchFamily="34" charset="-122"/>
                          <a:ea typeface="微软雅黑" panose="020B0503020204020204" pitchFamily="34" charset="-122"/>
                          <a:sym typeface="+mn-ea"/>
                        </a:rPr>
                        <a:t>结构进行</a:t>
                      </a:r>
                      <a:r>
                        <a:rPr lang="en-US" altLang="zh-CN" sz="800" b="0" dirty="0">
                          <a:solidFill>
                            <a:srgbClr val="000000"/>
                          </a:solidFill>
                          <a:effectLst/>
                          <a:latin typeface="微软雅黑" panose="020B0503020204020204" pitchFamily="34" charset="-122"/>
                          <a:ea typeface="微软雅黑" panose="020B0503020204020204" pitchFamily="34" charset="-122"/>
                          <a:sym typeface="+mn-ea"/>
                        </a:rPr>
                        <a:t>eagle</a:t>
                      </a:r>
                      <a:r>
                        <a:rPr lang="zh-CN" altLang="en-US" sz="800" b="0" dirty="0">
                          <a:solidFill>
                            <a:srgbClr val="000000"/>
                          </a:solidFill>
                          <a:effectLst/>
                          <a:latin typeface="微软雅黑" panose="020B0503020204020204" pitchFamily="34" charset="-122"/>
                          <a:ea typeface="微软雅黑" panose="020B0503020204020204" pitchFamily="34" charset="-122"/>
                          <a:sym typeface="+mn-ea"/>
                        </a:rPr>
                        <a:t>、</a:t>
                      </a:r>
                      <a:r>
                        <a:rPr lang="en-US" altLang="zh-CN" sz="800" b="0" dirty="0">
                          <a:solidFill>
                            <a:srgbClr val="000000"/>
                          </a:solidFill>
                          <a:effectLst/>
                          <a:latin typeface="微软雅黑" panose="020B0503020204020204" pitchFamily="34" charset="-122"/>
                          <a:ea typeface="微软雅黑" panose="020B0503020204020204" pitchFamily="34" charset="-122"/>
                          <a:sym typeface="+mn-ea"/>
                        </a:rPr>
                        <a:t>FlashComm</a:t>
                      </a:r>
                      <a:r>
                        <a:rPr lang="zh-CN" altLang="en-US" sz="800" b="0" dirty="0">
                          <a:solidFill>
                            <a:srgbClr val="000000"/>
                          </a:solidFill>
                          <a:effectLst/>
                          <a:latin typeface="微软雅黑" panose="020B0503020204020204" pitchFamily="34" charset="-122"/>
                          <a:ea typeface="微软雅黑" panose="020B0503020204020204" pitchFamily="34" charset="-122"/>
                          <a:sym typeface="+mn-ea"/>
                        </a:rPr>
                        <a:t>等特性的新开发</a:t>
                      </a:r>
                      <a:endParaRPr lang="en-US" altLang="zh-CN" sz="800" b="0" i="0" u="none" strike="noStrike" dirty="0">
                        <a:solidFill>
                          <a:srgbClr val="000000"/>
                        </a:solidFill>
                        <a:effectLst/>
                        <a:latin typeface="微软雅黑" panose="020B0503020204020204" pitchFamily="34" charset="-122"/>
                        <a:ea typeface="微软雅黑" panose="020B0503020204020204" pitchFamily="34" charset="-122"/>
                        <a:sym typeface="+mn-ea"/>
                      </a:endParaRPr>
                    </a:p>
                  </a:txBody>
                  <a:tcPr marL="35972" marR="35972" marT="35972" marB="35972" anchor="ctr">
                    <a:solidFill>
                      <a:srgbClr val="DEEBF7">
                        <a:alpha val="100000"/>
                      </a:srgbClr>
                    </a:solidFill>
                  </a:tcPr>
                </a:tc>
                <a:extLst>
                  <a:ext uri="{0D108BD9-81ED-4DB2-BD59-A6C34878D82A}">
                    <a16:rowId xmlns:a16="http://schemas.microsoft.com/office/drawing/2014/main" val="10005"/>
                  </a:ext>
                </a:extLst>
              </a:tr>
              <a:tr h="461010">
                <a:tc vMerge="1">
                  <a:txBody>
                    <a:bodyPr/>
                    <a:lstStyle/>
                    <a:p>
                      <a:endParaRPr lang="zh-CN"/>
                    </a:p>
                  </a:txBody>
                  <a:tcPr marL="35972" marR="35972" marT="35972" marB="35972" anchor="ctr">
                    <a:solidFill>
                      <a:schemeClr val="tx2">
                        <a:lumMod val="95000"/>
                      </a:schemeClr>
                    </a:solidFill>
                  </a:tcPr>
                </a:tc>
                <a:tc>
                  <a:txBody>
                    <a:bodyPr/>
                    <a:lstStyle/>
                    <a:p>
                      <a:pPr algn="ctr" fontAlgn="ctr">
                        <a:buNone/>
                      </a:pPr>
                      <a:r>
                        <a:rPr lang="en-US" altLang="zh-CN" sz="800" b="1" dirty="0">
                          <a:solidFill>
                            <a:srgbClr val="000000"/>
                          </a:solidFill>
                          <a:latin typeface="微软雅黑" charset="0"/>
                          <a:ea typeface="微软雅黑" charset="0"/>
                          <a:sym typeface="+mn-ea"/>
                        </a:rPr>
                        <a:t>Kimi</a:t>
                      </a:r>
                      <a:r>
                        <a:rPr lang="zh-CN" altLang="en-US" sz="800" b="1" dirty="0">
                          <a:solidFill>
                            <a:srgbClr val="000000"/>
                          </a:solidFill>
                          <a:latin typeface="微软雅黑" charset="0"/>
                          <a:ea typeface="微软雅黑" charset="0"/>
                          <a:sym typeface="+mn-ea"/>
                        </a:rPr>
                        <a:t>-</a:t>
                      </a:r>
                      <a:r>
                        <a:rPr lang="en-US" altLang="zh-CN" sz="800" b="1" dirty="0">
                          <a:solidFill>
                            <a:srgbClr val="000000"/>
                          </a:solidFill>
                          <a:latin typeface="微软雅黑" charset="0"/>
                          <a:ea typeface="微软雅黑" charset="0"/>
                          <a:sym typeface="+mn-ea"/>
                        </a:rPr>
                        <a:t>k2.6</a:t>
                      </a:r>
                      <a:endParaRPr lang="zh-CN" altLang="en-US" sz="800" b="1" i="0" u="none" strike="noStrike" dirty="0">
                        <a:solidFill>
                          <a:srgbClr val="000000"/>
                        </a:solidFill>
                        <a:effectLst/>
                        <a:latin typeface="微软雅黑" charset="0"/>
                        <a:ea typeface="微软雅黑" charset="0"/>
                        <a:sym typeface="+mn-ea"/>
                      </a:endParaRPr>
                    </a:p>
                  </a:txBody>
                  <a:tcPr marL="35972" marR="35972" marT="35972" marB="35972" anchor="ctr">
                    <a:solidFill>
                      <a:schemeClr val="tx2">
                        <a:lumMod val="95000"/>
                      </a:schemeClr>
                    </a:solidFill>
                  </a:tcPr>
                </a:tc>
                <a:tc>
                  <a:txBody>
                    <a:bodyPr/>
                    <a:lstStyle/>
                    <a:p>
                      <a:pPr algn="ctr" fontAlgn="ctr">
                        <a:buNone/>
                      </a:pPr>
                      <a:r>
                        <a:rPr lang="zh-CN" altLang="en-US" sz="1000" b="1" i="0" u="none" strike="noStrike" dirty="0">
                          <a:solidFill>
                            <a:srgbClr val="000000"/>
                          </a:solidFill>
                          <a:effectLst/>
                          <a:latin typeface="微软雅黑" charset="0"/>
                          <a:ea typeface="微软雅黑" charset="0"/>
                          <a:sym typeface="+mn-ea"/>
                        </a:rPr>
                        <a:t>小</a:t>
                      </a:r>
                    </a:p>
                  </a:txBody>
                  <a:tcPr marL="35972" marR="35972" marT="35972" marB="35972" anchor="ctr">
                    <a:solidFill>
                      <a:srgbClr val="E2F0D9">
                        <a:alpha val="100000"/>
                      </a:srgbClr>
                    </a:solidFill>
                  </a:tcPr>
                </a:tc>
                <a:tc>
                  <a:txBody>
                    <a:bodyPr/>
                    <a:lstStyle/>
                    <a:p>
                      <a:pPr marL="0" marR="0" lvl="0" indent="0" algn="l" defTabSz="1188085" rtl="0" eaLnBrk="1" fontAlgn="ctr" latinLnBrk="0" hangingPunct="1">
                        <a:lnSpc>
                          <a:spcPct val="150000"/>
                        </a:lnSpc>
                        <a:spcBef>
                          <a:spcPts val="0"/>
                        </a:spcBef>
                        <a:spcAft>
                          <a:spcPts val="0"/>
                        </a:spcAft>
                        <a:buClrTx/>
                        <a:buSzTx/>
                        <a:buFontTx/>
                        <a:buNone/>
                        <a:defRPr/>
                      </a:pPr>
                      <a:r>
                        <a:rPr lang="zh-CN" altLang="en-US" sz="800" b="1" dirty="0">
                          <a:solidFill>
                            <a:srgbClr val="C00000"/>
                          </a:solidFill>
                          <a:effectLst/>
                          <a:latin typeface="微软雅黑" panose="020B0503020204020204" pitchFamily="34" charset="-122"/>
                          <a:ea typeface="微软雅黑" panose="020B0503020204020204" pitchFamily="34" charset="-122"/>
                          <a:sym typeface="+mn-ea"/>
                        </a:rPr>
                        <a:t>模型结构变化小：</a:t>
                      </a:r>
                      <a:r>
                        <a:rPr lang="zh-CN" altLang="en-US" sz="800" b="0" dirty="0">
                          <a:solidFill>
                            <a:srgbClr val="000000"/>
                          </a:solidFill>
                          <a:effectLst/>
                          <a:latin typeface="微软雅黑" charset="0"/>
                          <a:ea typeface="微软雅黑" charset="0"/>
                        </a:rPr>
                        <a:t>结构上完全复用Kimi-k2.5</a:t>
                      </a:r>
                      <a:r>
                        <a:rPr lang="zh-CN" altLang="en-US" sz="800" dirty="0">
                          <a:effectLst/>
                          <a:latin typeface="微软雅黑" panose="020B0503020204020204" pitchFamily="34" charset="-122"/>
                          <a:ea typeface="微软雅黑" panose="020B0503020204020204" pitchFamily="34" charset="-122"/>
                          <a:sym typeface="+mn-ea"/>
                        </a:rPr>
                        <a:t>，主模型权重及</a:t>
                      </a:r>
                      <a:r>
                        <a:rPr lang="en-US" altLang="zh-CN" sz="800" dirty="0">
                          <a:effectLst/>
                          <a:latin typeface="微软雅黑" panose="020B0503020204020204" pitchFamily="34" charset="-122"/>
                          <a:ea typeface="微软雅黑" panose="020B0503020204020204" pitchFamily="34" charset="-122"/>
                          <a:sym typeface="+mn-ea"/>
                        </a:rPr>
                        <a:t>chat templet</a:t>
                      </a:r>
                      <a:r>
                        <a:rPr lang="zh-CN" altLang="en-US" sz="800" dirty="0">
                          <a:effectLst/>
                          <a:latin typeface="微软雅黑" panose="020B0503020204020204" pitchFamily="34" charset="-122"/>
                          <a:ea typeface="微软雅黑" panose="020B0503020204020204" pitchFamily="34" charset="-122"/>
                          <a:sym typeface="+mn-ea"/>
                        </a:rPr>
                        <a:t>存在更新，需完成权重量化及精度验证；</a:t>
                      </a:r>
                      <a:r>
                        <a:rPr lang="en-US" altLang="zh-CN" sz="800" dirty="0">
                          <a:effectLst/>
                          <a:latin typeface="微软雅黑" panose="020B0503020204020204" pitchFamily="34" charset="-122"/>
                          <a:ea typeface="微软雅黑" panose="020B0503020204020204" pitchFamily="34" charset="-122"/>
                          <a:sym typeface="+mn-ea"/>
                        </a:rPr>
                        <a:t>eagle</a:t>
                      </a:r>
                      <a:r>
                        <a:rPr lang="zh-CN" altLang="en-US" sz="800" dirty="0">
                          <a:effectLst/>
                          <a:latin typeface="微软雅黑" panose="020B0503020204020204" pitchFamily="34" charset="-122"/>
                          <a:ea typeface="微软雅黑" panose="020B0503020204020204" pitchFamily="34" charset="-122"/>
                          <a:sym typeface="+mn-ea"/>
                        </a:rPr>
                        <a:t>权重更新，需要适配</a:t>
                      </a:r>
                      <a:r>
                        <a:rPr lang="en-US" altLang="zh-CN" sz="800" dirty="0">
                          <a:effectLst/>
                          <a:latin typeface="微软雅黑" panose="020B0503020204020204" pitchFamily="34" charset="-122"/>
                          <a:ea typeface="微软雅黑" panose="020B0503020204020204" pitchFamily="34" charset="-122"/>
                          <a:sym typeface="+mn-ea"/>
                        </a:rPr>
                        <a:t>eagle</a:t>
                      </a:r>
                      <a:r>
                        <a:rPr lang="zh-CN" altLang="en-US" sz="800" dirty="0">
                          <a:effectLst/>
                          <a:latin typeface="微软雅黑" panose="020B0503020204020204" pitchFamily="34" charset="-122"/>
                          <a:ea typeface="微软雅黑" panose="020B0503020204020204" pitchFamily="34" charset="-122"/>
                          <a:sym typeface="+mn-ea"/>
                        </a:rPr>
                        <a:t>新结构</a:t>
                      </a:r>
                      <a:endParaRPr lang="zh-CN" altLang="en-US" sz="800" b="0" dirty="0">
                        <a:solidFill>
                          <a:srgbClr val="000000"/>
                        </a:solidFill>
                        <a:effectLst/>
                        <a:latin typeface="微软雅黑" panose="020B0503020204020204" pitchFamily="34" charset="-122"/>
                        <a:ea typeface="微软雅黑" panose="020B0503020204020204" pitchFamily="34" charset="-122"/>
                        <a:sym typeface="+mn-ea"/>
                      </a:endParaRPr>
                    </a:p>
                  </a:txBody>
                  <a:tcPr marL="35972" marR="35972" marT="35972" marB="35972" anchor="ctr">
                    <a:solidFill>
                      <a:srgbClr val="E2F0D9">
                        <a:alpha val="100000"/>
                      </a:srgbClr>
                    </a:solidFill>
                  </a:tcPr>
                </a:tc>
                <a:tc>
                  <a:txBody>
                    <a:bodyPr/>
                    <a:lstStyle/>
                    <a:p>
                      <a:pPr marL="0" marR="0" lvl="0" indent="0" algn="ctr" defTabSz="1188085" rtl="0" eaLnBrk="1" fontAlgn="ctr" latinLnBrk="0" hangingPunct="1">
                        <a:lnSpc>
                          <a:spcPct val="150000"/>
                        </a:lnSpc>
                        <a:spcBef>
                          <a:spcPts val="0"/>
                        </a:spcBef>
                        <a:spcAft>
                          <a:spcPts val="0"/>
                        </a:spcAft>
                        <a:buClrTx/>
                        <a:buSzTx/>
                        <a:buFontTx/>
                        <a:buNone/>
                        <a:defRPr/>
                      </a:pPr>
                      <a:r>
                        <a:rPr lang="zh-CN" altLang="en-US" sz="1000" b="1" dirty="0">
                          <a:solidFill>
                            <a:srgbClr val="00B050"/>
                          </a:solidFill>
                          <a:effectLst/>
                          <a:latin typeface="微软雅黑" panose="020B0503020204020204" pitchFamily="34" charset="-122"/>
                          <a:ea typeface="微软雅黑" panose="020B0503020204020204" pitchFamily="34" charset="-122"/>
                          <a:sym typeface="+mn-ea"/>
                        </a:rPr>
                        <a:t>是√</a:t>
                      </a:r>
                    </a:p>
                  </a:txBody>
                  <a:tcPr marL="35972" marR="35972" marT="35972" marB="35972" anchor="ctr">
                    <a:solidFill>
                      <a:srgbClr val="E2F0D9">
                        <a:alpha val="100000"/>
                      </a:srgbClr>
                    </a:solidFill>
                  </a:tcPr>
                </a:tc>
                <a:tc>
                  <a:txBody>
                    <a:bodyPr/>
                    <a:lstStyle/>
                    <a:p>
                      <a:pPr algn="ctr" fontAlgn="ctr">
                        <a:buNone/>
                      </a:pPr>
                      <a:r>
                        <a:rPr lang="en-US" altLang="zh-CN" sz="900" b="1" u="none" strike="noStrike" kern="1200" dirty="0">
                          <a:solidFill>
                            <a:schemeClr val="dk1"/>
                          </a:solidFill>
                          <a:effectLst/>
                          <a:latin typeface="微软雅黑" panose="020B0503020204020204" pitchFamily="34" charset="-122"/>
                          <a:ea typeface="微软雅黑" panose="020B0503020204020204" pitchFamily="34" charset="-122"/>
                          <a:cs typeface="+mn-cs"/>
                        </a:rPr>
                        <a:t>3</a:t>
                      </a:r>
                      <a:r>
                        <a:rPr lang="zh-CN" altLang="en-US" sz="900" b="1" u="none" strike="noStrike" kern="1200" dirty="0">
                          <a:solidFill>
                            <a:schemeClr val="dk1"/>
                          </a:solidFill>
                          <a:effectLst/>
                          <a:latin typeface="微软雅黑" panose="020B0503020204020204" pitchFamily="34" charset="-122"/>
                          <a:ea typeface="微软雅黑" panose="020B0503020204020204" pitchFamily="34" charset="-122"/>
                          <a:cs typeface="+mn-cs"/>
                        </a:rPr>
                        <a:t>天</a:t>
                      </a:r>
                    </a:p>
                  </a:txBody>
                  <a:tcPr marL="35972" marR="35972" marT="35972" marB="35972" anchor="ctr">
                    <a:solidFill>
                      <a:srgbClr val="E2F0D9">
                        <a:alpha val="100000"/>
                      </a:srgbClr>
                    </a:solidFill>
                  </a:tcPr>
                </a:tc>
                <a:tc>
                  <a:txBody>
                    <a:bodyPr/>
                    <a:lstStyle/>
                    <a:p>
                      <a:pPr algn="l" fontAlgn="ctr">
                        <a:lnSpc>
                          <a:spcPct val="150000"/>
                        </a:lnSpc>
                      </a:pPr>
                      <a:r>
                        <a:rPr lang="en-US" altLang="zh-CN" sz="900" b="1" dirty="0">
                          <a:solidFill>
                            <a:srgbClr val="C00000"/>
                          </a:solidFill>
                          <a:latin typeface="微软雅黑" charset="0"/>
                          <a:ea typeface="微软雅黑" charset="0"/>
                        </a:rPr>
                        <a:t>5天：</a:t>
                      </a:r>
                      <a:r>
                        <a:rPr lang="zh-CN" altLang="en-US" sz="800" b="0" i="0" u="none" strike="noStrike" dirty="0">
                          <a:solidFill>
                            <a:srgbClr val="000000"/>
                          </a:solidFill>
                          <a:effectLst/>
                          <a:latin typeface="微软雅黑" panose="020B0503020204020204" pitchFamily="34" charset="-122"/>
                          <a:ea typeface="微软雅黑" panose="020B0503020204020204" pitchFamily="34" charset="-122"/>
                        </a:rPr>
                        <a:t>基础特性完全复用</a:t>
                      </a:r>
                      <a:r>
                        <a:rPr lang="en-US" altLang="zh-CN" sz="800" b="0" i="0" u="none" strike="noStrike" dirty="0">
                          <a:solidFill>
                            <a:srgbClr val="000000"/>
                          </a:solidFill>
                          <a:effectLst/>
                          <a:latin typeface="微软雅黑" panose="020B0503020204020204" pitchFamily="34" charset="-122"/>
                          <a:ea typeface="微软雅黑" panose="020B0503020204020204" pitchFamily="34" charset="-122"/>
                        </a:rPr>
                        <a:t>Kimi</a:t>
                      </a:r>
                      <a:r>
                        <a:rPr lang="zh-CN" altLang="en-US" sz="800" b="0" i="0" u="none" strike="noStrike" dirty="0">
                          <a:solidFill>
                            <a:srgbClr val="000000"/>
                          </a:solidFill>
                          <a:effectLst/>
                          <a:latin typeface="微软雅黑" panose="020B0503020204020204" pitchFamily="34" charset="-122"/>
                          <a:ea typeface="微软雅黑" panose="020B0503020204020204" pitchFamily="34" charset="-122"/>
                        </a:rPr>
                        <a:t>-</a:t>
                      </a:r>
                      <a:r>
                        <a:rPr lang="en-US" altLang="zh-CN" sz="800" b="0" i="0" u="none" strike="noStrike" dirty="0">
                          <a:solidFill>
                            <a:srgbClr val="000000"/>
                          </a:solidFill>
                          <a:effectLst/>
                          <a:latin typeface="微软雅黑" panose="020B0503020204020204" pitchFamily="34" charset="-122"/>
                          <a:ea typeface="微软雅黑" panose="020B0503020204020204" pitchFamily="34" charset="-122"/>
                        </a:rPr>
                        <a:t>k2.5</a:t>
                      </a:r>
                      <a:r>
                        <a:rPr lang="zh-CN" altLang="en-US" sz="800" b="0" i="0" u="none" strike="noStrike" dirty="0">
                          <a:solidFill>
                            <a:srgbClr val="000000"/>
                          </a:solidFill>
                          <a:effectLst/>
                          <a:latin typeface="微软雅黑" panose="020B0503020204020204" pitchFamily="34" charset="-122"/>
                          <a:ea typeface="微软雅黑" panose="020B0503020204020204" pitchFamily="34" charset="-122"/>
                        </a:rPr>
                        <a:t>，需要完成</a:t>
                      </a:r>
                      <a:r>
                        <a:rPr lang="en-US" altLang="zh-CN" sz="800" b="0" i="0" u="none" strike="noStrike" dirty="0">
                          <a:solidFill>
                            <a:srgbClr val="000000"/>
                          </a:solidFill>
                          <a:effectLst/>
                          <a:latin typeface="微软雅黑" panose="020B0503020204020204" pitchFamily="34" charset="-122"/>
                          <a:ea typeface="微软雅黑" panose="020B0503020204020204" pitchFamily="34" charset="-122"/>
                        </a:rPr>
                        <a:t>w4a8</a:t>
                      </a:r>
                      <a:r>
                        <a:rPr lang="zh-CN" altLang="en-US" sz="800" b="0" i="0" u="none" strike="noStrike" dirty="0">
                          <a:solidFill>
                            <a:srgbClr val="000000"/>
                          </a:solidFill>
                          <a:effectLst/>
                          <a:latin typeface="微软雅黑" panose="020B0503020204020204" pitchFamily="34" charset="-122"/>
                          <a:ea typeface="微软雅黑" panose="020B0503020204020204" pitchFamily="34" charset="-122"/>
                        </a:rPr>
                        <a:t>量化、</a:t>
                      </a:r>
                      <a:r>
                        <a:rPr lang="en-US" altLang="zh-CN" sz="800" b="0" i="0" u="none" strike="noStrike" dirty="0">
                          <a:solidFill>
                            <a:srgbClr val="000000"/>
                          </a:solidFill>
                          <a:effectLst/>
                          <a:latin typeface="微软雅黑" panose="020B0503020204020204" pitchFamily="34" charset="-122"/>
                          <a:ea typeface="微软雅黑" panose="020B0503020204020204" pitchFamily="34" charset="-122"/>
                        </a:rPr>
                        <a:t>eagle</a:t>
                      </a:r>
                      <a:r>
                        <a:rPr lang="zh-CN" altLang="en-US" sz="800" b="0" i="0" u="none" strike="noStrike" dirty="0">
                          <a:solidFill>
                            <a:srgbClr val="000000"/>
                          </a:solidFill>
                          <a:effectLst/>
                          <a:latin typeface="微软雅黑" panose="020B0503020204020204" pitchFamily="34" charset="-122"/>
                          <a:ea typeface="微软雅黑" panose="020B0503020204020204" pitchFamily="34" charset="-122"/>
                        </a:rPr>
                        <a:t>权重适配等特性</a:t>
                      </a:r>
                      <a:endParaRPr lang="en-US" altLang="zh-CN"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35972" marR="35972" marT="35972" marB="35972" anchor="ctr">
                    <a:solidFill>
                      <a:srgbClr val="E2F0D9">
                        <a:alpha val="100000"/>
                      </a:srgbClr>
                    </a:solidFill>
                  </a:tcPr>
                </a:tc>
                <a:extLst>
                  <a:ext uri="{0D108BD9-81ED-4DB2-BD59-A6C34878D82A}">
                    <a16:rowId xmlns:a16="http://schemas.microsoft.com/office/drawing/2014/main" val="10006"/>
                  </a:ext>
                </a:extLst>
              </a:tr>
              <a:tr h="461010">
                <a:tc rowSpan="2">
                  <a:txBody>
                    <a:bodyPr/>
                    <a:lstStyle/>
                    <a:p>
                      <a:pPr marL="0" indent="0" algn="ctr" defTabSz="1186180" rtl="0" eaLnBrk="1" fontAlgn="ctr" latinLnBrk="0" hangingPunct="1">
                        <a:spcBef>
                          <a:spcPct val="0"/>
                        </a:spcBef>
                        <a:spcAft>
                          <a:spcPct val="0"/>
                        </a:spcAft>
                        <a:buNone/>
                      </a:pPr>
                      <a:r>
                        <a:rPr lang="en-US" altLang="zh-CN" sz="800" b="1" dirty="0">
                          <a:solidFill>
                            <a:srgbClr val="000000"/>
                          </a:solidFill>
                          <a:latin typeface="微软雅黑" charset="0"/>
                          <a:ea typeface="微软雅黑" charset="0"/>
                        </a:rPr>
                        <a:t>Qwen</a:t>
                      </a:r>
                    </a:p>
                  </a:txBody>
                  <a:tcPr marL="35972" marR="35972" marT="35972" marB="35972" anchor="ctr">
                    <a:solidFill>
                      <a:schemeClr val="tx2">
                        <a:lumMod val="95000"/>
                      </a:schemeClr>
                    </a:solidFill>
                  </a:tcPr>
                </a:tc>
                <a:tc>
                  <a:txBody>
                    <a:bodyPr/>
                    <a:lstStyle/>
                    <a:p>
                      <a:pPr algn="ctr" fontAlgn="ctr">
                        <a:buNone/>
                      </a:pPr>
                      <a:r>
                        <a:rPr lang="en-US" altLang="zh-CN" sz="800" b="1" dirty="0">
                          <a:solidFill>
                            <a:srgbClr val="000000"/>
                          </a:solidFill>
                          <a:latin typeface="微软雅黑" charset="0"/>
                          <a:ea typeface="微软雅黑" charset="0"/>
                          <a:sym typeface="+mn-ea"/>
                        </a:rPr>
                        <a:t>Qwen</a:t>
                      </a:r>
                      <a:r>
                        <a:rPr lang="zh-CN" altLang="en-US" sz="800" b="1" dirty="0">
                          <a:solidFill>
                            <a:srgbClr val="000000"/>
                          </a:solidFill>
                          <a:latin typeface="微软雅黑" charset="0"/>
                          <a:ea typeface="微软雅黑" charset="0"/>
                          <a:sym typeface="+mn-ea"/>
                        </a:rPr>
                        <a:t>-</a:t>
                      </a:r>
                      <a:r>
                        <a:rPr lang="en-US" altLang="zh-CN" sz="800" b="1" dirty="0">
                          <a:solidFill>
                            <a:srgbClr val="000000"/>
                          </a:solidFill>
                          <a:latin typeface="微软雅黑" charset="0"/>
                          <a:ea typeface="微软雅黑" charset="0"/>
                          <a:sym typeface="+mn-ea"/>
                        </a:rPr>
                        <a:t>3.5</a:t>
                      </a:r>
                      <a:endParaRPr lang="en-US" altLang="zh-CN" sz="800" b="1" i="0" u="none" strike="noStrike" dirty="0">
                        <a:solidFill>
                          <a:srgbClr val="000000"/>
                        </a:solidFill>
                        <a:effectLst/>
                        <a:latin typeface="微软雅黑" charset="0"/>
                        <a:ea typeface="微软雅黑" charset="0"/>
                        <a:sym typeface="+mn-ea"/>
                      </a:endParaRPr>
                    </a:p>
                  </a:txBody>
                  <a:tcPr marL="35972" marR="35972" marT="35972" marB="35972" anchor="ctr">
                    <a:solidFill>
                      <a:schemeClr val="tx2">
                        <a:lumMod val="95000"/>
                      </a:schemeClr>
                    </a:solidFill>
                  </a:tcPr>
                </a:tc>
                <a:tc>
                  <a:txBody>
                    <a:bodyPr/>
                    <a:lstStyle/>
                    <a:p>
                      <a:pPr algn="ctr" fontAlgn="ctr">
                        <a:buNone/>
                      </a:pPr>
                      <a:r>
                        <a:rPr lang="zh-CN" altLang="en-US" sz="1000" b="1" i="0" u="none" strike="noStrike" dirty="0">
                          <a:solidFill>
                            <a:srgbClr val="000000"/>
                          </a:solidFill>
                          <a:effectLst/>
                          <a:latin typeface="微软雅黑" charset="0"/>
                          <a:ea typeface="微软雅黑" charset="0"/>
                          <a:sym typeface="+mn-ea"/>
                        </a:rPr>
                        <a:t>中</a:t>
                      </a:r>
                      <a:endParaRPr lang="en-US" altLang="zh-CN" sz="1000" b="1" i="0" u="none" strike="noStrike" dirty="0">
                        <a:solidFill>
                          <a:srgbClr val="000000"/>
                        </a:solidFill>
                        <a:effectLst/>
                        <a:latin typeface="微软雅黑" charset="0"/>
                        <a:ea typeface="微软雅黑" charset="0"/>
                        <a:sym typeface="+mn-ea"/>
                      </a:endParaRPr>
                    </a:p>
                  </a:txBody>
                  <a:tcPr marL="35972" marR="35972" marT="35972" marB="35972" anchor="ctr">
                    <a:solidFill>
                      <a:srgbClr val="DEEBF7">
                        <a:alpha val="100000"/>
                      </a:srgbClr>
                    </a:solidFill>
                  </a:tcPr>
                </a:tc>
                <a:tc>
                  <a:txBody>
                    <a:bodyPr/>
                    <a:lstStyle/>
                    <a:p>
                      <a:pPr marL="0" marR="0" lvl="0" indent="0" algn="l" defTabSz="1188085" rtl="0" eaLnBrk="1" fontAlgn="ctr" latinLnBrk="0" hangingPunct="1">
                        <a:lnSpc>
                          <a:spcPct val="150000"/>
                        </a:lnSpc>
                        <a:spcBef>
                          <a:spcPts val="0"/>
                        </a:spcBef>
                        <a:spcAft>
                          <a:spcPts val="0"/>
                        </a:spcAft>
                        <a:buClrTx/>
                        <a:buSzTx/>
                        <a:buFontTx/>
                        <a:buNone/>
                        <a:defRPr/>
                      </a:pPr>
                      <a:r>
                        <a:rPr lang="zh-CN" altLang="en-US" sz="800" b="1" dirty="0">
                          <a:solidFill>
                            <a:srgbClr val="C00000"/>
                          </a:solidFill>
                          <a:effectLst/>
                          <a:latin typeface="微软雅黑" panose="020B0503020204020204" pitchFamily="34" charset="-122"/>
                          <a:ea typeface="微软雅黑" panose="020B0503020204020204" pitchFamily="34" charset="-122"/>
                          <a:sym typeface="+mn-ea"/>
                        </a:rPr>
                        <a:t>模型结构变化中：</a:t>
                      </a:r>
                      <a:r>
                        <a:rPr lang="zh-CN" altLang="en-US" sz="800" b="0" dirty="0">
                          <a:solidFill>
                            <a:srgbClr val="000000"/>
                          </a:solidFill>
                          <a:effectLst/>
                          <a:latin typeface="微软雅黑" panose="020B0503020204020204" pitchFamily="34" charset="-122"/>
                          <a:ea typeface="微软雅黑" panose="020B0503020204020204" pitchFamily="34" charset="-122"/>
                          <a:sym typeface="+mn-ea"/>
                        </a:rPr>
                        <a:t>继承</a:t>
                      </a:r>
                      <a:r>
                        <a:rPr lang="en-US" altLang="zh-CN" sz="800" b="0" dirty="0">
                          <a:solidFill>
                            <a:srgbClr val="000000"/>
                          </a:solidFill>
                          <a:effectLst/>
                          <a:latin typeface="微软雅黑" panose="020B0503020204020204" pitchFamily="34" charset="-122"/>
                          <a:ea typeface="微软雅黑" panose="020B0503020204020204" pitchFamily="34" charset="-122"/>
                          <a:sym typeface="+mn-ea"/>
                        </a:rPr>
                        <a:t>Qwen3</a:t>
                      </a:r>
                      <a:r>
                        <a:rPr lang="zh-CN" altLang="en-US" sz="800" b="0" dirty="0">
                          <a:solidFill>
                            <a:srgbClr val="000000"/>
                          </a:solidFill>
                          <a:effectLst/>
                          <a:latin typeface="微软雅黑" panose="020B0503020204020204" pitchFamily="34" charset="-122"/>
                          <a:ea typeface="微软雅黑" panose="020B0503020204020204" pitchFamily="34" charset="-122"/>
                          <a:sym typeface="+mn-ea"/>
                        </a:rPr>
                        <a:t>-</a:t>
                      </a:r>
                      <a:r>
                        <a:rPr lang="en-US" altLang="zh-CN" sz="800" b="0" dirty="0">
                          <a:solidFill>
                            <a:srgbClr val="000000"/>
                          </a:solidFill>
                          <a:effectLst/>
                          <a:latin typeface="微软雅黑" panose="020B0503020204020204" pitchFamily="34" charset="-122"/>
                          <a:ea typeface="微软雅黑" panose="020B0503020204020204" pitchFamily="34" charset="-122"/>
                          <a:sym typeface="+mn-ea"/>
                        </a:rPr>
                        <a:t>Next</a:t>
                      </a:r>
                      <a:r>
                        <a:rPr lang="zh-CN" altLang="en-US" sz="800" b="0" dirty="0">
                          <a:solidFill>
                            <a:srgbClr val="000000"/>
                          </a:solidFill>
                          <a:effectLst/>
                          <a:latin typeface="微软雅黑" panose="020B0503020204020204" pitchFamily="34" charset="-122"/>
                          <a:ea typeface="微软雅黑" panose="020B0503020204020204" pitchFamily="34" charset="-122"/>
                          <a:sym typeface="+mn-ea"/>
                        </a:rPr>
                        <a:t>的混合注意力与高稀疏度</a:t>
                      </a:r>
                      <a:r>
                        <a:rPr lang="en-US" altLang="zh-CN" sz="800" b="0" dirty="0">
                          <a:solidFill>
                            <a:srgbClr val="000000"/>
                          </a:solidFill>
                          <a:effectLst/>
                          <a:latin typeface="微软雅黑" panose="020B0503020204020204" pitchFamily="34" charset="-122"/>
                          <a:ea typeface="微软雅黑" panose="020B0503020204020204" pitchFamily="34" charset="-122"/>
                          <a:sym typeface="+mn-ea"/>
                        </a:rPr>
                        <a:t>MoE</a:t>
                      </a:r>
                      <a:r>
                        <a:rPr lang="zh-CN" altLang="en-US" sz="800" b="0" dirty="0">
                          <a:solidFill>
                            <a:srgbClr val="000000"/>
                          </a:solidFill>
                          <a:effectLst/>
                          <a:latin typeface="微软雅黑" panose="020B0503020204020204" pitchFamily="34" charset="-122"/>
                          <a:ea typeface="微软雅黑" panose="020B0503020204020204" pitchFamily="34" charset="-122"/>
                          <a:sym typeface="+mn-ea"/>
                        </a:rPr>
                        <a:t>架构，并新增原生多模态融合，</a:t>
                      </a:r>
                      <a:r>
                        <a:rPr lang="zh-CN" altLang="en-US" sz="800" dirty="0">
                          <a:effectLst/>
                          <a:latin typeface="微软雅黑" panose="020B0503020204020204" pitchFamily="34" charset="-122"/>
                          <a:ea typeface="微软雅黑" panose="020B0503020204020204" pitchFamily="34" charset="-122"/>
                          <a:sym typeface="+mn-ea"/>
                        </a:rPr>
                        <a:t>需完成权重量化及精度验证，部分算子存在泛化性适配工作量</a:t>
                      </a:r>
                      <a:endParaRPr kumimoji="0" lang="zh-CN" altLang="en-US" sz="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mn-ea"/>
                      </a:endParaRPr>
                    </a:p>
                  </a:txBody>
                  <a:tcPr marL="35972" marR="35972" marT="35972" marB="35972" anchor="ctr">
                    <a:solidFill>
                      <a:srgbClr val="DEEBF7">
                        <a:alpha val="100000"/>
                      </a:srgbClr>
                    </a:solidFill>
                  </a:tcPr>
                </a:tc>
                <a:tc>
                  <a:txBody>
                    <a:bodyPr/>
                    <a:lstStyle/>
                    <a:p>
                      <a:pPr marL="0" marR="0" lvl="0" indent="0" algn="ctr" defTabSz="1188085" rtl="0" eaLnBrk="1" fontAlgn="ctr" latinLnBrk="0" hangingPunct="1">
                        <a:lnSpc>
                          <a:spcPct val="150000"/>
                        </a:lnSpc>
                        <a:spcBef>
                          <a:spcPts val="0"/>
                        </a:spcBef>
                        <a:spcAft>
                          <a:spcPts val="0"/>
                        </a:spcAft>
                        <a:buClrTx/>
                        <a:buSzTx/>
                        <a:buFontTx/>
                        <a:buNone/>
                        <a:defRPr/>
                      </a:pPr>
                      <a:r>
                        <a:rPr lang="zh-CN" altLang="en-US" sz="1000" b="1" dirty="0">
                          <a:solidFill>
                            <a:srgbClr val="00B050"/>
                          </a:solidFill>
                          <a:effectLst/>
                          <a:latin typeface="微软雅黑" panose="020B0503020204020204" pitchFamily="34" charset="-122"/>
                          <a:ea typeface="微软雅黑" panose="020B0503020204020204" pitchFamily="34" charset="-122"/>
                          <a:sym typeface="+mn-ea"/>
                        </a:rPr>
                        <a:t>是√</a:t>
                      </a:r>
                      <a:endParaRPr kumimoji="0" lang="zh-CN" altLang="en-US" sz="1000" b="1" i="0" u="none" strike="noStrike" kern="1200" cap="none" spc="0" normalizeH="0" baseline="0" noProof="0" dirty="0">
                        <a:ln>
                          <a:noFill/>
                        </a:ln>
                        <a:solidFill>
                          <a:srgbClr val="00B050"/>
                        </a:solidFill>
                        <a:effectLst/>
                        <a:uLnTx/>
                        <a:uFillTx/>
                        <a:latin typeface="微软雅黑" panose="020B0503020204020204" pitchFamily="34" charset="-122"/>
                        <a:ea typeface="微软雅黑" panose="020B0503020204020204" pitchFamily="34" charset="-122"/>
                        <a:cs typeface="+mn-cs"/>
                        <a:sym typeface="+mn-ea"/>
                      </a:endParaRPr>
                    </a:p>
                  </a:txBody>
                  <a:tcPr marL="35972" marR="35972" marT="35972" marB="35972" anchor="ctr">
                    <a:solidFill>
                      <a:srgbClr val="DEEBF7">
                        <a:alpha val="100000"/>
                      </a:srgbClr>
                    </a:solidFill>
                  </a:tcPr>
                </a:tc>
                <a:tc>
                  <a:txBody>
                    <a:bodyPr/>
                    <a:lstStyle/>
                    <a:p>
                      <a:pPr algn="ctr" fontAlgn="ctr">
                        <a:buNone/>
                      </a:pPr>
                      <a:r>
                        <a:rPr lang="en-US" altLang="zh-CN" sz="900" b="1" dirty="0">
                          <a:solidFill>
                            <a:schemeClr val="dk1"/>
                          </a:solidFill>
                          <a:effectLst/>
                          <a:latin typeface="微软雅黑" panose="020B0503020204020204" pitchFamily="34" charset="-122"/>
                          <a:ea typeface="微软雅黑" panose="020B0503020204020204" pitchFamily="34" charset="-122"/>
                          <a:cs typeface="+mn-cs"/>
                        </a:rPr>
                        <a:t>7</a:t>
                      </a:r>
                      <a:r>
                        <a:rPr lang="zh-CN" altLang="en-US" sz="900" b="1" u="none" strike="noStrike" kern="1200" dirty="0">
                          <a:solidFill>
                            <a:schemeClr val="dk1"/>
                          </a:solidFill>
                          <a:effectLst/>
                          <a:latin typeface="微软雅黑" panose="020B0503020204020204" pitchFamily="34" charset="-122"/>
                          <a:ea typeface="微软雅黑" panose="020B0503020204020204" pitchFamily="34" charset="-122"/>
                          <a:cs typeface="+mn-cs"/>
                        </a:rPr>
                        <a:t>天</a:t>
                      </a:r>
                    </a:p>
                  </a:txBody>
                  <a:tcPr marL="35972" marR="35972" marT="35972" marB="35972" anchor="ctr">
                    <a:solidFill>
                      <a:srgbClr val="DEEBF7">
                        <a:alpha val="100000"/>
                      </a:srgbClr>
                    </a:solidFill>
                  </a:tcPr>
                </a:tc>
                <a:tc>
                  <a:txBody>
                    <a:bodyPr/>
                    <a:lstStyle/>
                    <a:p>
                      <a:pPr algn="l" fontAlgn="ctr">
                        <a:lnSpc>
                          <a:spcPct val="150000"/>
                        </a:lnSpc>
                        <a:buNone/>
                      </a:pPr>
                      <a:r>
                        <a:rPr lang="en-US" altLang="zh-CN" sz="900" b="1" dirty="0">
                          <a:solidFill>
                            <a:srgbClr val="C00000"/>
                          </a:solidFill>
                          <a:effectLst/>
                          <a:latin typeface="微软雅黑" panose="020B0503020204020204" pitchFamily="34" charset="-122"/>
                          <a:ea typeface="微软雅黑" panose="020B0503020204020204" pitchFamily="34" charset="-122"/>
                        </a:rPr>
                        <a:t>21</a:t>
                      </a:r>
                      <a:r>
                        <a:rPr lang="zh-CN" altLang="en-US" sz="900" b="1" i="0" u="none" strike="noStrike" dirty="0">
                          <a:solidFill>
                            <a:srgbClr val="C00000"/>
                          </a:solidFill>
                          <a:effectLst/>
                          <a:latin typeface="微软雅黑" panose="020B0503020204020204" pitchFamily="34" charset="-122"/>
                          <a:ea typeface="微软雅黑" panose="020B0503020204020204" pitchFamily="34" charset="-122"/>
                        </a:rPr>
                        <a:t>天：</a:t>
                      </a:r>
                      <a:r>
                        <a:rPr lang="zh-CN" altLang="en-US" sz="800" b="0" i="0" u="none" strike="noStrike" dirty="0">
                          <a:solidFill>
                            <a:srgbClr val="000000"/>
                          </a:solidFill>
                          <a:effectLst/>
                          <a:latin typeface="微软雅黑" panose="020B0503020204020204" pitchFamily="34" charset="-122"/>
                          <a:ea typeface="微软雅黑" panose="020B0503020204020204" pitchFamily="34" charset="-122"/>
                        </a:rPr>
                        <a:t>模型基础能力不足，涉及大量算子的开发调试，无法复用框架特性的基础能力，需重新开发，如大</a:t>
                      </a:r>
                      <a:r>
                        <a:rPr lang="en-US" altLang="zh-CN" sz="800" b="0" i="0" u="none" strike="noStrike" dirty="0">
                          <a:solidFill>
                            <a:srgbClr val="000000"/>
                          </a:solidFill>
                          <a:effectLst/>
                          <a:latin typeface="微软雅黑" panose="020B0503020204020204" pitchFamily="34" charset="-122"/>
                          <a:ea typeface="微软雅黑" panose="020B0503020204020204" pitchFamily="34" charset="-122"/>
                        </a:rPr>
                        <a:t>EP</a:t>
                      </a:r>
                      <a:r>
                        <a:rPr lang="zh-CN" altLang="en-US" sz="800" b="0" i="0" u="none" strike="noStrike" dirty="0">
                          <a:solidFill>
                            <a:srgbClr val="000000"/>
                          </a:solidFill>
                          <a:effectLst/>
                          <a:latin typeface="微软雅黑" panose="020B0503020204020204" pitchFamily="34" charset="-122"/>
                          <a:ea typeface="微软雅黑" panose="020B0503020204020204" pitchFamily="34" charset="-122"/>
                        </a:rPr>
                        <a:t>，</a:t>
                      </a:r>
                      <a:r>
                        <a:rPr lang="en-US" altLang="zh-CN" sz="800" b="0" i="0" u="none" strike="noStrike" dirty="0">
                          <a:solidFill>
                            <a:srgbClr val="000000"/>
                          </a:solidFill>
                          <a:effectLst/>
                          <a:latin typeface="微软雅黑" panose="020B0503020204020204" pitchFamily="34" charset="-122"/>
                          <a:ea typeface="微软雅黑" panose="020B0503020204020204" pitchFamily="34" charset="-122"/>
                        </a:rPr>
                        <a:t>prefixcache</a:t>
                      </a:r>
                      <a:r>
                        <a:rPr lang="zh-CN" altLang="en-US" sz="800" b="0" i="0" u="none" strike="noStrike" dirty="0">
                          <a:solidFill>
                            <a:srgbClr val="000000"/>
                          </a:solidFill>
                          <a:effectLst/>
                          <a:latin typeface="微软雅黑" panose="020B0503020204020204" pitchFamily="34" charset="-122"/>
                          <a:ea typeface="微软雅黑" panose="020B0503020204020204" pitchFamily="34" charset="-122"/>
                        </a:rPr>
                        <a:t>等</a:t>
                      </a:r>
                      <a:endParaRPr lang="en-US" altLang="zh-CN"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35972" marR="35972" marT="35972" marB="35972" anchor="ctr">
                    <a:solidFill>
                      <a:srgbClr val="DEEBF7">
                        <a:alpha val="100000"/>
                      </a:srgbClr>
                    </a:solidFill>
                  </a:tcPr>
                </a:tc>
                <a:extLst>
                  <a:ext uri="{0D108BD9-81ED-4DB2-BD59-A6C34878D82A}">
                    <a16:rowId xmlns:a16="http://schemas.microsoft.com/office/drawing/2014/main" val="10007"/>
                  </a:ext>
                </a:extLst>
              </a:tr>
              <a:tr h="438150">
                <a:tc vMerge="1">
                  <a:txBody>
                    <a:bodyPr/>
                    <a:lstStyle/>
                    <a:p>
                      <a:endParaRPr lang="zh-CN"/>
                    </a:p>
                  </a:txBody>
                  <a:tcPr marL="35972" marR="35972" marT="35972" marB="35972" anchor="ctr">
                    <a:solidFill>
                      <a:schemeClr val="tx2">
                        <a:lumMod val="95000"/>
                      </a:schemeClr>
                    </a:solidFill>
                  </a:tcPr>
                </a:tc>
                <a:tc>
                  <a:txBody>
                    <a:bodyPr/>
                    <a:lstStyle/>
                    <a:p>
                      <a:pPr algn="ctr" fontAlgn="ctr">
                        <a:buNone/>
                      </a:pPr>
                      <a:r>
                        <a:rPr lang="en-US" altLang="zh-CN" sz="800" b="1" dirty="0">
                          <a:solidFill>
                            <a:srgbClr val="000000"/>
                          </a:solidFill>
                          <a:latin typeface="微软雅黑" charset="0"/>
                          <a:ea typeface="微软雅黑" charset="0"/>
                          <a:sym typeface="+mn-ea"/>
                        </a:rPr>
                        <a:t>Qwen</a:t>
                      </a:r>
                      <a:r>
                        <a:rPr lang="zh-CN" altLang="en-US" sz="800" b="1" dirty="0">
                          <a:solidFill>
                            <a:srgbClr val="000000"/>
                          </a:solidFill>
                          <a:latin typeface="微软雅黑" charset="0"/>
                          <a:ea typeface="微软雅黑" charset="0"/>
                          <a:sym typeface="+mn-ea"/>
                        </a:rPr>
                        <a:t>-</a:t>
                      </a:r>
                      <a:r>
                        <a:rPr lang="en-US" altLang="zh-CN" sz="800" b="1" dirty="0">
                          <a:solidFill>
                            <a:srgbClr val="000000"/>
                          </a:solidFill>
                          <a:latin typeface="微软雅黑" charset="0"/>
                          <a:ea typeface="微软雅黑" charset="0"/>
                          <a:sym typeface="+mn-ea"/>
                        </a:rPr>
                        <a:t>3.6</a:t>
                      </a:r>
                      <a:endParaRPr lang="zh-CN" altLang="en-US" sz="800" b="1" i="0" u="none" strike="noStrike" dirty="0">
                        <a:solidFill>
                          <a:srgbClr val="000000"/>
                        </a:solidFill>
                        <a:effectLst/>
                        <a:latin typeface="微软雅黑" charset="0"/>
                        <a:ea typeface="微软雅黑" charset="0"/>
                        <a:sym typeface="+mn-ea"/>
                      </a:endParaRPr>
                    </a:p>
                  </a:txBody>
                  <a:tcPr marL="35972" marR="35972" marT="35972" marB="35972" anchor="ctr">
                    <a:solidFill>
                      <a:schemeClr val="tx2">
                        <a:lumMod val="95000"/>
                      </a:schemeClr>
                    </a:solidFill>
                  </a:tcPr>
                </a:tc>
                <a:tc>
                  <a:txBody>
                    <a:bodyPr/>
                    <a:lstStyle/>
                    <a:p>
                      <a:pPr algn="ctr" fontAlgn="ctr">
                        <a:buNone/>
                      </a:pPr>
                      <a:r>
                        <a:rPr lang="zh-CN" altLang="en-US" sz="1000" b="1" i="0" u="none" strike="noStrike" dirty="0">
                          <a:solidFill>
                            <a:srgbClr val="000000"/>
                          </a:solidFill>
                          <a:effectLst/>
                          <a:latin typeface="微软雅黑" charset="0"/>
                          <a:ea typeface="微软雅黑" charset="0"/>
                          <a:sym typeface="+mn-ea"/>
                        </a:rPr>
                        <a:t>小</a:t>
                      </a:r>
                    </a:p>
                  </a:txBody>
                  <a:tcPr marL="35972" marR="35972" marT="35972" marB="35972" anchor="ctr">
                    <a:solidFill>
                      <a:srgbClr val="E2F0D9">
                        <a:alpha val="100000"/>
                      </a:srgbClr>
                    </a:solidFill>
                  </a:tcPr>
                </a:tc>
                <a:tc>
                  <a:txBody>
                    <a:bodyPr/>
                    <a:lstStyle/>
                    <a:p>
                      <a:pPr marL="0" marR="0" lvl="0" indent="0" algn="l" defTabSz="1188085" rtl="0" eaLnBrk="1" fontAlgn="ctr" latinLnBrk="0" hangingPunct="1">
                        <a:lnSpc>
                          <a:spcPct val="150000"/>
                        </a:lnSpc>
                        <a:spcBef>
                          <a:spcPts val="0"/>
                        </a:spcBef>
                        <a:spcAft>
                          <a:spcPts val="0"/>
                        </a:spcAft>
                        <a:buClrTx/>
                        <a:buSzTx/>
                        <a:buFontTx/>
                        <a:buNone/>
                        <a:defRPr/>
                      </a:pPr>
                      <a:r>
                        <a:rPr lang="zh-CN" altLang="en-US" sz="800" b="1" dirty="0">
                          <a:solidFill>
                            <a:srgbClr val="C00000"/>
                          </a:solidFill>
                          <a:effectLst/>
                          <a:latin typeface="微软雅黑" panose="020B0503020204020204" pitchFamily="34" charset="-122"/>
                          <a:ea typeface="微软雅黑" panose="020B0503020204020204" pitchFamily="34" charset="-122"/>
                          <a:sym typeface="+mn-ea"/>
                        </a:rPr>
                        <a:t>模型结构变化小：</a:t>
                      </a:r>
                      <a:r>
                        <a:rPr lang="zh-CN" altLang="en-US" sz="800" dirty="0">
                          <a:effectLst/>
                          <a:latin typeface="微软雅黑" panose="020B0503020204020204" pitchFamily="34" charset="-122"/>
                          <a:ea typeface="微软雅黑" panose="020B0503020204020204" pitchFamily="34" charset="-122"/>
                          <a:sym typeface="+mn-ea"/>
                        </a:rPr>
                        <a:t>结构上完全复用</a:t>
                      </a:r>
                      <a:r>
                        <a:rPr lang="en-US" altLang="zh-CN" sz="800" dirty="0">
                          <a:effectLst/>
                          <a:latin typeface="微软雅黑" panose="020B0503020204020204" pitchFamily="34" charset="-122"/>
                          <a:ea typeface="微软雅黑" panose="020B0503020204020204" pitchFamily="34" charset="-122"/>
                          <a:sym typeface="+mn-ea"/>
                        </a:rPr>
                        <a:t>Qwen3.5</a:t>
                      </a:r>
                      <a:r>
                        <a:rPr lang="zh-CN" altLang="en-US" sz="800" dirty="0">
                          <a:effectLst/>
                          <a:latin typeface="微软雅黑" panose="020B0503020204020204" pitchFamily="34" charset="-122"/>
                          <a:ea typeface="微软雅黑" panose="020B0503020204020204" pitchFamily="34" charset="-122"/>
                          <a:sym typeface="+mn-ea"/>
                        </a:rPr>
                        <a:t>，仅模型权重及</a:t>
                      </a:r>
                      <a:r>
                        <a:rPr lang="en-US" altLang="zh-CN" sz="800" dirty="0">
                          <a:effectLst/>
                          <a:latin typeface="微软雅黑" panose="020B0503020204020204" pitchFamily="34" charset="-122"/>
                          <a:ea typeface="微软雅黑" panose="020B0503020204020204" pitchFamily="34" charset="-122"/>
                          <a:sym typeface="+mn-ea"/>
                        </a:rPr>
                        <a:t>chat templet</a:t>
                      </a:r>
                      <a:r>
                        <a:rPr lang="zh-CN" altLang="en-US" sz="800" dirty="0">
                          <a:effectLst/>
                          <a:latin typeface="微软雅黑" panose="020B0503020204020204" pitchFamily="34" charset="-122"/>
                          <a:ea typeface="微软雅黑" panose="020B0503020204020204" pitchFamily="34" charset="-122"/>
                          <a:sym typeface="+mn-ea"/>
                        </a:rPr>
                        <a:t>存在更新，仅需完成权重量化及精度验证</a:t>
                      </a:r>
                      <a:endParaRPr lang="zh-CN" altLang="en-US" sz="800" b="1" i="0" u="none" strike="noStrike" dirty="0">
                        <a:solidFill>
                          <a:srgbClr val="C00000"/>
                        </a:solidFill>
                        <a:effectLst/>
                        <a:latin typeface="微软雅黑" panose="020B0503020204020204" pitchFamily="34" charset="-122"/>
                        <a:ea typeface="微软雅黑" panose="020B0503020204020204" pitchFamily="34" charset="-122"/>
                        <a:sym typeface="+mn-ea"/>
                      </a:endParaRPr>
                    </a:p>
                  </a:txBody>
                  <a:tcPr marL="35972" marR="35972" marT="35972" marB="35972" anchor="ctr">
                    <a:solidFill>
                      <a:srgbClr val="E2F0D9">
                        <a:alpha val="100000"/>
                      </a:srgbClr>
                    </a:solidFill>
                  </a:tcPr>
                </a:tc>
                <a:tc>
                  <a:txBody>
                    <a:bodyPr/>
                    <a:lstStyle/>
                    <a:p>
                      <a:pPr marL="0" marR="0" lvl="0" indent="0" algn="ctr" defTabSz="1188085" rtl="0" eaLnBrk="1" fontAlgn="ctr" latinLnBrk="0" hangingPunct="1">
                        <a:lnSpc>
                          <a:spcPct val="150000"/>
                        </a:lnSpc>
                        <a:spcBef>
                          <a:spcPts val="0"/>
                        </a:spcBef>
                        <a:spcAft>
                          <a:spcPts val="0"/>
                        </a:spcAft>
                        <a:buClrTx/>
                        <a:buSzTx/>
                        <a:buFontTx/>
                        <a:buNone/>
                        <a:defRPr/>
                      </a:pPr>
                      <a:r>
                        <a:rPr lang="zh-CN" altLang="en-US" sz="1000" b="1" dirty="0">
                          <a:solidFill>
                            <a:srgbClr val="00B050"/>
                          </a:solidFill>
                          <a:effectLst/>
                          <a:latin typeface="微软雅黑" panose="020B0503020204020204" pitchFamily="34" charset="-122"/>
                          <a:ea typeface="微软雅黑" panose="020B0503020204020204" pitchFamily="34" charset="-122"/>
                          <a:sym typeface="+mn-ea"/>
                        </a:rPr>
                        <a:t>是√</a:t>
                      </a:r>
                      <a:endParaRPr lang="zh-CN" altLang="en-US" sz="1000" b="1" i="0" u="none" strike="noStrike" dirty="0">
                        <a:solidFill>
                          <a:srgbClr val="00B050"/>
                        </a:solidFill>
                        <a:effectLst/>
                        <a:latin typeface="微软雅黑" panose="020B0503020204020204" pitchFamily="34" charset="-122"/>
                        <a:ea typeface="微软雅黑" panose="020B0503020204020204" pitchFamily="34" charset="-122"/>
                        <a:sym typeface="+mn-ea"/>
                      </a:endParaRPr>
                    </a:p>
                  </a:txBody>
                  <a:tcPr marL="35972" marR="35972" marT="35972" marB="35972" anchor="ctr">
                    <a:solidFill>
                      <a:srgbClr val="E2F0D9">
                        <a:alpha val="100000"/>
                      </a:srgbClr>
                    </a:solidFill>
                  </a:tcPr>
                </a:tc>
                <a:tc>
                  <a:txBody>
                    <a:bodyPr/>
                    <a:lstStyle/>
                    <a:p>
                      <a:pPr algn="ctr" fontAlgn="ctr">
                        <a:buNone/>
                      </a:pPr>
                      <a:r>
                        <a:rPr lang="en-US" altLang="zh-CN" sz="900" b="1" u="none" strike="noStrike" kern="1200" dirty="0">
                          <a:solidFill>
                            <a:schemeClr val="dk1"/>
                          </a:solidFill>
                          <a:effectLst/>
                          <a:latin typeface="微软雅黑" panose="020B0503020204020204" pitchFamily="34" charset="-122"/>
                          <a:ea typeface="微软雅黑" panose="020B0503020204020204" pitchFamily="34" charset="-122"/>
                          <a:cs typeface="+mn-cs"/>
                        </a:rPr>
                        <a:t>2</a:t>
                      </a:r>
                      <a:r>
                        <a:rPr lang="zh-CN" altLang="en-US" sz="900" b="1" u="none" strike="noStrike" kern="1200" dirty="0">
                          <a:solidFill>
                            <a:schemeClr val="dk1"/>
                          </a:solidFill>
                          <a:effectLst/>
                          <a:latin typeface="微软雅黑" panose="020B0503020204020204" pitchFamily="34" charset="-122"/>
                          <a:ea typeface="微软雅黑" panose="020B0503020204020204" pitchFamily="34" charset="-122"/>
                          <a:cs typeface="+mn-cs"/>
                        </a:rPr>
                        <a:t>天</a:t>
                      </a:r>
                    </a:p>
                  </a:txBody>
                  <a:tcPr marL="35972" marR="35972" marT="35972" marB="35972" anchor="ctr">
                    <a:solidFill>
                      <a:srgbClr val="E2F0D9">
                        <a:alpha val="100000"/>
                      </a:srgbClr>
                    </a:solidFill>
                  </a:tcPr>
                </a:tc>
                <a:tc>
                  <a:txBody>
                    <a:bodyPr/>
                    <a:lstStyle/>
                    <a:p>
                      <a:pPr algn="l" fontAlgn="ctr">
                        <a:lnSpc>
                          <a:spcPct val="150000"/>
                        </a:lnSpc>
                        <a:buNone/>
                      </a:pPr>
                      <a:r>
                        <a:rPr lang="en-US" altLang="zh-CN" sz="900" b="1" dirty="0">
                          <a:solidFill>
                            <a:srgbClr val="C00000"/>
                          </a:solidFill>
                          <a:effectLst/>
                          <a:latin typeface="微软雅黑" charset="0"/>
                          <a:ea typeface="微软雅黑" charset="0"/>
                          <a:sym typeface="+mn-ea"/>
                        </a:rPr>
                        <a:t>0</a:t>
                      </a:r>
                      <a:r>
                        <a:rPr lang="zh-CN" altLang="en-US" sz="900" b="1" dirty="0">
                          <a:solidFill>
                            <a:srgbClr val="C00000"/>
                          </a:solidFill>
                          <a:effectLst/>
                          <a:latin typeface="微软雅黑" panose="020B0503020204020204" pitchFamily="34" charset="-122"/>
                          <a:ea typeface="微软雅黑" panose="020B0503020204020204" pitchFamily="34" charset="-122"/>
                          <a:sym typeface="+mn-ea"/>
                        </a:rPr>
                        <a:t>天：</a:t>
                      </a:r>
                      <a:r>
                        <a:rPr lang="zh-CN" altLang="en-US" sz="800" dirty="0">
                          <a:solidFill>
                            <a:srgbClr val="000000"/>
                          </a:solidFill>
                          <a:effectLst/>
                          <a:latin typeface="微软雅黑" panose="020B0503020204020204" pitchFamily="34" charset="-122"/>
                          <a:ea typeface="微软雅黑" panose="020B0503020204020204" pitchFamily="34" charset="-122"/>
                          <a:sym typeface="+mn-ea"/>
                        </a:rPr>
                        <a:t>复用</a:t>
                      </a:r>
                      <a:r>
                        <a:rPr lang="en-US" altLang="zh-CN" sz="800" dirty="0">
                          <a:solidFill>
                            <a:srgbClr val="000000"/>
                          </a:solidFill>
                          <a:effectLst/>
                          <a:latin typeface="微软雅黑" panose="020B0503020204020204" pitchFamily="34" charset="-122"/>
                          <a:ea typeface="微软雅黑" panose="020B0503020204020204" pitchFamily="34" charset="-122"/>
                          <a:sym typeface="+mn-ea"/>
                        </a:rPr>
                        <a:t>Qwen3.5</a:t>
                      </a:r>
                      <a:r>
                        <a:rPr lang="zh-CN" altLang="en-US" sz="800" dirty="0">
                          <a:solidFill>
                            <a:srgbClr val="000000"/>
                          </a:solidFill>
                          <a:effectLst/>
                          <a:latin typeface="微软雅黑" panose="020B0503020204020204" pitchFamily="34" charset="-122"/>
                          <a:ea typeface="微软雅黑" panose="020B0503020204020204" pitchFamily="34" charset="-122"/>
                          <a:sym typeface="+mn-ea"/>
                        </a:rPr>
                        <a:t>最优性能，性能开箱即优</a:t>
                      </a:r>
                      <a:endParaRPr lang="en-US" altLang="zh-CN" sz="800" b="0" i="0" u="none" strike="noStrike" dirty="0">
                        <a:solidFill>
                          <a:srgbClr val="000000"/>
                        </a:solidFill>
                        <a:effectLst/>
                        <a:latin typeface="微软雅黑" panose="020B0503020204020204" pitchFamily="34" charset="-122"/>
                        <a:ea typeface="微软雅黑" panose="020B0503020204020204" pitchFamily="34" charset="-122"/>
                        <a:sym typeface="+mn-ea"/>
                      </a:endParaRPr>
                    </a:p>
                  </a:txBody>
                  <a:tcPr marL="35972" marR="35972" marT="35972" marB="35972" anchor="ctr">
                    <a:solidFill>
                      <a:srgbClr val="E2F0D9">
                        <a:alpha val="100000"/>
                      </a:srgbClr>
                    </a:solidFill>
                  </a:tcPr>
                </a:tc>
                <a:extLst>
                  <a:ext uri="{0D108BD9-81ED-4DB2-BD59-A6C34878D82A}">
                    <a16:rowId xmlns:a16="http://schemas.microsoft.com/office/drawing/2014/main" val="10008"/>
                  </a:ext>
                </a:extLst>
              </a:tr>
              <a:tr h="461010">
                <a:tc rowSpan="2">
                  <a:txBody>
                    <a:bodyPr/>
                    <a:lstStyle/>
                    <a:p>
                      <a:pPr marL="0" indent="0" algn="ctr" defTabSz="1186180" rtl="0" eaLnBrk="1" fontAlgn="ctr" latinLnBrk="0" hangingPunct="1">
                        <a:spcBef>
                          <a:spcPct val="0"/>
                        </a:spcBef>
                        <a:spcAft>
                          <a:spcPct val="0"/>
                        </a:spcAft>
                        <a:buNone/>
                      </a:pPr>
                      <a:r>
                        <a:rPr lang="en-US" altLang="zh-CN" sz="800" b="1" dirty="0">
                          <a:solidFill>
                            <a:srgbClr val="000000"/>
                          </a:solidFill>
                          <a:latin typeface="微软雅黑" charset="0"/>
                          <a:ea typeface="微软雅黑" charset="0"/>
                        </a:rPr>
                        <a:t>Minimax</a:t>
                      </a:r>
                    </a:p>
                  </a:txBody>
                  <a:tcPr marL="35972" marR="35972" marT="35972" marB="35972" anchor="ctr">
                    <a:solidFill>
                      <a:schemeClr val="tx2">
                        <a:lumMod val="95000"/>
                      </a:schemeClr>
                    </a:solidFill>
                  </a:tcPr>
                </a:tc>
                <a:tc>
                  <a:txBody>
                    <a:bodyPr/>
                    <a:lstStyle/>
                    <a:p>
                      <a:pPr algn="ctr" fontAlgn="ctr">
                        <a:buNone/>
                      </a:pPr>
                      <a:r>
                        <a:rPr lang="en-US" altLang="zh-CN" sz="800" b="1" dirty="0">
                          <a:solidFill>
                            <a:srgbClr val="000000"/>
                          </a:solidFill>
                          <a:latin typeface="微软雅黑" charset="0"/>
                          <a:ea typeface="微软雅黑" charset="0"/>
                          <a:sym typeface="+mn-ea"/>
                        </a:rPr>
                        <a:t>Minimax</a:t>
                      </a:r>
                      <a:r>
                        <a:rPr lang="zh-CN" altLang="en-US" sz="800" b="1" dirty="0">
                          <a:solidFill>
                            <a:srgbClr val="000000"/>
                          </a:solidFill>
                          <a:latin typeface="微软雅黑" charset="0"/>
                          <a:ea typeface="微软雅黑" charset="0"/>
                          <a:sym typeface="+mn-ea"/>
                        </a:rPr>
                        <a:t>-</a:t>
                      </a:r>
                      <a:r>
                        <a:rPr lang="en-US" altLang="zh-CN" sz="800" b="1" dirty="0">
                          <a:solidFill>
                            <a:srgbClr val="000000"/>
                          </a:solidFill>
                          <a:latin typeface="微软雅黑" charset="0"/>
                          <a:ea typeface="微软雅黑" charset="0"/>
                          <a:sym typeface="+mn-ea"/>
                        </a:rPr>
                        <a:t>2.5</a:t>
                      </a:r>
                      <a:endParaRPr lang="en-US" altLang="zh-CN" sz="800" b="1" i="0" u="none" strike="noStrike" dirty="0">
                        <a:solidFill>
                          <a:srgbClr val="000000"/>
                        </a:solidFill>
                        <a:effectLst/>
                        <a:latin typeface="微软雅黑" charset="0"/>
                        <a:ea typeface="微软雅黑" charset="0"/>
                        <a:sym typeface="+mn-ea"/>
                      </a:endParaRPr>
                    </a:p>
                  </a:txBody>
                  <a:tcPr marL="35972" marR="35972" marT="35972" marB="35972" anchor="ctr">
                    <a:solidFill>
                      <a:schemeClr val="tx2">
                        <a:lumMod val="95000"/>
                      </a:schemeClr>
                    </a:solidFill>
                  </a:tcPr>
                </a:tc>
                <a:tc>
                  <a:txBody>
                    <a:bodyPr/>
                    <a:lstStyle/>
                    <a:p>
                      <a:pPr algn="ctr" fontAlgn="ctr">
                        <a:buNone/>
                      </a:pPr>
                      <a:r>
                        <a:rPr lang="zh-CN" altLang="en-US" sz="1000" b="1" i="0" u="none" strike="noStrike" dirty="0">
                          <a:solidFill>
                            <a:srgbClr val="000000"/>
                          </a:solidFill>
                          <a:effectLst/>
                          <a:latin typeface="微软雅黑" charset="0"/>
                          <a:ea typeface="微软雅黑" charset="0"/>
                          <a:sym typeface="+mn-ea"/>
                        </a:rPr>
                        <a:t>中</a:t>
                      </a:r>
                      <a:endParaRPr lang="en-US" altLang="zh-CN" sz="1000" b="1" i="0" u="none" strike="noStrike" dirty="0">
                        <a:solidFill>
                          <a:srgbClr val="000000"/>
                        </a:solidFill>
                        <a:effectLst/>
                        <a:latin typeface="微软雅黑" charset="0"/>
                        <a:ea typeface="微软雅黑" charset="0"/>
                        <a:sym typeface="+mn-ea"/>
                      </a:endParaRPr>
                    </a:p>
                  </a:txBody>
                  <a:tcPr marL="35972" marR="35972" marT="35972" marB="35972" anchor="ctr">
                    <a:solidFill>
                      <a:srgbClr val="DEEBF7">
                        <a:alpha val="100000"/>
                      </a:srgbClr>
                    </a:solidFill>
                  </a:tcPr>
                </a:tc>
                <a:tc>
                  <a:txBody>
                    <a:bodyPr/>
                    <a:lstStyle/>
                    <a:p>
                      <a:pPr marL="0" marR="0" lvl="0" indent="0" algn="l" defTabSz="1188085" rtl="0" eaLnBrk="1" fontAlgn="ctr" latinLnBrk="0" hangingPunct="1">
                        <a:lnSpc>
                          <a:spcPct val="150000"/>
                        </a:lnSpc>
                        <a:spcBef>
                          <a:spcPts val="0"/>
                        </a:spcBef>
                        <a:spcAft>
                          <a:spcPts val="0"/>
                        </a:spcAft>
                        <a:buClrTx/>
                        <a:buSzTx/>
                        <a:buFontTx/>
                        <a:buNone/>
                        <a:defRPr/>
                      </a:pPr>
                      <a:r>
                        <a:rPr lang="zh-CN" altLang="en-US" sz="800" b="1" dirty="0">
                          <a:solidFill>
                            <a:srgbClr val="C00000"/>
                          </a:solidFill>
                          <a:effectLst/>
                          <a:latin typeface="微软雅黑" panose="020B0503020204020204" pitchFamily="34" charset="-122"/>
                          <a:ea typeface="微软雅黑" panose="020B0503020204020204" pitchFamily="34" charset="-122"/>
                          <a:sym typeface="+mn-ea"/>
                        </a:rPr>
                        <a:t>模型结构变化中：</a:t>
                      </a:r>
                      <a:r>
                        <a:rPr lang="zh-CN" altLang="en-US" sz="800" dirty="0">
                          <a:effectLst/>
                          <a:latin typeface="微软雅黑" panose="020B0503020204020204" pitchFamily="34" charset="-122"/>
                          <a:ea typeface="微软雅黑" panose="020B0503020204020204" pitchFamily="34" charset="-122"/>
                          <a:sym typeface="+mn-ea"/>
                        </a:rPr>
                        <a:t>结构上基本复制</a:t>
                      </a:r>
                      <a:r>
                        <a:rPr lang="en-US" altLang="zh-CN" sz="800" dirty="0">
                          <a:effectLst/>
                          <a:latin typeface="微软雅黑" panose="020B0503020204020204" pitchFamily="34" charset="-122"/>
                          <a:ea typeface="微软雅黑" panose="020B0503020204020204" pitchFamily="34" charset="-122"/>
                          <a:sym typeface="+mn-ea"/>
                        </a:rPr>
                        <a:t>Qwen3</a:t>
                      </a:r>
                      <a:r>
                        <a:rPr lang="zh-CN" altLang="en-US" sz="800" dirty="0">
                          <a:effectLst/>
                          <a:latin typeface="微软雅黑" panose="020B0503020204020204" pitchFamily="34" charset="-122"/>
                          <a:ea typeface="微软雅黑" panose="020B0503020204020204" pitchFamily="34" charset="-122"/>
                          <a:sym typeface="+mn-ea"/>
                        </a:rPr>
                        <a:t>-</a:t>
                      </a:r>
                      <a:r>
                        <a:rPr lang="en-US" altLang="zh-CN" sz="800" dirty="0">
                          <a:effectLst/>
                          <a:latin typeface="微软雅黑" panose="020B0503020204020204" pitchFamily="34" charset="-122"/>
                          <a:ea typeface="微软雅黑" panose="020B0503020204020204" pitchFamily="34" charset="-122"/>
                          <a:sym typeface="+mn-ea"/>
                        </a:rPr>
                        <a:t>MoE</a:t>
                      </a:r>
                      <a:r>
                        <a:rPr lang="zh-CN" altLang="en-US" sz="800" dirty="0">
                          <a:effectLst/>
                          <a:latin typeface="微软雅黑" panose="020B0503020204020204" pitchFamily="34" charset="-122"/>
                          <a:ea typeface="微软雅黑" panose="020B0503020204020204" pitchFamily="34" charset="-122"/>
                          <a:sym typeface="+mn-ea"/>
                        </a:rPr>
                        <a:t>，但在参数量上存在较大差异，同时并未原生开源</a:t>
                      </a:r>
                      <a:r>
                        <a:rPr lang="en-US" altLang="zh-CN" sz="800" dirty="0">
                          <a:effectLst/>
                          <a:latin typeface="微软雅黑" panose="020B0503020204020204" pitchFamily="34" charset="-122"/>
                          <a:ea typeface="微软雅黑" panose="020B0503020204020204" pitchFamily="34" charset="-122"/>
                          <a:sym typeface="+mn-ea"/>
                        </a:rPr>
                        <a:t>eagle</a:t>
                      </a:r>
                      <a:r>
                        <a:rPr lang="zh-CN" altLang="en-US" sz="800" dirty="0">
                          <a:effectLst/>
                          <a:latin typeface="微软雅黑" panose="020B0503020204020204" pitchFamily="34" charset="-122"/>
                          <a:ea typeface="微软雅黑" panose="020B0503020204020204" pitchFamily="34" charset="-122"/>
                          <a:sym typeface="+mn-ea"/>
                        </a:rPr>
                        <a:t>权重，需要自行完成</a:t>
                      </a:r>
                      <a:r>
                        <a:rPr lang="en-US" altLang="zh-CN" sz="800" dirty="0">
                          <a:effectLst/>
                          <a:latin typeface="微软雅黑" panose="020B0503020204020204" pitchFamily="34" charset="-122"/>
                          <a:ea typeface="微软雅黑" panose="020B0503020204020204" pitchFamily="34" charset="-122"/>
                          <a:sym typeface="+mn-ea"/>
                        </a:rPr>
                        <a:t>eagle</a:t>
                      </a:r>
                      <a:r>
                        <a:rPr lang="zh-CN" altLang="en-US" sz="800" dirty="0">
                          <a:effectLst/>
                          <a:latin typeface="微软雅黑" panose="020B0503020204020204" pitchFamily="34" charset="-122"/>
                          <a:ea typeface="微软雅黑" panose="020B0503020204020204" pitchFamily="34" charset="-122"/>
                          <a:sym typeface="+mn-ea"/>
                        </a:rPr>
                        <a:t>权重训练</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sym typeface="+mn-ea"/>
                      </a:endParaRPr>
                    </a:p>
                  </a:txBody>
                  <a:tcPr marL="35972" marR="35972" marT="35972" marB="35972" anchor="ctr">
                    <a:solidFill>
                      <a:srgbClr val="DEEBF7">
                        <a:alpha val="100000"/>
                      </a:srgbClr>
                    </a:solidFill>
                  </a:tcPr>
                </a:tc>
                <a:tc>
                  <a:txBody>
                    <a:bodyPr/>
                    <a:lstStyle/>
                    <a:p>
                      <a:pPr marL="0" marR="0" lvl="0" indent="0" algn="ctr" defTabSz="1188085" rtl="0" eaLnBrk="1" fontAlgn="ctr" latinLnBrk="0" hangingPunct="1">
                        <a:lnSpc>
                          <a:spcPct val="150000"/>
                        </a:lnSpc>
                        <a:spcBef>
                          <a:spcPts val="0"/>
                        </a:spcBef>
                        <a:spcAft>
                          <a:spcPts val="0"/>
                        </a:spcAft>
                        <a:buClrTx/>
                        <a:buSzTx/>
                        <a:buFontTx/>
                        <a:buNone/>
                        <a:defRPr/>
                      </a:pPr>
                      <a:r>
                        <a:rPr lang="zh-CN" altLang="en-US" sz="1000" b="1" dirty="0">
                          <a:solidFill>
                            <a:srgbClr val="00B050"/>
                          </a:solidFill>
                          <a:effectLst/>
                          <a:latin typeface="微软雅黑" panose="020B0503020204020204" pitchFamily="34" charset="-122"/>
                          <a:ea typeface="微软雅黑" panose="020B0503020204020204" pitchFamily="34" charset="-122"/>
                          <a:sym typeface="+mn-ea"/>
                        </a:rPr>
                        <a:t>是√</a:t>
                      </a:r>
                      <a:endParaRPr lang="zh-CN" altLang="en-US" sz="1000" b="1" i="0" u="none" strike="noStrike" dirty="0">
                        <a:solidFill>
                          <a:srgbClr val="00B050"/>
                        </a:solidFill>
                        <a:effectLst/>
                        <a:latin typeface="微软雅黑" panose="020B0503020204020204" pitchFamily="34" charset="-122"/>
                        <a:ea typeface="微软雅黑" panose="020B0503020204020204" pitchFamily="34" charset="-122"/>
                        <a:sym typeface="+mn-ea"/>
                      </a:endParaRPr>
                    </a:p>
                  </a:txBody>
                  <a:tcPr marL="35972" marR="35972" marT="35972" marB="35972" anchor="ctr">
                    <a:solidFill>
                      <a:srgbClr val="DEEBF7">
                        <a:alpha val="100000"/>
                      </a:srgbClr>
                    </a:solidFill>
                  </a:tcPr>
                </a:tc>
                <a:tc>
                  <a:txBody>
                    <a:bodyPr/>
                    <a:lstStyle/>
                    <a:p>
                      <a:pPr algn="ctr" fontAlgn="ctr">
                        <a:buNone/>
                      </a:pPr>
                      <a:r>
                        <a:rPr lang="en-US" altLang="zh-CN" sz="900" b="1" dirty="0">
                          <a:effectLst/>
                          <a:latin typeface="微软雅黑" charset="0"/>
                          <a:ea typeface="微软雅黑" charset="0"/>
                          <a:sym typeface="+mn-ea"/>
                        </a:rPr>
                        <a:t>3</a:t>
                      </a:r>
                      <a:r>
                        <a:rPr lang="zh-CN" altLang="en-US" sz="900" b="1" dirty="0">
                          <a:effectLst/>
                          <a:latin typeface="微软雅黑" panose="020B0503020204020204" pitchFamily="34" charset="-122"/>
                          <a:ea typeface="微软雅黑" panose="020B0503020204020204" pitchFamily="34" charset="-122"/>
                          <a:sym typeface="+mn-ea"/>
                        </a:rPr>
                        <a:t>天</a:t>
                      </a:r>
                      <a:endParaRPr lang="zh-CN" altLang="en-US" sz="900" b="1" u="none" strike="noStrike" kern="1200" dirty="0">
                        <a:solidFill>
                          <a:schemeClr val="dk1"/>
                        </a:solidFill>
                        <a:effectLst/>
                        <a:latin typeface="微软雅黑" panose="020B0503020204020204" pitchFamily="34" charset="-122"/>
                        <a:ea typeface="微软雅黑" panose="020B0503020204020204" pitchFamily="34" charset="-122"/>
                        <a:cs typeface="+mn-cs"/>
                        <a:sym typeface="+mn-ea"/>
                      </a:endParaRPr>
                    </a:p>
                  </a:txBody>
                  <a:tcPr marL="35972" marR="35972" marT="35972" marB="35972" anchor="ctr">
                    <a:solidFill>
                      <a:srgbClr val="DEEBF7">
                        <a:alpha val="100000"/>
                      </a:srgbClr>
                    </a:solidFill>
                  </a:tcPr>
                </a:tc>
                <a:tc>
                  <a:txBody>
                    <a:bodyPr/>
                    <a:lstStyle/>
                    <a:p>
                      <a:pPr algn="l" fontAlgn="ctr">
                        <a:lnSpc>
                          <a:spcPct val="150000"/>
                        </a:lnSpc>
                        <a:buNone/>
                      </a:pPr>
                      <a:r>
                        <a:rPr lang="en-US" altLang="zh-CN" sz="900" b="1" dirty="0">
                          <a:solidFill>
                            <a:srgbClr val="C00000"/>
                          </a:solidFill>
                          <a:effectLst/>
                          <a:latin typeface="微软雅黑" panose="020B0503020204020204" pitchFamily="34" charset="-122"/>
                          <a:ea typeface="微软雅黑" panose="020B0503020204020204" pitchFamily="34" charset="-122"/>
                          <a:sym typeface="+mn-ea"/>
                        </a:rPr>
                        <a:t>7</a:t>
                      </a:r>
                      <a:r>
                        <a:rPr lang="zh-CN" altLang="en-US" sz="900" b="1" dirty="0">
                          <a:solidFill>
                            <a:srgbClr val="C00000"/>
                          </a:solidFill>
                          <a:effectLst/>
                          <a:latin typeface="微软雅黑" panose="020B0503020204020204" pitchFamily="34" charset="-122"/>
                          <a:ea typeface="微软雅黑" panose="020B0503020204020204" pitchFamily="34" charset="-122"/>
                          <a:sym typeface="+mn-ea"/>
                        </a:rPr>
                        <a:t>天：</a:t>
                      </a:r>
                      <a:r>
                        <a:rPr lang="zh-CN" altLang="en-US" sz="800" dirty="0">
                          <a:solidFill>
                            <a:srgbClr val="000000"/>
                          </a:solidFill>
                          <a:effectLst/>
                          <a:latin typeface="微软雅黑" panose="020B0503020204020204" pitchFamily="34" charset="-122"/>
                          <a:ea typeface="微软雅黑" panose="020B0503020204020204" pitchFamily="34" charset="-122"/>
                          <a:sym typeface="+mn-ea"/>
                        </a:rPr>
                        <a:t>基础特性完全复用</a:t>
                      </a:r>
                      <a:r>
                        <a:rPr lang="en-US" altLang="zh-CN" sz="800" dirty="0">
                          <a:solidFill>
                            <a:srgbClr val="000000"/>
                          </a:solidFill>
                          <a:effectLst/>
                          <a:latin typeface="微软雅黑" charset="0"/>
                          <a:ea typeface="微软雅黑" charset="0"/>
                          <a:sym typeface="+mn-ea"/>
                        </a:rPr>
                        <a:t>Qwen3</a:t>
                      </a:r>
                      <a:r>
                        <a:rPr lang="zh-CN" altLang="en-US" sz="800" dirty="0">
                          <a:solidFill>
                            <a:srgbClr val="000000"/>
                          </a:solidFill>
                          <a:effectLst/>
                          <a:latin typeface="微软雅黑" charset="0"/>
                          <a:ea typeface="微软雅黑" charset="0"/>
                          <a:sym typeface="+mn-ea"/>
                        </a:rPr>
                        <a:t>-</a:t>
                      </a:r>
                      <a:r>
                        <a:rPr lang="en-US" altLang="zh-CN" sz="800" dirty="0">
                          <a:solidFill>
                            <a:srgbClr val="000000"/>
                          </a:solidFill>
                          <a:effectLst/>
                          <a:latin typeface="微软雅黑" charset="0"/>
                          <a:ea typeface="微软雅黑" charset="0"/>
                          <a:sym typeface="+mn-ea"/>
                        </a:rPr>
                        <a:t>MoE</a:t>
                      </a:r>
                      <a:r>
                        <a:rPr lang="zh-CN" altLang="en-US" sz="800" dirty="0">
                          <a:solidFill>
                            <a:srgbClr val="000000"/>
                          </a:solidFill>
                          <a:effectLst/>
                          <a:latin typeface="微软雅黑" charset="0"/>
                          <a:ea typeface="微软雅黑" charset="0"/>
                          <a:sym typeface="+mn-ea"/>
                        </a:rPr>
                        <a:t>模型</a:t>
                      </a:r>
                      <a:r>
                        <a:rPr lang="zh-CN" altLang="en-US" sz="800" dirty="0">
                          <a:solidFill>
                            <a:srgbClr val="000000"/>
                          </a:solidFill>
                          <a:effectLst/>
                          <a:latin typeface="微软雅黑" panose="020B0503020204020204" pitchFamily="34" charset="-122"/>
                          <a:ea typeface="微软雅黑" panose="020B0503020204020204" pitchFamily="34" charset="-122"/>
                          <a:sym typeface="+mn-ea"/>
                        </a:rPr>
                        <a:t>，但</a:t>
                      </a:r>
                      <a:r>
                        <a:rPr lang="en-US" altLang="zh-CN" sz="800" dirty="0">
                          <a:solidFill>
                            <a:srgbClr val="000000"/>
                          </a:solidFill>
                          <a:effectLst/>
                          <a:latin typeface="微软雅黑" panose="020B0503020204020204" pitchFamily="34" charset="-122"/>
                          <a:ea typeface="微软雅黑" panose="020B0503020204020204" pitchFamily="34" charset="-122"/>
                          <a:sym typeface="+mn-ea"/>
                        </a:rPr>
                        <a:t>eagle</a:t>
                      </a:r>
                      <a:r>
                        <a:rPr lang="zh-CN" altLang="en-US" sz="800" dirty="0">
                          <a:solidFill>
                            <a:srgbClr val="000000"/>
                          </a:solidFill>
                          <a:effectLst/>
                          <a:latin typeface="微软雅黑" panose="020B0503020204020204" pitchFamily="34" charset="-122"/>
                          <a:ea typeface="微软雅黑" panose="020B0503020204020204" pitchFamily="34" charset="-122"/>
                          <a:sym typeface="+mn-ea"/>
                        </a:rPr>
                        <a:t>权重未开源需重新训练已达最优性能</a:t>
                      </a:r>
                      <a:endParaRPr lang="en-US" altLang="zh-CN" sz="800" b="1" i="0" u="none" strike="noStrike" dirty="0">
                        <a:solidFill>
                          <a:srgbClr val="000000"/>
                        </a:solidFill>
                        <a:effectLst/>
                        <a:latin typeface="微软雅黑" panose="020B0503020204020204" pitchFamily="34" charset="-122"/>
                        <a:ea typeface="微软雅黑" panose="020B0503020204020204" pitchFamily="34" charset="-122"/>
                        <a:sym typeface="+mn-ea"/>
                      </a:endParaRPr>
                    </a:p>
                  </a:txBody>
                  <a:tcPr marL="35972" marR="35972" marT="35972" marB="35972" anchor="ctr">
                    <a:solidFill>
                      <a:srgbClr val="DEEBF7">
                        <a:alpha val="100000"/>
                      </a:srgbClr>
                    </a:solidFill>
                  </a:tcPr>
                </a:tc>
                <a:extLst>
                  <a:ext uri="{0D108BD9-81ED-4DB2-BD59-A6C34878D82A}">
                    <a16:rowId xmlns:a16="http://schemas.microsoft.com/office/drawing/2014/main" val="10009"/>
                  </a:ext>
                </a:extLst>
              </a:tr>
              <a:tr h="461010">
                <a:tc vMerge="1">
                  <a:txBody>
                    <a:bodyPr/>
                    <a:lstStyle/>
                    <a:p>
                      <a:endParaRPr lang="zh-CN"/>
                    </a:p>
                  </a:txBody>
                  <a:tcPr marL="35972" marR="35972" marT="35972" marB="35972" anchor="ctr">
                    <a:solidFill>
                      <a:schemeClr val="tx2">
                        <a:lumMod val="95000"/>
                      </a:schemeClr>
                    </a:solidFill>
                  </a:tcPr>
                </a:tc>
                <a:tc>
                  <a:txBody>
                    <a:bodyPr/>
                    <a:lstStyle/>
                    <a:p>
                      <a:pPr algn="ctr" fontAlgn="ctr">
                        <a:buNone/>
                      </a:pPr>
                      <a:r>
                        <a:rPr lang="en-US" altLang="zh-CN" sz="800" b="1" dirty="0">
                          <a:solidFill>
                            <a:srgbClr val="000000"/>
                          </a:solidFill>
                          <a:latin typeface="微软雅黑" charset="0"/>
                          <a:ea typeface="微软雅黑" charset="0"/>
                          <a:sym typeface="+mn-ea"/>
                        </a:rPr>
                        <a:t>Minimax</a:t>
                      </a:r>
                      <a:r>
                        <a:rPr lang="zh-CN" altLang="en-US" sz="800" b="1" dirty="0">
                          <a:solidFill>
                            <a:srgbClr val="000000"/>
                          </a:solidFill>
                          <a:latin typeface="微软雅黑" charset="0"/>
                          <a:ea typeface="微软雅黑" charset="0"/>
                          <a:sym typeface="+mn-ea"/>
                        </a:rPr>
                        <a:t>-</a:t>
                      </a:r>
                      <a:r>
                        <a:rPr lang="en-US" altLang="zh-CN" sz="800" b="1" dirty="0">
                          <a:solidFill>
                            <a:srgbClr val="000000"/>
                          </a:solidFill>
                          <a:latin typeface="微软雅黑" charset="0"/>
                          <a:ea typeface="微软雅黑" charset="0"/>
                          <a:sym typeface="+mn-ea"/>
                        </a:rPr>
                        <a:t>2.7</a:t>
                      </a:r>
                      <a:endParaRPr lang="en-US" altLang="zh-CN" sz="800" b="1" i="0" u="none" strike="noStrike" dirty="0">
                        <a:solidFill>
                          <a:srgbClr val="000000"/>
                        </a:solidFill>
                        <a:effectLst/>
                        <a:latin typeface="微软雅黑" charset="0"/>
                        <a:ea typeface="微软雅黑" charset="0"/>
                        <a:sym typeface="+mn-ea"/>
                      </a:endParaRPr>
                    </a:p>
                  </a:txBody>
                  <a:tcPr marL="35972" marR="35972" marT="35972" marB="35972" anchor="ctr">
                    <a:solidFill>
                      <a:schemeClr val="tx2">
                        <a:lumMod val="95000"/>
                      </a:schemeClr>
                    </a:solidFill>
                  </a:tcPr>
                </a:tc>
                <a:tc>
                  <a:txBody>
                    <a:bodyPr/>
                    <a:lstStyle/>
                    <a:p>
                      <a:pPr algn="ctr" fontAlgn="ctr">
                        <a:buNone/>
                      </a:pPr>
                      <a:r>
                        <a:rPr lang="zh-CN" altLang="en-US" sz="1000" b="1" i="0" u="none" strike="noStrike" dirty="0">
                          <a:solidFill>
                            <a:srgbClr val="000000"/>
                          </a:solidFill>
                          <a:effectLst/>
                          <a:latin typeface="微软雅黑" charset="0"/>
                          <a:ea typeface="微软雅黑" charset="0"/>
                          <a:sym typeface="+mn-ea"/>
                        </a:rPr>
                        <a:t>小</a:t>
                      </a:r>
                      <a:endParaRPr lang="en-US" altLang="zh-CN" sz="1000" b="1" i="0" u="none" strike="noStrike" dirty="0">
                        <a:solidFill>
                          <a:srgbClr val="000000"/>
                        </a:solidFill>
                        <a:effectLst/>
                        <a:latin typeface="微软雅黑" charset="0"/>
                        <a:ea typeface="微软雅黑" charset="0"/>
                        <a:sym typeface="+mn-ea"/>
                      </a:endParaRPr>
                    </a:p>
                  </a:txBody>
                  <a:tcPr marL="35972" marR="35972" marT="35972" marB="35972" anchor="ctr">
                    <a:solidFill>
                      <a:srgbClr val="E2F0D9">
                        <a:alpha val="100000"/>
                      </a:srgbClr>
                    </a:solidFill>
                  </a:tcPr>
                </a:tc>
                <a:tc>
                  <a:txBody>
                    <a:bodyPr/>
                    <a:lstStyle/>
                    <a:p>
                      <a:pPr marL="0" marR="0" lvl="0" indent="0" algn="l" defTabSz="1188085" rtl="0" eaLnBrk="1" fontAlgn="ctr" latinLnBrk="0" hangingPunct="1">
                        <a:lnSpc>
                          <a:spcPct val="150000"/>
                        </a:lnSpc>
                        <a:spcBef>
                          <a:spcPts val="0"/>
                        </a:spcBef>
                        <a:spcAft>
                          <a:spcPts val="0"/>
                        </a:spcAft>
                        <a:buClrTx/>
                        <a:buSzTx/>
                        <a:buFontTx/>
                        <a:buNone/>
                        <a:defRPr/>
                      </a:pPr>
                      <a:r>
                        <a:rPr lang="zh-CN" altLang="en-US" sz="800" b="1" dirty="0">
                          <a:solidFill>
                            <a:srgbClr val="C00000"/>
                          </a:solidFill>
                          <a:effectLst/>
                          <a:latin typeface="微软雅黑" panose="020B0503020204020204" pitchFamily="34" charset="-122"/>
                          <a:ea typeface="微软雅黑" panose="020B0503020204020204" pitchFamily="34" charset="-122"/>
                          <a:sym typeface="+mn-ea"/>
                        </a:rPr>
                        <a:t>模型结构变化小：</a:t>
                      </a:r>
                      <a:r>
                        <a:rPr lang="zh-CN" altLang="en-US" sz="800" dirty="0">
                          <a:effectLst/>
                          <a:latin typeface="微软雅黑" panose="020B0503020204020204" pitchFamily="34" charset="-122"/>
                          <a:ea typeface="微软雅黑" panose="020B0503020204020204" pitchFamily="34" charset="-122"/>
                          <a:sym typeface="+mn-ea"/>
                        </a:rPr>
                        <a:t>结构上完全复用</a:t>
                      </a:r>
                      <a:r>
                        <a:rPr lang="en-US" altLang="zh-CN" sz="800" dirty="0">
                          <a:effectLst/>
                          <a:latin typeface="微软雅黑" panose="020B0503020204020204" pitchFamily="34" charset="-122"/>
                          <a:ea typeface="微软雅黑" panose="020B0503020204020204" pitchFamily="34" charset="-122"/>
                          <a:sym typeface="+mn-ea"/>
                        </a:rPr>
                        <a:t>Minimax</a:t>
                      </a:r>
                      <a:r>
                        <a:rPr lang="zh-CN" altLang="en-US" sz="800" dirty="0">
                          <a:effectLst/>
                          <a:latin typeface="微软雅黑" panose="020B0503020204020204" pitchFamily="34" charset="-122"/>
                          <a:ea typeface="微软雅黑" panose="020B0503020204020204" pitchFamily="34" charset="-122"/>
                          <a:sym typeface="+mn-ea"/>
                        </a:rPr>
                        <a:t>-</a:t>
                      </a:r>
                      <a:r>
                        <a:rPr lang="en-US" altLang="zh-CN" sz="800" dirty="0">
                          <a:effectLst/>
                          <a:latin typeface="微软雅黑" panose="020B0503020204020204" pitchFamily="34" charset="-122"/>
                          <a:ea typeface="微软雅黑" panose="020B0503020204020204" pitchFamily="34" charset="-122"/>
                          <a:sym typeface="+mn-ea"/>
                        </a:rPr>
                        <a:t>2.5</a:t>
                      </a:r>
                      <a:r>
                        <a:rPr lang="zh-CN" altLang="en-US" sz="800" dirty="0">
                          <a:effectLst/>
                          <a:latin typeface="微软雅黑" panose="020B0503020204020204" pitchFamily="34" charset="-122"/>
                          <a:ea typeface="微软雅黑" panose="020B0503020204020204" pitchFamily="34" charset="-122"/>
                          <a:sym typeface="+mn-ea"/>
                        </a:rPr>
                        <a:t>，仅模型权重及</a:t>
                      </a:r>
                      <a:r>
                        <a:rPr lang="en-US" altLang="zh-CN" sz="800" dirty="0">
                          <a:effectLst/>
                          <a:latin typeface="微软雅黑" panose="020B0503020204020204" pitchFamily="34" charset="-122"/>
                          <a:ea typeface="微软雅黑" panose="020B0503020204020204" pitchFamily="34" charset="-122"/>
                          <a:sym typeface="+mn-ea"/>
                        </a:rPr>
                        <a:t>chat templet</a:t>
                      </a:r>
                      <a:r>
                        <a:rPr lang="zh-CN" altLang="en-US" sz="800" dirty="0">
                          <a:effectLst/>
                          <a:latin typeface="微软雅黑" panose="020B0503020204020204" pitchFamily="34" charset="-122"/>
                          <a:ea typeface="微软雅黑" panose="020B0503020204020204" pitchFamily="34" charset="-122"/>
                          <a:sym typeface="+mn-ea"/>
                        </a:rPr>
                        <a:t>存在更新，仅需完成权重量化及精度验证</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35972" marR="35972" marT="35972" marB="35972" anchor="ctr">
                    <a:solidFill>
                      <a:srgbClr val="E2F0D9">
                        <a:alpha val="100000"/>
                      </a:srgbClr>
                    </a:solidFill>
                  </a:tcPr>
                </a:tc>
                <a:tc>
                  <a:txBody>
                    <a:bodyPr/>
                    <a:lstStyle/>
                    <a:p>
                      <a:pPr marL="0" marR="0" lvl="0" indent="0" algn="ctr" defTabSz="1188085" rtl="0" eaLnBrk="1" fontAlgn="ctr" latinLnBrk="0" hangingPunct="1">
                        <a:lnSpc>
                          <a:spcPct val="150000"/>
                        </a:lnSpc>
                        <a:spcBef>
                          <a:spcPts val="0"/>
                        </a:spcBef>
                        <a:spcAft>
                          <a:spcPts val="0"/>
                        </a:spcAft>
                        <a:buClrTx/>
                        <a:buSzTx/>
                        <a:buFontTx/>
                        <a:buNone/>
                        <a:defRPr/>
                      </a:pPr>
                      <a:r>
                        <a:rPr lang="zh-CN" altLang="en-US" sz="1000" b="1" dirty="0">
                          <a:solidFill>
                            <a:srgbClr val="00B050"/>
                          </a:solidFill>
                          <a:effectLst/>
                          <a:latin typeface="微软雅黑" panose="020B0503020204020204" pitchFamily="34" charset="-122"/>
                          <a:ea typeface="微软雅黑" panose="020B0503020204020204" pitchFamily="34" charset="-122"/>
                          <a:sym typeface="+mn-ea"/>
                        </a:rPr>
                        <a:t>是√</a:t>
                      </a:r>
                      <a:endParaRPr lang="zh-CN" altLang="en-US" sz="1000" b="1" i="0" u="none" strike="noStrike" dirty="0">
                        <a:solidFill>
                          <a:srgbClr val="00B050"/>
                        </a:solidFill>
                        <a:effectLst/>
                        <a:latin typeface="微软雅黑" panose="020B0503020204020204" pitchFamily="34" charset="-122"/>
                        <a:ea typeface="微软雅黑" panose="020B0503020204020204" pitchFamily="34" charset="-122"/>
                        <a:sym typeface="+mn-ea"/>
                      </a:endParaRPr>
                    </a:p>
                  </a:txBody>
                  <a:tcPr marL="35972" marR="35972" marT="35972" marB="35972" anchor="ctr">
                    <a:solidFill>
                      <a:srgbClr val="E2F0D9">
                        <a:alpha val="100000"/>
                      </a:srgbClr>
                    </a:solidFill>
                  </a:tcPr>
                </a:tc>
                <a:tc>
                  <a:txBody>
                    <a:bodyPr/>
                    <a:lstStyle/>
                    <a:p>
                      <a:pPr algn="ctr" fontAlgn="ctr">
                        <a:buNone/>
                      </a:pPr>
                      <a:r>
                        <a:rPr lang="en-US" altLang="zh-CN" sz="900" b="1" dirty="0">
                          <a:effectLst/>
                          <a:latin typeface="微软雅黑" charset="0"/>
                          <a:ea typeface="微软雅黑" charset="0"/>
                          <a:sym typeface="+mn-ea"/>
                        </a:rPr>
                        <a:t>3</a:t>
                      </a:r>
                      <a:r>
                        <a:rPr lang="zh-CN" altLang="en-US" sz="900" b="1" dirty="0">
                          <a:effectLst/>
                          <a:latin typeface="微软雅黑" panose="020B0503020204020204" pitchFamily="34" charset="-122"/>
                          <a:ea typeface="微软雅黑" panose="020B0503020204020204" pitchFamily="34" charset="-122"/>
                          <a:sym typeface="+mn-ea"/>
                        </a:rPr>
                        <a:t>天</a:t>
                      </a:r>
                      <a:endParaRPr lang="zh-CN" altLang="en-US" sz="900" b="1" u="none" strike="noStrike" kern="1200" dirty="0">
                        <a:solidFill>
                          <a:schemeClr val="dk1"/>
                        </a:solidFill>
                        <a:effectLst/>
                        <a:latin typeface="微软雅黑" panose="020B0503020204020204" pitchFamily="34" charset="-122"/>
                        <a:ea typeface="微软雅黑" panose="020B0503020204020204" pitchFamily="34" charset="-122"/>
                        <a:cs typeface="+mn-cs"/>
                        <a:sym typeface="+mn-ea"/>
                      </a:endParaRPr>
                    </a:p>
                  </a:txBody>
                  <a:tcPr marL="35972" marR="35972" marT="35972" marB="35972" anchor="ctr">
                    <a:solidFill>
                      <a:srgbClr val="E2F0D9">
                        <a:alpha val="100000"/>
                      </a:srgbClr>
                    </a:solidFill>
                  </a:tcPr>
                </a:tc>
                <a:tc>
                  <a:txBody>
                    <a:bodyPr/>
                    <a:lstStyle/>
                    <a:p>
                      <a:pPr algn="l" fontAlgn="ctr">
                        <a:lnSpc>
                          <a:spcPct val="150000"/>
                        </a:lnSpc>
                      </a:pPr>
                      <a:r>
                        <a:rPr lang="en-US" altLang="zh-CN" sz="900" b="1" dirty="0">
                          <a:solidFill>
                            <a:srgbClr val="C00000"/>
                          </a:solidFill>
                          <a:effectLst/>
                          <a:latin typeface="微软雅黑" panose="020B0503020204020204" pitchFamily="34" charset="-122"/>
                          <a:ea typeface="微软雅黑" panose="020B0503020204020204" pitchFamily="34" charset="-122"/>
                          <a:sym typeface="+mn-ea"/>
                        </a:rPr>
                        <a:t>5</a:t>
                      </a:r>
                      <a:r>
                        <a:rPr lang="zh-CN" altLang="en-US" sz="900" b="1" dirty="0">
                          <a:solidFill>
                            <a:srgbClr val="C00000"/>
                          </a:solidFill>
                          <a:effectLst/>
                          <a:latin typeface="微软雅黑" panose="020B0503020204020204" pitchFamily="34" charset="-122"/>
                          <a:ea typeface="微软雅黑" panose="020B0503020204020204" pitchFamily="34" charset="-122"/>
                          <a:sym typeface="+mn-ea"/>
                        </a:rPr>
                        <a:t>天：</a:t>
                      </a:r>
                      <a:r>
                        <a:rPr lang="zh-CN" altLang="en-US" sz="800" dirty="0">
                          <a:solidFill>
                            <a:srgbClr val="000000"/>
                          </a:solidFill>
                          <a:effectLst/>
                          <a:latin typeface="微软雅黑" panose="020B0503020204020204" pitchFamily="34" charset="-122"/>
                          <a:ea typeface="微软雅黑" panose="020B0503020204020204" pitchFamily="34" charset="-122"/>
                          <a:sym typeface="+mn-ea"/>
                        </a:rPr>
                        <a:t>基础特性完全复用</a:t>
                      </a:r>
                      <a:r>
                        <a:rPr lang="en-US" altLang="zh-CN" sz="800" dirty="0">
                          <a:solidFill>
                            <a:srgbClr val="000000"/>
                          </a:solidFill>
                          <a:effectLst/>
                          <a:latin typeface="微软雅黑" panose="020B0503020204020204" pitchFamily="34" charset="-122"/>
                          <a:ea typeface="微软雅黑" panose="020B0503020204020204" pitchFamily="34" charset="-122"/>
                          <a:sym typeface="+mn-ea"/>
                        </a:rPr>
                        <a:t>minimax</a:t>
                      </a:r>
                      <a:r>
                        <a:rPr lang="zh-CN" altLang="en-US" sz="800" dirty="0">
                          <a:solidFill>
                            <a:srgbClr val="000000"/>
                          </a:solidFill>
                          <a:effectLst/>
                          <a:latin typeface="微软雅黑" panose="020B0503020204020204" pitchFamily="34" charset="-122"/>
                          <a:ea typeface="微软雅黑" panose="020B0503020204020204" pitchFamily="34" charset="-122"/>
                          <a:sym typeface="+mn-ea"/>
                        </a:rPr>
                        <a:t>-</a:t>
                      </a:r>
                      <a:r>
                        <a:rPr lang="en-US" altLang="zh-CN" sz="800" dirty="0">
                          <a:solidFill>
                            <a:srgbClr val="000000"/>
                          </a:solidFill>
                          <a:effectLst/>
                          <a:latin typeface="微软雅黑" panose="020B0503020204020204" pitchFamily="34" charset="-122"/>
                          <a:ea typeface="微软雅黑" panose="020B0503020204020204" pitchFamily="34" charset="-122"/>
                          <a:sym typeface="+mn-ea"/>
                        </a:rPr>
                        <a:t>2.5</a:t>
                      </a:r>
                      <a:r>
                        <a:rPr lang="zh-CN" altLang="en-US" sz="800" dirty="0">
                          <a:solidFill>
                            <a:srgbClr val="000000"/>
                          </a:solidFill>
                          <a:effectLst/>
                          <a:latin typeface="微软雅黑" panose="020B0503020204020204" pitchFamily="34" charset="-122"/>
                          <a:ea typeface="微软雅黑" panose="020B0503020204020204" pitchFamily="34" charset="-122"/>
                          <a:sym typeface="+mn-ea"/>
                        </a:rPr>
                        <a:t>，但</a:t>
                      </a:r>
                      <a:r>
                        <a:rPr lang="en-US" altLang="zh-CN" sz="800" dirty="0">
                          <a:solidFill>
                            <a:srgbClr val="000000"/>
                          </a:solidFill>
                          <a:effectLst/>
                          <a:latin typeface="微软雅黑" panose="020B0503020204020204" pitchFamily="34" charset="-122"/>
                          <a:ea typeface="微软雅黑" panose="020B0503020204020204" pitchFamily="34" charset="-122"/>
                          <a:sym typeface="+mn-ea"/>
                        </a:rPr>
                        <a:t>eagle</a:t>
                      </a:r>
                      <a:r>
                        <a:rPr lang="zh-CN" altLang="en-US" sz="800" dirty="0">
                          <a:solidFill>
                            <a:srgbClr val="000000"/>
                          </a:solidFill>
                          <a:effectLst/>
                          <a:latin typeface="微软雅黑" panose="020B0503020204020204" pitchFamily="34" charset="-122"/>
                          <a:ea typeface="微软雅黑" panose="020B0503020204020204" pitchFamily="34" charset="-122"/>
                          <a:sym typeface="+mn-ea"/>
                        </a:rPr>
                        <a:t>权重未开源需重新训练已达最优性能</a:t>
                      </a:r>
                      <a:endParaRPr lang="en-US" altLang="zh-CN"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35972" marR="35972" marT="35972" marB="35972" anchor="ctr">
                    <a:solidFill>
                      <a:srgbClr val="E2F0D9">
                        <a:alpha val="100000"/>
                      </a:srgbClr>
                    </a:solidFill>
                  </a:tcPr>
                </a:tc>
                <a:extLst>
                  <a:ext uri="{0D108BD9-81ED-4DB2-BD59-A6C34878D82A}">
                    <a16:rowId xmlns:a16="http://schemas.microsoft.com/office/drawing/2014/main" val="10010"/>
                  </a:ext>
                </a:extLst>
              </a:tr>
            </a:tbl>
          </a:graphicData>
        </a:graphic>
      </p:graphicFrame>
      <p:sp>
        <p:nvSpPr>
          <p:cNvPr id="42" name="副标题 1"/>
          <p:cNvSpPr txBox="1"/>
          <p:nvPr/>
        </p:nvSpPr>
        <p:spPr>
          <a:xfrm>
            <a:off x="9852838" y="1561018"/>
            <a:ext cx="2259109" cy="5297050"/>
          </a:xfrm>
          <a:prstGeom prst="rect">
            <a:avLst/>
          </a:prstGeom>
          <a:solidFill>
            <a:srgbClr val="FFFFFF">
              <a:alpha val="100000"/>
            </a:srgbClr>
          </a:solidFill>
        </p:spPr>
        <p:txBody>
          <a:bodyPr lIns="0" tIns="0" rIns="0" bIns="0" anchor="t">
            <a:normAutofit fontScale="90000" lnSpcReduction="20000"/>
          </a:bodyPr>
          <a:lstStyle>
            <a:lvl1pPr marL="0" indent="0" algn="l" defTabSz="1186815" rtl="0" eaLnBrk="1" latinLnBrk="0" hangingPunct="1">
              <a:lnSpc>
                <a:spcPts val="3430"/>
              </a:lnSpc>
              <a:spcBef>
                <a:spcPts val="0"/>
              </a:spcBef>
              <a:buFont typeface="Arial" panose="020B0604020202020204" pitchFamily="34" charset="0"/>
              <a:buNone/>
              <a:defRPr sz="3200" kern="1200" baseline="0">
                <a:solidFill>
                  <a:schemeClr val="tx1"/>
                </a:solidFill>
                <a:latin typeface="微软雅黑" panose="020B0503020204020204" pitchFamily="34" charset="-122"/>
                <a:ea typeface="微软雅黑" panose="020B0503020204020204" pitchFamily="34" charset="-122"/>
                <a:cs typeface="+mn-cs"/>
              </a:defRPr>
            </a:lvl1pPr>
            <a:lvl2pPr marL="593725" indent="0" algn="ctr" defTabSz="1186815" rtl="0" eaLnBrk="1" latinLnBrk="0" hangingPunct="1">
              <a:lnSpc>
                <a:spcPct val="90000"/>
              </a:lnSpc>
              <a:spcBef>
                <a:spcPts val="650"/>
              </a:spcBef>
              <a:buFont typeface="Arial" panose="020B0604020202020204" pitchFamily="34" charset="0"/>
              <a:buNone/>
              <a:defRPr sz="2595" kern="1200">
                <a:solidFill>
                  <a:schemeClr val="tx1"/>
                </a:solidFill>
                <a:latin typeface="+mn-lt"/>
                <a:ea typeface="+mn-ea"/>
                <a:cs typeface="+mn-cs"/>
              </a:defRPr>
            </a:lvl2pPr>
            <a:lvl3pPr marL="1186815" indent="0" algn="ctr" defTabSz="1186815" rtl="0" eaLnBrk="1" latinLnBrk="0" hangingPunct="1">
              <a:lnSpc>
                <a:spcPct val="90000"/>
              </a:lnSpc>
              <a:spcBef>
                <a:spcPts val="650"/>
              </a:spcBef>
              <a:buFont typeface="Arial" panose="020B0604020202020204" pitchFamily="34" charset="0"/>
              <a:buNone/>
              <a:defRPr sz="2335" kern="1200">
                <a:solidFill>
                  <a:schemeClr val="tx1"/>
                </a:solidFill>
                <a:latin typeface="+mn-lt"/>
                <a:ea typeface="+mn-ea"/>
                <a:cs typeface="+mn-cs"/>
              </a:defRPr>
            </a:lvl3pPr>
            <a:lvl4pPr marL="1780540" indent="0" algn="ctr" defTabSz="1186815" rtl="0" eaLnBrk="1" latinLnBrk="0" hangingPunct="1">
              <a:lnSpc>
                <a:spcPct val="90000"/>
              </a:lnSpc>
              <a:spcBef>
                <a:spcPts val="650"/>
              </a:spcBef>
              <a:buFont typeface="Arial" panose="020B0604020202020204" pitchFamily="34" charset="0"/>
              <a:buNone/>
              <a:defRPr sz="2075" kern="1200">
                <a:solidFill>
                  <a:schemeClr val="tx1"/>
                </a:solidFill>
                <a:latin typeface="+mn-lt"/>
                <a:ea typeface="+mn-ea"/>
                <a:cs typeface="+mn-cs"/>
              </a:defRPr>
            </a:lvl4pPr>
            <a:lvl5pPr marL="2373630" indent="0" algn="ctr" defTabSz="1186815" rtl="0" eaLnBrk="1" latinLnBrk="0" hangingPunct="1">
              <a:lnSpc>
                <a:spcPct val="90000"/>
              </a:lnSpc>
              <a:spcBef>
                <a:spcPts val="650"/>
              </a:spcBef>
              <a:buFont typeface="Arial" panose="020B0604020202020204" pitchFamily="34" charset="0"/>
              <a:buNone/>
              <a:defRPr sz="2075" kern="1200">
                <a:solidFill>
                  <a:schemeClr val="tx1"/>
                </a:solidFill>
                <a:latin typeface="+mn-lt"/>
                <a:ea typeface="+mn-ea"/>
                <a:cs typeface="+mn-cs"/>
              </a:defRPr>
            </a:lvl5pPr>
            <a:lvl6pPr marL="2967355" indent="0" algn="ctr" defTabSz="1186815" rtl="0" eaLnBrk="1" latinLnBrk="0" hangingPunct="1">
              <a:lnSpc>
                <a:spcPct val="90000"/>
              </a:lnSpc>
              <a:spcBef>
                <a:spcPts val="650"/>
              </a:spcBef>
              <a:buFont typeface="Arial" panose="020B0604020202020204" pitchFamily="34" charset="0"/>
              <a:buNone/>
              <a:defRPr sz="2075" kern="1200">
                <a:solidFill>
                  <a:schemeClr val="tx1"/>
                </a:solidFill>
                <a:latin typeface="+mn-lt"/>
                <a:ea typeface="+mn-ea"/>
                <a:cs typeface="+mn-cs"/>
              </a:defRPr>
            </a:lvl6pPr>
            <a:lvl7pPr marL="3560445" indent="0" algn="ctr" defTabSz="1186815" rtl="0" eaLnBrk="1" latinLnBrk="0" hangingPunct="1">
              <a:lnSpc>
                <a:spcPct val="90000"/>
              </a:lnSpc>
              <a:spcBef>
                <a:spcPts val="650"/>
              </a:spcBef>
              <a:buFont typeface="Arial" panose="020B0604020202020204" pitchFamily="34" charset="0"/>
              <a:buNone/>
              <a:defRPr sz="2075" kern="1200">
                <a:solidFill>
                  <a:schemeClr val="tx1"/>
                </a:solidFill>
                <a:latin typeface="+mn-lt"/>
                <a:ea typeface="+mn-ea"/>
                <a:cs typeface="+mn-cs"/>
              </a:defRPr>
            </a:lvl7pPr>
            <a:lvl8pPr marL="4154170" indent="0" algn="ctr" defTabSz="1186815" rtl="0" eaLnBrk="1" latinLnBrk="0" hangingPunct="1">
              <a:lnSpc>
                <a:spcPct val="90000"/>
              </a:lnSpc>
              <a:spcBef>
                <a:spcPts val="650"/>
              </a:spcBef>
              <a:buFont typeface="Arial" panose="020B0604020202020204" pitchFamily="34" charset="0"/>
              <a:buNone/>
              <a:defRPr sz="2075" kern="1200">
                <a:solidFill>
                  <a:schemeClr val="tx1"/>
                </a:solidFill>
                <a:latin typeface="+mn-lt"/>
                <a:ea typeface="+mn-ea"/>
                <a:cs typeface="+mn-cs"/>
              </a:defRPr>
            </a:lvl8pPr>
            <a:lvl9pPr marL="4747260" indent="0" algn="ctr" defTabSz="1186815" rtl="0" eaLnBrk="1" latinLnBrk="0" hangingPunct="1">
              <a:lnSpc>
                <a:spcPct val="90000"/>
              </a:lnSpc>
              <a:spcBef>
                <a:spcPts val="650"/>
              </a:spcBef>
              <a:buFont typeface="Arial" panose="020B0604020202020204" pitchFamily="34" charset="0"/>
              <a:buNone/>
              <a:defRPr sz="2075" kern="1200">
                <a:solidFill>
                  <a:schemeClr val="tx1"/>
                </a:solidFill>
                <a:latin typeface="+mn-lt"/>
                <a:ea typeface="+mn-ea"/>
                <a:cs typeface="+mn-cs"/>
              </a:defRPr>
            </a:lvl9pPr>
          </a:lstStyle>
          <a:p>
            <a:pPr marL="0" marR="0" lvl="0" indent="0" algn="ctr" defTabSz="1186815" rtl="0" eaLnBrk="1" fontAlgn="auto" latinLnBrk="0" hangingPunct="1">
              <a:lnSpc>
                <a:spcPct val="140000"/>
              </a:lnSpc>
              <a:spcBef>
                <a:spcPts val="0"/>
              </a:spcBef>
              <a:spcAft>
                <a:spcPts val="0"/>
              </a:spcAft>
              <a:buClrTx/>
              <a:buSzTx/>
              <a:buFont typeface="Arial" panose="020B0604020202020204" pitchFamily="34" charset="0"/>
              <a:buNone/>
              <a:defRPr/>
            </a:pPr>
            <a:r>
              <a:rPr kumimoji="0" lang="zh-CN" altLang="en-US" sz="14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近期</a:t>
            </a:r>
            <a:r>
              <a:rPr kumimoji="0" lang="en-US" altLang="zh-CN" sz="14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A3</a:t>
            </a:r>
            <a:r>
              <a:rPr kumimoji="0" lang="zh-CN" altLang="en-US" sz="14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模型适配总结：</a:t>
            </a:r>
          </a:p>
          <a:p>
            <a:pPr marL="0" marR="0" lvl="0" indent="0" algn="ctr" defTabSz="1186815" rtl="0" eaLnBrk="1" fontAlgn="auto" latinLnBrk="0" hangingPunct="1">
              <a:lnSpc>
                <a:spcPct val="140000"/>
              </a:lnSpc>
              <a:spcBef>
                <a:spcPts val="0"/>
              </a:spcBef>
              <a:spcAft>
                <a:spcPts val="0"/>
              </a:spcAft>
              <a:buClrTx/>
              <a:buSzTx/>
              <a:buFont typeface="Arial" panose="020B0604020202020204" pitchFamily="34" charset="0"/>
              <a:buNone/>
              <a:defRPr/>
            </a:pPr>
            <a:r>
              <a:rPr lang="zh-CN" altLang="en-US" sz="1200" b="1" noProof="0" dirty="0">
                <a:ln>
                  <a:noFill/>
                </a:ln>
                <a:solidFill>
                  <a:srgbClr val="000000"/>
                </a:solidFill>
                <a:effectLst/>
                <a:uLnTx/>
                <a:uFillTx/>
                <a:latin typeface="微软雅黑" charset="0"/>
                <a:ea typeface="微软雅黑" charset="0"/>
                <a:cs typeface="+mn-cs"/>
              </a:rPr>
              <a:t>整体实现</a:t>
            </a:r>
            <a:r>
              <a:rPr lang="en-US" altLang="zh-CN" sz="1200" b="1" noProof="0" dirty="0">
                <a:ln>
                  <a:noFill/>
                </a:ln>
                <a:solidFill>
                  <a:srgbClr val="000000"/>
                </a:solidFill>
                <a:effectLst/>
                <a:uLnTx/>
                <a:uFillTx/>
                <a:latin typeface="微软雅黑" charset="0"/>
                <a:ea typeface="微软雅黑" charset="0"/>
                <a:cs typeface="+mn-cs"/>
              </a:rPr>
              <a:t>Day0</a:t>
            </a:r>
            <a:r>
              <a:rPr lang="zh-CN" altLang="en-US" sz="1200" b="1" noProof="0" dirty="0">
                <a:ln>
                  <a:noFill/>
                </a:ln>
                <a:solidFill>
                  <a:srgbClr val="000000"/>
                </a:solidFill>
                <a:effectLst/>
                <a:uLnTx/>
                <a:uFillTx/>
                <a:latin typeface="微软雅黑" charset="0"/>
                <a:ea typeface="微软雅黑" charset="0"/>
                <a:cs typeface="+mn-cs"/>
              </a:rPr>
              <a:t>可用，</a:t>
            </a:r>
          </a:p>
          <a:p>
            <a:pPr marL="0" marR="0" lvl="0" indent="0" algn="ctr" defTabSz="1186815" rtl="0" eaLnBrk="1" fontAlgn="auto" latinLnBrk="0" hangingPunct="1">
              <a:lnSpc>
                <a:spcPct val="140000"/>
              </a:lnSpc>
              <a:spcBef>
                <a:spcPts val="0"/>
              </a:spcBef>
              <a:spcAft>
                <a:spcPts val="0"/>
              </a:spcAft>
              <a:buClrTx/>
              <a:buSzTx/>
              <a:buFont typeface="Arial" panose="020B0604020202020204" pitchFamily="34" charset="0"/>
              <a:buNone/>
              <a:defRPr/>
            </a:pPr>
            <a:r>
              <a:rPr lang="zh-CN" altLang="en-US" sz="1200" b="1" noProof="0" dirty="0">
                <a:ln>
                  <a:noFill/>
                </a:ln>
                <a:solidFill>
                  <a:srgbClr val="000000"/>
                </a:solidFill>
                <a:effectLst/>
                <a:uLnTx/>
                <a:uFillTx/>
                <a:latin typeface="微软雅黑" charset="0"/>
                <a:ea typeface="微软雅黑" charset="0"/>
                <a:cs typeface="+mn-cs"/>
              </a:rPr>
              <a:t>模型结构变化大小</a:t>
            </a:r>
            <a:r>
              <a:rPr lang="en-US" altLang="zh-CN" sz="1200" b="1" noProof="0" dirty="0">
                <a:ln>
                  <a:noFill/>
                </a:ln>
                <a:solidFill>
                  <a:srgbClr val="000000"/>
                </a:solidFill>
                <a:effectLst/>
                <a:uLnTx/>
                <a:uFillTx/>
                <a:latin typeface="微软雅黑" charset="0"/>
                <a:ea typeface="微软雅黑" charset="0"/>
                <a:cs typeface="+mn-cs"/>
              </a:rPr>
              <a:t>,</a:t>
            </a:r>
          </a:p>
          <a:p>
            <a:pPr marL="0" marR="0" lvl="0" indent="0" algn="ctr" defTabSz="1186815" rtl="0" eaLnBrk="1" fontAlgn="auto" latinLnBrk="0" hangingPunct="1">
              <a:lnSpc>
                <a:spcPct val="140000"/>
              </a:lnSpc>
              <a:spcBef>
                <a:spcPts val="0"/>
              </a:spcBef>
              <a:spcAft>
                <a:spcPts val="0"/>
              </a:spcAft>
              <a:buClrTx/>
              <a:buSzTx/>
              <a:buFont typeface="Arial" panose="020B0604020202020204" pitchFamily="34" charset="0"/>
              <a:buNone/>
              <a:defRPr/>
            </a:pPr>
            <a:r>
              <a:rPr lang="zh-CN" altLang="en-US" sz="1200" b="1" noProof="0" dirty="0">
                <a:ln>
                  <a:noFill/>
                </a:ln>
                <a:solidFill>
                  <a:srgbClr val="000000"/>
                </a:solidFill>
                <a:effectLst/>
                <a:uLnTx/>
                <a:uFillTx/>
                <a:latin typeface="微软雅黑" charset="0"/>
                <a:ea typeface="微软雅黑" charset="0"/>
                <a:cs typeface="+mn-cs"/>
              </a:rPr>
              <a:t>不同的优化</a:t>
            </a:r>
            <a:r>
              <a:rPr lang="en-US" altLang="zh-CN" sz="1200" b="1" noProof="0" dirty="0">
                <a:ln>
                  <a:noFill/>
                </a:ln>
                <a:solidFill>
                  <a:srgbClr val="000000"/>
                </a:solidFill>
                <a:effectLst/>
                <a:uLnTx/>
                <a:uFillTx/>
                <a:latin typeface="微软雅黑" charset="0"/>
                <a:ea typeface="微软雅黑" charset="0"/>
                <a:cs typeface="+mn-cs"/>
              </a:rPr>
              <a:t>/</a:t>
            </a:r>
            <a:r>
              <a:rPr lang="zh-CN" altLang="en-US" sz="1200" b="1" noProof="0" dirty="0">
                <a:ln>
                  <a:noFill/>
                </a:ln>
                <a:solidFill>
                  <a:srgbClr val="000000"/>
                </a:solidFill>
                <a:effectLst/>
                <a:uLnTx/>
                <a:uFillTx/>
                <a:latin typeface="微软雅黑" charset="0"/>
                <a:ea typeface="微软雅黑" charset="0"/>
                <a:cs typeface="+mn-cs"/>
              </a:rPr>
              <a:t>验证周期：</a:t>
            </a:r>
            <a:endParaRPr kumimoji="0" lang="en-US" altLang="zh-CN" sz="1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marL="0" marR="0" lvl="0" indent="0" algn="l" defTabSz="1186815" rtl="0" eaLnBrk="1" fontAlgn="auto" latinLnBrk="0" hangingPunct="1">
              <a:lnSpc>
                <a:spcPct val="140000"/>
              </a:lnSpc>
              <a:spcBef>
                <a:spcPts val="0"/>
              </a:spcBef>
              <a:spcAft>
                <a:spcPts val="0"/>
              </a:spcAft>
              <a:buClrTx/>
              <a:buSzTx/>
              <a:buFont typeface="Arial" panose="020B0604020202020204" pitchFamily="34" charset="0"/>
              <a:buNone/>
              <a:defRPr/>
            </a:pPr>
            <a:endParaRPr kumimoji="0" lang="zh-CN" altLang="en-US" sz="1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a:p>
            <a:pPr marL="0" marR="0" lvl="0" indent="0" algn="ctr" defTabSz="1186815" rtl="0" eaLnBrk="1" fontAlgn="auto" latinLnBrk="0" hangingPunct="1">
              <a:lnSpc>
                <a:spcPct val="140000"/>
              </a:lnSpc>
              <a:spcBef>
                <a:spcPts val="0"/>
              </a:spcBef>
              <a:spcAft>
                <a:spcPts val="0"/>
              </a:spcAft>
              <a:buClrTx/>
              <a:buSzTx/>
              <a:buFont typeface="Arial" panose="020B0604020202020204" pitchFamily="34" charset="0"/>
              <a:buNone/>
              <a:defRPr/>
            </a:pPr>
            <a:r>
              <a:rPr kumimoji="0" lang="zh-CN" altLang="en-US" sz="1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① 结构变化小，直接复用</a:t>
            </a:r>
          </a:p>
          <a:p>
            <a:pPr marL="0" marR="0" lvl="0" indent="0" algn="ctr" defTabSz="1186815" rtl="0" eaLnBrk="1" fontAlgn="auto" latinLnBrk="0" hangingPunct="1">
              <a:lnSpc>
                <a:spcPct val="140000"/>
              </a:lnSpc>
              <a:spcBef>
                <a:spcPts val="0"/>
              </a:spcBef>
              <a:spcAft>
                <a:spcPts val="0"/>
              </a:spcAft>
              <a:buClrTx/>
              <a:buSzTx/>
              <a:buFont typeface="Arial" panose="020B0604020202020204" pitchFamily="34" charset="0"/>
              <a:buNone/>
              <a:defRPr/>
            </a:pPr>
            <a:r>
              <a:rPr kumimoji="0" lang="zh-CN" altLang="en-US" sz="1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（性能优化+验证平均</a:t>
            </a:r>
            <a:r>
              <a:rPr kumimoji="0" lang="en-US" altLang="zh-CN" sz="1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2~5</a:t>
            </a:r>
            <a:r>
              <a:rPr kumimoji="0" lang="zh-CN" altLang="en-US" sz="1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天）</a:t>
            </a:r>
            <a:endParaRPr kumimoji="0" lang="en-US" altLang="zh-CN" sz="1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a:p>
            <a:pPr marL="0" marR="0" lvl="0" indent="0" algn="l" defTabSz="1186815" rtl="0" eaLnBrk="1" fontAlgn="auto" latinLnBrk="0" hangingPunct="1">
              <a:lnSpc>
                <a:spcPct val="140000"/>
              </a:lnSpc>
              <a:spcBef>
                <a:spcPts val="0"/>
              </a:spcBef>
              <a:spcAft>
                <a:spcPts val="0"/>
              </a:spcAft>
              <a:buClrTx/>
              <a:buSzTx/>
              <a:buFont typeface="Arial" panose="020B0604020202020204" pitchFamily="34" charset="0"/>
              <a:buNone/>
              <a:defRPr/>
            </a:pPr>
            <a:r>
              <a:rPr kumimoji="0" lang="zh-CN" altLang="en-US" sz="12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针对模型结构变化小的模型，在当前现有框架特性能力增强后，</a:t>
            </a:r>
            <a:r>
              <a:rPr kumimoji="0" lang="zh-CN" altLang="en-US" sz="12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可直接复用框架</a:t>
            </a:r>
            <a:r>
              <a:rPr kumimoji="0" lang="en-US" altLang="zh-CN" sz="12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a:t>
            </a:r>
            <a:r>
              <a:rPr kumimoji="0" lang="zh-CN" altLang="en-US" sz="12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算子能力。</a:t>
            </a:r>
          </a:p>
          <a:p>
            <a:pPr marL="0" marR="0" lvl="0" indent="0" algn="l" defTabSz="1186815" rtl="0" eaLnBrk="1" fontAlgn="auto" latinLnBrk="0" hangingPunct="1">
              <a:lnSpc>
                <a:spcPct val="140000"/>
              </a:lnSpc>
              <a:spcBef>
                <a:spcPts val="0"/>
              </a:spcBef>
              <a:spcAft>
                <a:spcPts val="0"/>
              </a:spcAft>
              <a:buClrTx/>
              <a:buSzTx/>
              <a:buFont typeface="Arial" panose="020B0604020202020204" pitchFamily="34" charset="0"/>
              <a:buNone/>
              <a:defRPr/>
            </a:pPr>
            <a:endParaRPr kumimoji="0" lang="zh-CN" altLang="en-US" sz="12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a:p>
            <a:pPr marL="0" marR="0" lvl="0" indent="0" algn="ctr" defTabSz="1186815" rtl="0" eaLnBrk="1" fontAlgn="auto" latinLnBrk="0" hangingPunct="1">
              <a:lnSpc>
                <a:spcPct val="140000"/>
              </a:lnSpc>
              <a:spcBef>
                <a:spcPts val="0"/>
              </a:spcBef>
              <a:spcAft>
                <a:spcPts val="0"/>
              </a:spcAft>
              <a:buClrTx/>
              <a:buSzTx/>
              <a:buFont typeface="Arial" panose="020B0604020202020204" pitchFamily="34" charset="0"/>
              <a:buNone/>
              <a:defRPr/>
            </a:pPr>
            <a:r>
              <a:rPr lang="zh-CN" altLang="en-US" sz="1200" b="1" noProof="0" dirty="0">
                <a:ln>
                  <a:noFill/>
                </a:ln>
                <a:solidFill>
                  <a:srgbClr val="C00000"/>
                </a:solidFill>
                <a:effectLst/>
                <a:uLnTx/>
                <a:uFillTx/>
                <a:latin typeface="微软雅黑" charset="0"/>
                <a:ea typeface="微软雅黑" charset="0"/>
                <a:cs typeface="+mn-cs"/>
              </a:rPr>
              <a:t>② 结构变化中，部分可复用</a:t>
            </a:r>
          </a:p>
          <a:p>
            <a:pPr marL="0" marR="0" lvl="0" indent="0" algn="ctr" defTabSz="1186815" rtl="0" eaLnBrk="1" fontAlgn="auto" latinLnBrk="0" hangingPunct="1">
              <a:lnSpc>
                <a:spcPct val="140000"/>
              </a:lnSpc>
              <a:spcBef>
                <a:spcPts val="0"/>
              </a:spcBef>
              <a:spcAft>
                <a:spcPts val="0"/>
              </a:spcAft>
              <a:buClrTx/>
              <a:buSzTx/>
              <a:buFont typeface="Arial" panose="020B0604020202020204" pitchFamily="34" charset="0"/>
              <a:buNone/>
              <a:defRPr/>
            </a:pPr>
            <a:r>
              <a:rPr lang="zh-CN" altLang="en-US" sz="1200" b="1" noProof="0" dirty="0">
                <a:ln>
                  <a:noFill/>
                </a:ln>
                <a:solidFill>
                  <a:srgbClr val="C00000"/>
                </a:solidFill>
                <a:effectLst/>
                <a:uLnTx/>
                <a:uFillTx/>
                <a:latin typeface="微软雅黑" charset="0"/>
                <a:ea typeface="微软雅黑" charset="0"/>
                <a:cs typeface="+mn-cs"/>
              </a:rPr>
              <a:t>（性能优化+验证平均</a:t>
            </a:r>
            <a:r>
              <a:rPr lang="en-US" altLang="zh-CN" sz="1200" b="1" noProof="0" dirty="0">
                <a:ln>
                  <a:noFill/>
                </a:ln>
                <a:solidFill>
                  <a:srgbClr val="C00000"/>
                </a:solidFill>
                <a:effectLst/>
                <a:uLnTx/>
                <a:uFillTx/>
                <a:latin typeface="微软雅黑" charset="0"/>
                <a:ea typeface="微软雅黑" charset="0"/>
                <a:cs typeface="+mn-cs"/>
              </a:rPr>
              <a:t>1.5~2</a:t>
            </a:r>
            <a:r>
              <a:rPr lang="zh-CN" altLang="en-US" sz="1200" b="1" noProof="0" dirty="0">
                <a:ln>
                  <a:noFill/>
                </a:ln>
                <a:solidFill>
                  <a:srgbClr val="C00000"/>
                </a:solidFill>
                <a:effectLst/>
                <a:uLnTx/>
                <a:uFillTx/>
                <a:latin typeface="微软雅黑" charset="0"/>
                <a:ea typeface="微软雅黑" charset="0"/>
                <a:cs typeface="+mn-cs"/>
              </a:rPr>
              <a:t>周）</a:t>
            </a:r>
            <a:endParaRPr lang="zh-CN" altLang="en-US" sz="1200" noProof="0" dirty="0">
              <a:ln>
                <a:noFill/>
              </a:ln>
              <a:solidFill>
                <a:srgbClr val="000000"/>
              </a:solidFill>
              <a:effectLst/>
              <a:uLnTx/>
              <a:uFillTx/>
              <a:latin typeface="微软雅黑" charset="0"/>
              <a:ea typeface="微软雅黑" charset="0"/>
              <a:cs typeface="+mn-cs"/>
            </a:endParaRPr>
          </a:p>
          <a:p>
            <a:pPr marL="0" marR="0" lvl="0" indent="0" algn="l" defTabSz="1186815" rtl="0" eaLnBrk="1" fontAlgn="auto" latinLnBrk="0" hangingPunct="1">
              <a:lnSpc>
                <a:spcPct val="140000"/>
              </a:lnSpc>
              <a:spcBef>
                <a:spcPts val="0"/>
              </a:spcBef>
              <a:spcAft>
                <a:spcPts val="0"/>
              </a:spcAft>
              <a:buClrTx/>
              <a:buSzTx/>
              <a:buFont typeface="Arial" panose="020B0604020202020204" pitchFamily="34" charset="0"/>
              <a:buNone/>
              <a:defRPr/>
            </a:pPr>
            <a:r>
              <a:rPr kumimoji="0" lang="zh-CN" altLang="en-US" sz="1200" i="0" u="none" strike="noStrike" kern="1200" cap="none" spc="0" normalizeH="0" baseline="0" noProof="0" dirty="0">
                <a:ln>
                  <a:noFill/>
                </a:ln>
                <a:solidFill>
                  <a:srgbClr val="000000"/>
                </a:solidFill>
                <a:effectLst/>
                <a:uLnTx/>
                <a:uFillTx/>
                <a:latin typeface="微软雅黑" charset="0"/>
                <a:ea typeface="微软雅黑" charset="0"/>
                <a:cs typeface="+mn-cs"/>
              </a:rPr>
              <a:t>针对模型的结构变化中的模型，需要</a:t>
            </a:r>
            <a:r>
              <a:rPr kumimoji="0" lang="zh-CN" altLang="en-US" sz="1200" i="0" u="none" strike="noStrike" kern="1200" cap="none" spc="0" normalizeH="0" baseline="0" noProof="0" dirty="0">
                <a:ln>
                  <a:noFill/>
                </a:ln>
                <a:solidFill>
                  <a:srgbClr val="C00000"/>
                </a:solidFill>
                <a:effectLst/>
                <a:uLnTx/>
                <a:uFillTx/>
                <a:latin typeface="微软雅黑" charset="0"/>
                <a:ea typeface="微软雅黑" charset="0"/>
                <a:cs typeface="+mn-cs"/>
              </a:rPr>
              <a:t>针对如</a:t>
            </a:r>
            <a:r>
              <a:rPr kumimoji="0" lang="en-US" altLang="zh-CN" sz="1200" i="0" u="none" strike="noStrike" kern="1200" cap="none" spc="0" normalizeH="0" baseline="0" noProof="0" dirty="0">
                <a:ln>
                  <a:noFill/>
                </a:ln>
                <a:solidFill>
                  <a:srgbClr val="C00000"/>
                </a:solidFill>
                <a:effectLst/>
                <a:uLnTx/>
                <a:uFillTx/>
                <a:latin typeface="微软雅黑" charset="0"/>
                <a:ea typeface="微软雅黑" charset="0"/>
                <a:cs typeface="+mn-cs"/>
              </a:rPr>
              <a:t>MTP/Vit/</a:t>
            </a:r>
            <a:r>
              <a:rPr kumimoji="0" lang="zh-CN" altLang="en-US" sz="1200" i="0" u="none" strike="noStrike" kern="1200" cap="none" spc="0" normalizeH="0" baseline="0" noProof="0" dirty="0">
                <a:ln>
                  <a:noFill/>
                </a:ln>
                <a:solidFill>
                  <a:srgbClr val="C00000"/>
                </a:solidFill>
                <a:effectLst/>
                <a:uLnTx/>
                <a:uFillTx/>
                <a:latin typeface="微软雅黑" charset="0"/>
                <a:ea typeface="微软雅黑" charset="0"/>
                <a:cs typeface="+mn-cs"/>
              </a:rPr>
              <a:t>混合结构</a:t>
            </a:r>
            <a:r>
              <a:rPr kumimoji="0" lang="en-US" altLang="zh-CN" sz="1200" i="0" u="none" strike="noStrike" kern="1200" cap="none" spc="0" normalizeH="0" baseline="0" noProof="0" dirty="0">
                <a:ln>
                  <a:noFill/>
                </a:ln>
                <a:solidFill>
                  <a:srgbClr val="C00000"/>
                </a:solidFill>
                <a:effectLst/>
                <a:uLnTx/>
                <a:uFillTx/>
                <a:latin typeface="微软雅黑" charset="0"/>
                <a:ea typeface="微软雅黑" charset="0"/>
                <a:cs typeface="+mn-cs"/>
              </a:rPr>
              <a:t>/</a:t>
            </a:r>
            <a:r>
              <a:rPr kumimoji="0" lang="zh-CN" altLang="en-US" sz="1200" i="0" u="none" strike="noStrike" kern="1200" cap="none" spc="0" normalizeH="0" baseline="0" noProof="0" dirty="0">
                <a:ln>
                  <a:noFill/>
                </a:ln>
                <a:solidFill>
                  <a:srgbClr val="C00000"/>
                </a:solidFill>
                <a:effectLst/>
                <a:uLnTx/>
                <a:uFillTx/>
                <a:latin typeface="微软雅黑" charset="0"/>
                <a:ea typeface="微软雅黑" charset="0"/>
                <a:cs typeface="+mn-cs"/>
              </a:rPr>
              <a:t>投机权重等进行适配和验证</a:t>
            </a:r>
            <a:endParaRPr kumimoji="0" lang="zh-CN" altLang="en-US" sz="120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a:p>
            <a:pPr marL="0" marR="0" lvl="0" indent="0" algn="l" defTabSz="1186815" rtl="0" eaLnBrk="1" fontAlgn="auto" latinLnBrk="0" hangingPunct="1">
              <a:lnSpc>
                <a:spcPct val="140000"/>
              </a:lnSpc>
              <a:spcBef>
                <a:spcPts val="0"/>
              </a:spcBef>
              <a:spcAft>
                <a:spcPts val="0"/>
              </a:spcAft>
              <a:buClrTx/>
              <a:buSzTx/>
              <a:buFont typeface="Arial" panose="020B0604020202020204" pitchFamily="34" charset="0"/>
              <a:buNone/>
              <a:defRPr/>
            </a:pPr>
            <a:endParaRPr kumimoji="0" lang="en-US" altLang="zh-CN" sz="12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a:p>
            <a:pPr marL="0" marR="0" lvl="0" indent="0" algn="ctr" defTabSz="1186815" rtl="0" eaLnBrk="1" fontAlgn="auto" latinLnBrk="0" hangingPunct="1">
              <a:lnSpc>
                <a:spcPct val="140000"/>
              </a:lnSpc>
              <a:spcBef>
                <a:spcPts val="0"/>
              </a:spcBef>
              <a:spcAft>
                <a:spcPts val="0"/>
              </a:spcAft>
              <a:buClrTx/>
              <a:buSzTx/>
              <a:buFont typeface="Arial" panose="020B0604020202020204" pitchFamily="34" charset="0"/>
              <a:buNone/>
              <a:defRPr/>
            </a:pPr>
            <a:r>
              <a:rPr lang="zh-CN" altLang="en-US" sz="1200" b="1" noProof="0" dirty="0">
                <a:ln>
                  <a:noFill/>
                </a:ln>
                <a:solidFill>
                  <a:srgbClr val="C00000"/>
                </a:solidFill>
                <a:effectLst/>
                <a:uLnTx/>
                <a:uFillTx/>
                <a:sym typeface="+mn-ea"/>
              </a:rPr>
              <a:t>③ 结构变化大，不可直接复用</a:t>
            </a:r>
          </a:p>
          <a:p>
            <a:pPr marL="0" marR="0" lvl="0" indent="0" algn="ctr" defTabSz="1186815" rtl="0" eaLnBrk="1" fontAlgn="auto" latinLnBrk="0" hangingPunct="1">
              <a:lnSpc>
                <a:spcPct val="140000"/>
              </a:lnSpc>
              <a:spcBef>
                <a:spcPts val="0"/>
              </a:spcBef>
              <a:spcAft>
                <a:spcPts val="0"/>
              </a:spcAft>
              <a:buClrTx/>
              <a:buSzTx/>
              <a:buFont typeface="Arial" panose="020B0604020202020204" pitchFamily="34" charset="0"/>
              <a:buNone/>
              <a:defRPr/>
            </a:pPr>
            <a:r>
              <a:rPr kumimoji="0" lang="zh-CN" altLang="en-US" sz="1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（性能优化+验证平均</a:t>
            </a:r>
            <a:r>
              <a:rPr kumimoji="0" lang="en-US" altLang="zh-CN" sz="1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3~4</a:t>
            </a:r>
            <a:r>
              <a:rPr kumimoji="0" lang="zh-CN" altLang="en-US" sz="1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周）</a:t>
            </a:r>
            <a:endParaRPr kumimoji="0" lang="en-US" altLang="zh-CN" sz="1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a:p>
            <a:pPr marL="0" marR="0" lvl="0" indent="0" algn="l" defTabSz="1186815" rtl="0" eaLnBrk="1" fontAlgn="auto" latinLnBrk="0" hangingPunct="1">
              <a:lnSpc>
                <a:spcPct val="140000"/>
              </a:lnSpc>
              <a:spcBef>
                <a:spcPts val="0"/>
              </a:spcBef>
              <a:spcAft>
                <a:spcPts val="0"/>
              </a:spcAft>
              <a:buClrTx/>
              <a:buSzTx/>
              <a:buFont typeface="Arial" panose="020B0604020202020204" pitchFamily="34" charset="0"/>
              <a:buNone/>
              <a:defRPr/>
            </a:pPr>
            <a:r>
              <a:rPr lang="zh-CN" altLang="en-US" sz="1200" noProof="0" dirty="0">
                <a:ln>
                  <a:noFill/>
                </a:ln>
                <a:solidFill>
                  <a:srgbClr val="1D1D1A"/>
                </a:solidFill>
                <a:effectLst/>
                <a:uLnTx/>
                <a:uFillTx/>
                <a:sym typeface="+mn-ea"/>
              </a:rPr>
              <a:t>针对于结构创新点多，结构变化大的模型，如</a:t>
            </a:r>
            <a:r>
              <a:rPr lang="en-US" altLang="zh-CN" sz="1200" noProof="0" dirty="0" err="1">
                <a:ln>
                  <a:noFill/>
                </a:ln>
                <a:solidFill>
                  <a:srgbClr val="1D1D1A"/>
                </a:solidFill>
                <a:effectLst/>
                <a:uLnTx/>
                <a:uFillTx/>
                <a:sym typeface="+mn-ea"/>
              </a:rPr>
              <a:t>DeepSeek</a:t>
            </a:r>
            <a:r>
              <a:rPr lang="en-US" altLang="zh-CN" sz="1200" noProof="0" dirty="0">
                <a:ln>
                  <a:noFill/>
                </a:ln>
                <a:solidFill>
                  <a:srgbClr val="1D1D1A"/>
                </a:solidFill>
                <a:effectLst/>
                <a:uLnTx/>
                <a:uFillTx/>
                <a:sym typeface="+mn-ea"/>
              </a:rPr>
              <a:t> v4</a:t>
            </a:r>
            <a:r>
              <a:rPr lang="zh-CN" altLang="en-US" sz="1200" noProof="0" dirty="0">
                <a:ln>
                  <a:noFill/>
                </a:ln>
                <a:solidFill>
                  <a:srgbClr val="1D1D1A"/>
                </a:solidFill>
                <a:effectLst/>
                <a:uLnTx/>
                <a:uFillTx/>
                <a:sym typeface="+mn-ea"/>
              </a:rPr>
              <a:t>：</a:t>
            </a:r>
            <a:endParaRPr kumimoji="0" lang="en-US" altLang="zh-CN" sz="12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endParaRPr>
          </a:p>
          <a:p>
            <a:pPr marL="0" marR="0" lvl="0" indent="0" algn="l" defTabSz="1186815" rtl="0" eaLnBrk="1" fontAlgn="auto" latinLnBrk="0" hangingPunct="1">
              <a:lnSpc>
                <a:spcPct val="140000"/>
              </a:lnSpc>
              <a:spcBef>
                <a:spcPts val="0"/>
              </a:spcBef>
              <a:spcAft>
                <a:spcPts val="0"/>
              </a:spcAft>
              <a:buClrTx/>
              <a:buSzTx/>
              <a:buFont typeface="Arial" panose="020B0604020202020204" pitchFamily="34" charset="0"/>
              <a:buNone/>
              <a:defRPr/>
            </a:pPr>
            <a:r>
              <a:rPr lang="en-US" altLang="zh-CN" sz="1200" b="1" noProof="0" dirty="0">
                <a:ln>
                  <a:noFill/>
                </a:ln>
                <a:solidFill>
                  <a:srgbClr val="1D1D1A"/>
                </a:solidFill>
                <a:effectLst/>
                <a:uLnTx/>
                <a:uFillTx/>
                <a:sym typeface="+mn-ea"/>
              </a:rPr>
              <a:t>1</a:t>
            </a:r>
            <a:r>
              <a:rPr lang="zh-CN" altLang="en-US" sz="1200" b="1" noProof="0" dirty="0">
                <a:ln>
                  <a:noFill/>
                </a:ln>
                <a:solidFill>
                  <a:srgbClr val="1D1D1A"/>
                </a:solidFill>
                <a:effectLst/>
                <a:uLnTx/>
                <a:uFillTx/>
                <a:sym typeface="+mn-ea"/>
              </a:rPr>
              <a:t>、适配工作量：</a:t>
            </a:r>
            <a:r>
              <a:rPr lang="en-US" altLang="zh-CN" sz="1200" noProof="0" dirty="0">
                <a:ln>
                  <a:noFill/>
                </a:ln>
                <a:solidFill>
                  <a:srgbClr val="1D1D1A"/>
                </a:solidFill>
                <a:effectLst/>
                <a:uLnTx/>
                <a:uFillTx/>
                <a:sym typeface="+mn-ea"/>
              </a:rPr>
              <a:t>20+</a:t>
            </a:r>
            <a:r>
              <a:rPr lang="zh-CN" altLang="en-US" sz="1200" noProof="0" dirty="0">
                <a:ln>
                  <a:noFill/>
                </a:ln>
                <a:solidFill>
                  <a:srgbClr val="1D1D1A"/>
                </a:solidFill>
                <a:effectLst/>
                <a:uLnTx/>
                <a:uFillTx/>
                <a:sym typeface="+mn-ea"/>
              </a:rPr>
              <a:t>新算子 及</a:t>
            </a:r>
            <a:r>
              <a:rPr lang="en-US" altLang="zh-CN" sz="1200" noProof="0" dirty="0">
                <a:ln>
                  <a:noFill/>
                </a:ln>
                <a:solidFill>
                  <a:srgbClr val="1D1D1A"/>
                </a:solidFill>
                <a:effectLst/>
                <a:uLnTx/>
                <a:uFillTx/>
                <a:sym typeface="+mn-ea"/>
              </a:rPr>
              <a:t>5K</a:t>
            </a:r>
            <a:r>
              <a:rPr lang="zh-CN" altLang="en-US" sz="1200" noProof="0" dirty="0">
                <a:ln>
                  <a:noFill/>
                </a:ln>
                <a:solidFill>
                  <a:srgbClr val="1D1D1A"/>
                </a:solidFill>
                <a:effectLst/>
                <a:uLnTx/>
                <a:uFillTx/>
                <a:sym typeface="+mn-ea"/>
              </a:rPr>
              <a:t>框架代码）</a:t>
            </a:r>
            <a:endParaRPr kumimoji="0" lang="en-US" altLang="zh-CN" sz="12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endParaRPr>
          </a:p>
          <a:p>
            <a:pPr marL="0" marR="0" lvl="0" indent="0" algn="l" defTabSz="1186815" rtl="0" eaLnBrk="1" fontAlgn="auto" latinLnBrk="0" hangingPunct="1">
              <a:lnSpc>
                <a:spcPct val="140000"/>
              </a:lnSpc>
              <a:spcBef>
                <a:spcPts val="0"/>
              </a:spcBef>
              <a:spcAft>
                <a:spcPts val="0"/>
              </a:spcAft>
              <a:buClrTx/>
              <a:buSzTx/>
              <a:buFont typeface="Arial" panose="020B0604020202020204" pitchFamily="34" charset="0"/>
              <a:buNone/>
              <a:defRPr/>
            </a:pPr>
            <a:r>
              <a:rPr lang="en-US" altLang="zh-CN" sz="1200" b="1" noProof="0" dirty="0">
                <a:ln>
                  <a:noFill/>
                </a:ln>
                <a:solidFill>
                  <a:srgbClr val="1D1D1A"/>
                </a:solidFill>
                <a:effectLst/>
                <a:uLnTx/>
                <a:uFillTx/>
                <a:sym typeface="+mn-ea"/>
              </a:rPr>
              <a:t>2</a:t>
            </a:r>
            <a:r>
              <a:rPr lang="zh-CN" altLang="en-US" sz="1200" b="1" noProof="0" dirty="0">
                <a:ln>
                  <a:noFill/>
                </a:ln>
                <a:solidFill>
                  <a:srgbClr val="1D1D1A"/>
                </a:solidFill>
                <a:effectLst/>
                <a:uLnTx/>
                <a:uFillTx/>
                <a:sym typeface="+mn-ea"/>
              </a:rPr>
              <a:t>、适配效率：</a:t>
            </a:r>
            <a:r>
              <a:rPr lang="en-US" altLang="zh-CN" sz="1200" b="1" noProof="0" dirty="0">
                <a:ln>
                  <a:noFill/>
                </a:ln>
                <a:solidFill>
                  <a:srgbClr val="1D1D1A"/>
                </a:solidFill>
                <a:effectLst/>
                <a:uLnTx/>
                <a:uFillTx/>
                <a:sym typeface="+mn-ea"/>
              </a:rPr>
              <a:t> </a:t>
            </a:r>
            <a:r>
              <a:rPr lang="en-US" altLang="zh-CN" sz="1200" noProof="0" dirty="0" err="1">
                <a:ln>
                  <a:noFill/>
                </a:ln>
                <a:solidFill>
                  <a:srgbClr val="1D1D1A"/>
                </a:solidFill>
                <a:effectLst/>
                <a:uLnTx/>
                <a:uFillTx/>
                <a:sym typeface="+mn-ea"/>
              </a:rPr>
              <a:t>DeepSeek</a:t>
            </a:r>
            <a:r>
              <a:rPr lang="en-US" altLang="zh-CN" sz="1200" noProof="0" dirty="0">
                <a:ln>
                  <a:noFill/>
                </a:ln>
                <a:solidFill>
                  <a:srgbClr val="1D1D1A"/>
                </a:solidFill>
                <a:effectLst/>
                <a:uLnTx/>
                <a:uFillTx/>
                <a:sym typeface="+mn-ea"/>
              </a:rPr>
              <a:t> v4</a:t>
            </a:r>
            <a:r>
              <a:rPr lang="zh-CN" altLang="en-US" sz="1200" noProof="0" dirty="0">
                <a:ln>
                  <a:noFill/>
                </a:ln>
                <a:solidFill>
                  <a:srgbClr val="1D1D1A"/>
                </a:solidFill>
                <a:effectLst/>
                <a:uLnTx/>
                <a:uFillTx/>
                <a:sym typeface="+mn-ea"/>
              </a:rPr>
              <a:t>（</a:t>
            </a:r>
            <a:r>
              <a:rPr lang="en-US" altLang="zh-CN" sz="1200" b="1" noProof="0" dirty="0">
                <a:ln>
                  <a:noFill/>
                </a:ln>
                <a:solidFill>
                  <a:srgbClr val="C00000"/>
                </a:solidFill>
                <a:effectLst/>
                <a:uLnTx/>
                <a:uFillTx/>
                <a:sym typeface="+mn-ea"/>
              </a:rPr>
              <a:t>30</a:t>
            </a:r>
            <a:r>
              <a:rPr lang="zh-CN" altLang="en-US" sz="1200" b="1" noProof="0" dirty="0">
                <a:ln>
                  <a:noFill/>
                </a:ln>
                <a:solidFill>
                  <a:srgbClr val="C00000"/>
                </a:solidFill>
                <a:effectLst/>
                <a:uLnTx/>
                <a:uFillTx/>
                <a:sym typeface="+mn-ea"/>
              </a:rPr>
              <a:t>天</a:t>
            </a:r>
            <a:r>
              <a:rPr lang="zh-CN" altLang="en-US" sz="1200" noProof="0" dirty="0">
                <a:ln>
                  <a:noFill/>
                </a:ln>
                <a:solidFill>
                  <a:srgbClr val="1D1D1A"/>
                </a:solidFill>
                <a:effectLst/>
                <a:uLnTx/>
                <a:uFillTx/>
                <a:sym typeface="+mn-ea"/>
              </a:rPr>
              <a:t>）</a:t>
            </a:r>
            <a:r>
              <a:rPr lang="en-US" altLang="zh-CN" sz="1200" noProof="0" dirty="0">
                <a:ln>
                  <a:noFill/>
                </a:ln>
                <a:solidFill>
                  <a:srgbClr val="1D1D1A"/>
                </a:solidFill>
                <a:effectLst/>
                <a:uLnTx/>
                <a:uFillTx/>
                <a:sym typeface="+mn-ea"/>
              </a:rPr>
              <a:t>  vs </a:t>
            </a:r>
            <a:r>
              <a:rPr lang="en-US" altLang="zh-CN" sz="1200" noProof="0" dirty="0" err="1">
                <a:ln>
                  <a:noFill/>
                </a:ln>
                <a:solidFill>
                  <a:srgbClr val="1D1D1A"/>
                </a:solidFill>
                <a:effectLst/>
                <a:uLnTx/>
                <a:uFillTx/>
                <a:sym typeface="+mn-ea"/>
              </a:rPr>
              <a:t>DeepSeek</a:t>
            </a:r>
            <a:r>
              <a:rPr lang="en-US" altLang="zh-CN" sz="1200" noProof="0" dirty="0">
                <a:ln>
                  <a:noFill/>
                </a:ln>
                <a:solidFill>
                  <a:srgbClr val="1D1D1A"/>
                </a:solidFill>
                <a:effectLst/>
                <a:uLnTx/>
                <a:uFillTx/>
                <a:sym typeface="+mn-ea"/>
              </a:rPr>
              <a:t> v3 </a:t>
            </a:r>
            <a:r>
              <a:rPr lang="zh-CN" altLang="en-US" sz="1200" noProof="0" dirty="0">
                <a:ln>
                  <a:noFill/>
                </a:ln>
                <a:solidFill>
                  <a:srgbClr val="1D1D1A"/>
                </a:solidFill>
                <a:effectLst/>
                <a:uLnTx/>
                <a:uFillTx/>
                <a:sym typeface="+mn-ea"/>
              </a:rPr>
              <a:t>总耗时（</a:t>
            </a:r>
            <a:r>
              <a:rPr lang="en-US" altLang="zh-CN" sz="1200" b="1" noProof="0" dirty="0">
                <a:ln>
                  <a:noFill/>
                </a:ln>
                <a:solidFill>
                  <a:srgbClr val="C00000"/>
                </a:solidFill>
                <a:effectLst/>
                <a:uLnTx/>
                <a:uFillTx/>
                <a:sym typeface="+mn-ea"/>
              </a:rPr>
              <a:t>90</a:t>
            </a:r>
            <a:r>
              <a:rPr lang="zh-CN" altLang="en-US" sz="1200" b="1" noProof="0" dirty="0">
                <a:ln>
                  <a:noFill/>
                </a:ln>
                <a:solidFill>
                  <a:srgbClr val="C00000"/>
                </a:solidFill>
                <a:effectLst/>
                <a:uLnTx/>
                <a:uFillTx/>
                <a:sym typeface="+mn-ea"/>
              </a:rPr>
              <a:t>天</a:t>
            </a:r>
            <a:r>
              <a:rPr lang="zh-CN" altLang="en-US" sz="1200" noProof="0" dirty="0">
                <a:ln>
                  <a:noFill/>
                </a:ln>
                <a:solidFill>
                  <a:srgbClr val="1D1D1A"/>
                </a:solidFill>
                <a:effectLst/>
                <a:uLnTx/>
                <a:uFillTx/>
                <a:sym typeface="+mn-ea"/>
              </a:rPr>
              <a:t>）</a:t>
            </a:r>
            <a:endParaRPr kumimoji="0" lang="zh-CN" altLang="en-US" sz="1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19" name="文本框 18"/>
          <p:cNvSpPr txBox="1"/>
          <p:nvPr/>
        </p:nvSpPr>
        <p:spPr>
          <a:xfrm>
            <a:off x="9783950" y="8846033"/>
            <a:ext cx="2462740" cy="3525873"/>
          </a:xfrm>
          <a:prstGeom prst="rect">
            <a:avLst/>
          </a:prstGeom>
          <a:solidFill>
            <a:srgbClr val="FFFFFF">
              <a:alpha val="100000"/>
            </a:srgbClr>
          </a:solidFill>
        </p:spPr>
        <p:txBody>
          <a:bodyPr wrap="square">
            <a:noAutofit/>
          </a:bodyPr>
          <a:lstStyle/>
          <a:p>
            <a:pPr marL="0" marR="0" lvl="0" indent="0" algn="l" defTabSz="1186815" rtl="0" eaLnBrk="1" fontAlgn="auto" latinLnBrk="0" hangingPunct="1">
              <a:lnSpc>
                <a:spcPct val="100000"/>
              </a:lnSpc>
              <a:spcBef>
                <a:spcPts val="0"/>
              </a:spcBef>
              <a:spcAft>
                <a:spcPts val="0"/>
              </a:spcAft>
              <a:buClrTx/>
              <a:buSzTx/>
              <a:buFont typeface="Arial" panose="020B0604020202020204" pitchFamily="34" charset="0"/>
              <a:buNone/>
              <a:defRPr/>
            </a:pPr>
            <a:endParaRPr kumimoji="0" lang="en-US" altLang="zh-CN" sz="1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10" name="文本框 9"/>
          <p:cNvSpPr txBox="1"/>
          <p:nvPr/>
        </p:nvSpPr>
        <p:spPr>
          <a:xfrm>
            <a:off x="180377" y="430681"/>
            <a:ext cx="4858289" cy="175297"/>
          </a:xfrm>
          <a:prstGeom prst="rect">
            <a:avLst/>
          </a:prstGeom>
          <a:noFill/>
        </p:spPr>
        <p:txBody>
          <a:bodyPr wrap="square" rtlCol="0">
            <a:noAutofit/>
          </a:bodyPr>
          <a:lstStyle/>
          <a:p>
            <a:pPr marL="0" marR="0" lvl="0" indent="0" algn="ctr" defTabSz="1187450" rtl="0" eaLnBrk="1" fontAlgn="ctr" latinLnBrk="0" hangingPunct="1">
              <a:lnSpc>
                <a:spcPct val="100000"/>
              </a:lnSpc>
              <a:spcBef>
                <a:spcPts val="0"/>
              </a:spcBef>
              <a:spcAft>
                <a:spcPts val="0"/>
              </a:spcAft>
              <a:buClrTx/>
              <a:buSzTx/>
              <a:buFontTx/>
              <a:buNone/>
              <a:defRPr/>
            </a:pPr>
            <a:r>
              <a:rPr kumimoji="0" lang="en-US" altLang="zh-CN" sz="1200" b="1" kern="1200" cap="none" spc="0" normalizeH="0" baseline="0" noProof="0" dirty="0">
                <a:ln>
                  <a:noFill/>
                </a:ln>
                <a:solidFill>
                  <a:srgbClr val="C00000"/>
                </a:solidFill>
                <a:effectLst/>
                <a:uLnTx/>
                <a:uFillTx/>
                <a:latin typeface="微软雅黑" charset="0"/>
                <a:ea typeface="微软雅黑" charset="0"/>
                <a:cs typeface="+mn-cs"/>
                <a:sym typeface="+mn-ea"/>
              </a:rPr>
              <a:t>25</a:t>
            </a:r>
            <a:r>
              <a:rPr kumimoji="0" lang="zh-CN" altLang="en-US" sz="1200" b="1" kern="1200" cap="none" spc="0" normalizeH="0" baseline="0" noProof="0" dirty="0">
                <a:ln>
                  <a:noFill/>
                </a:ln>
                <a:solidFill>
                  <a:srgbClr val="C00000"/>
                </a:solidFill>
                <a:effectLst/>
                <a:uLnTx/>
                <a:uFillTx/>
                <a:latin typeface="微软雅黑" charset="0"/>
                <a:ea typeface="微软雅黑" charset="0"/>
                <a:cs typeface="+mn-cs"/>
                <a:sym typeface="+mn-ea"/>
              </a:rPr>
              <a:t>年 </a:t>
            </a:r>
            <a:r>
              <a:rPr kumimoji="0" lang="en-US" altLang="zh-CN" sz="1200" b="1" kern="1200" cap="none" spc="0" normalizeH="0" baseline="0" noProof="0" dirty="0">
                <a:ln>
                  <a:noFill/>
                </a:ln>
                <a:solidFill>
                  <a:srgbClr val="C00000"/>
                </a:solidFill>
                <a:effectLst/>
                <a:uLnTx/>
                <a:uFillTx/>
                <a:latin typeface="微软雅黑" charset="0"/>
                <a:ea typeface="微软雅黑" charset="0"/>
                <a:cs typeface="+mn-cs"/>
                <a:sym typeface="+mn-ea"/>
              </a:rPr>
              <a:t>SOTA</a:t>
            </a:r>
            <a:r>
              <a:rPr kumimoji="0" lang="zh-CN" altLang="en-US" sz="1200" b="1" kern="1200" cap="none" spc="0" normalizeH="0" baseline="0" noProof="0" dirty="0">
                <a:ln>
                  <a:noFill/>
                </a:ln>
                <a:solidFill>
                  <a:srgbClr val="C00000"/>
                </a:solidFill>
                <a:effectLst/>
                <a:uLnTx/>
                <a:uFillTx/>
                <a:latin typeface="微软雅黑" charset="0"/>
                <a:ea typeface="微软雅黑" charset="0"/>
                <a:cs typeface="+mn-cs"/>
                <a:sym typeface="+mn-ea"/>
              </a:rPr>
              <a:t>模型陆续发布，串行开箱</a:t>
            </a:r>
            <a:endParaRPr kumimoji="0" lang="zh-CN" altLang="en-US" sz="1200" b="0" i="0" u="none" strike="noStrike" kern="1200" cap="none" spc="0" normalizeH="0" baseline="0" noProof="0" dirty="0">
              <a:ln>
                <a:noFill/>
              </a:ln>
              <a:solidFill>
                <a:srgbClr val="C00000"/>
              </a:solidFill>
              <a:effectLst/>
              <a:uLnTx/>
              <a:uFillTx/>
              <a:latin typeface="微软雅黑" charset="0"/>
              <a:ea typeface="微软雅黑" charset="0"/>
              <a:cs typeface="+mn-cs"/>
              <a:sym typeface="+mn-ea"/>
            </a:endParaRPr>
          </a:p>
        </p:txBody>
      </p:sp>
      <p:cxnSp>
        <p:nvCxnSpPr>
          <p:cNvPr id="11" name="直接箭头连接符 10"/>
          <p:cNvCxnSpPr/>
          <p:nvPr userDrawn="1"/>
        </p:nvCxnSpPr>
        <p:spPr>
          <a:xfrm>
            <a:off x="284279" y="947874"/>
            <a:ext cx="4503005" cy="13607"/>
          </a:xfrm>
          <a:prstGeom prst="straightConnector1">
            <a:avLst/>
          </a:prstGeom>
          <a:ln w="19050" cap="flat" cmpd="sng" algn="ctr">
            <a:solidFill>
              <a:srgbClr val="000000">
                <a:alpha val="100000"/>
              </a:srgbClr>
            </a:solidFill>
            <a:prstDash val="solid"/>
            <a:miter lim="800000"/>
            <a:tailEnd type="triangle"/>
          </a:ln>
        </p:spPr>
        <p:style>
          <a:lnRef idx="1">
            <a:schemeClr val="accent1"/>
          </a:lnRef>
          <a:fillRef idx="0">
            <a:schemeClr val="accent1"/>
          </a:fillRef>
          <a:effectRef idx="0">
            <a:schemeClr val="accent1"/>
          </a:effectRef>
          <a:fontRef idx="minor">
            <a:schemeClr val="tx1"/>
          </a:fontRef>
        </p:style>
      </p:cxnSp>
      <p:sp>
        <p:nvSpPr>
          <p:cNvPr id="16" name="文本框 15"/>
          <p:cNvSpPr txBox="1"/>
          <p:nvPr/>
        </p:nvSpPr>
        <p:spPr>
          <a:xfrm>
            <a:off x="5880629" y="275961"/>
            <a:ext cx="5289239" cy="170656"/>
          </a:xfrm>
          <a:prstGeom prst="rect">
            <a:avLst/>
          </a:prstGeom>
          <a:noFill/>
        </p:spPr>
        <p:txBody>
          <a:bodyPr wrap="square" rtlCol="0">
            <a:noAutofit/>
          </a:bodyPr>
          <a:lstStyle/>
          <a:p>
            <a:pPr marL="0" marR="0" lvl="0" indent="0" algn="ctr" defTabSz="1187450" rtl="0" eaLnBrk="1" fontAlgn="ctr" latinLnBrk="0" hangingPunct="1">
              <a:lnSpc>
                <a:spcPct val="100000"/>
              </a:lnSpc>
              <a:spcBef>
                <a:spcPts val="0"/>
              </a:spcBef>
              <a:spcAft>
                <a:spcPts val="0"/>
              </a:spcAft>
              <a:buClrTx/>
              <a:buSzTx/>
              <a:buFontTx/>
              <a:buNone/>
              <a:defRPr/>
            </a:pPr>
            <a:r>
              <a:rPr kumimoji="0" lang="en-US" altLang="zh-CN" sz="1200" b="1" kern="1200" cap="none" spc="0" normalizeH="0" baseline="0" noProof="0" dirty="0">
                <a:ln>
                  <a:noFill/>
                </a:ln>
                <a:solidFill>
                  <a:srgbClr val="C00000"/>
                </a:solidFill>
                <a:effectLst/>
                <a:uLnTx/>
                <a:uFillTx/>
                <a:latin typeface="微软雅黑" charset="0"/>
                <a:ea typeface="微软雅黑" charset="0"/>
                <a:cs typeface="+mn-cs"/>
                <a:sym typeface="+mn-ea"/>
              </a:rPr>
              <a:t>2</a:t>
            </a:r>
            <a:r>
              <a:rPr lang="en-US" altLang="zh-CN" sz="1200" b="1" noProof="0" dirty="0">
                <a:ln>
                  <a:noFill/>
                </a:ln>
                <a:solidFill>
                  <a:srgbClr val="C00000"/>
                </a:solidFill>
                <a:effectLst/>
                <a:uLnTx/>
                <a:uFillTx/>
                <a:latin typeface="微软雅黑" charset="0"/>
                <a:ea typeface="微软雅黑" charset="0"/>
                <a:cs typeface="+mn-cs"/>
                <a:sym typeface="+mn-ea"/>
              </a:rPr>
              <a:t>6</a:t>
            </a:r>
            <a:r>
              <a:rPr kumimoji="0" lang="zh-CN" altLang="en-US" sz="1200" b="1" kern="1200" cap="none" spc="0" normalizeH="0" baseline="0" noProof="0" dirty="0">
                <a:ln>
                  <a:noFill/>
                </a:ln>
                <a:solidFill>
                  <a:srgbClr val="C00000"/>
                </a:solidFill>
                <a:effectLst/>
                <a:uLnTx/>
                <a:uFillTx/>
                <a:latin typeface="微软雅黑" charset="0"/>
                <a:ea typeface="微软雅黑" charset="0"/>
                <a:cs typeface="+mn-cs"/>
                <a:sym typeface="+mn-ea"/>
              </a:rPr>
              <a:t>年 </a:t>
            </a:r>
            <a:r>
              <a:rPr kumimoji="0" lang="en-US" altLang="zh-CN" sz="1200" b="1" kern="1200" cap="none" spc="0" normalizeH="0" baseline="0" noProof="0" dirty="0">
                <a:ln>
                  <a:noFill/>
                </a:ln>
                <a:solidFill>
                  <a:srgbClr val="C00000"/>
                </a:solidFill>
                <a:effectLst/>
                <a:uLnTx/>
                <a:uFillTx/>
                <a:latin typeface="微软雅黑" charset="0"/>
                <a:ea typeface="微软雅黑" charset="0"/>
                <a:cs typeface="+mn-cs"/>
                <a:sym typeface="+mn-ea"/>
              </a:rPr>
              <a:t>SOTA</a:t>
            </a:r>
            <a:r>
              <a:rPr kumimoji="0" lang="zh-CN" altLang="en-US" sz="1200" b="1" kern="1200" cap="none" spc="0" normalizeH="0" baseline="0" noProof="0" dirty="0">
                <a:ln>
                  <a:noFill/>
                </a:ln>
                <a:solidFill>
                  <a:srgbClr val="C00000"/>
                </a:solidFill>
                <a:effectLst/>
                <a:uLnTx/>
                <a:uFillTx/>
                <a:latin typeface="微软雅黑" charset="0"/>
                <a:ea typeface="微软雅黑" charset="0"/>
                <a:cs typeface="+mn-cs"/>
                <a:sym typeface="+mn-ea"/>
              </a:rPr>
              <a:t>模型集中发布，并行作战</a:t>
            </a:r>
            <a:endParaRPr kumimoji="0" lang="zh-CN" altLang="en-US" sz="1200" b="0" i="0" u="none" strike="noStrike" kern="1200" cap="none" spc="0" normalizeH="0" baseline="0" noProof="0" dirty="0">
              <a:ln>
                <a:noFill/>
              </a:ln>
              <a:solidFill>
                <a:srgbClr val="C00000"/>
              </a:solidFill>
              <a:effectLst/>
              <a:uLnTx/>
              <a:uFillTx/>
              <a:latin typeface="微软雅黑" charset="0"/>
              <a:ea typeface="微软雅黑" charset="0"/>
              <a:cs typeface="+mn-cs"/>
              <a:sym typeface="+mn-ea"/>
            </a:endParaRPr>
          </a:p>
        </p:txBody>
      </p:sp>
      <p:cxnSp>
        <p:nvCxnSpPr>
          <p:cNvPr id="22" name="直接箭头连接符 21"/>
          <p:cNvCxnSpPr/>
          <p:nvPr userDrawn="1"/>
        </p:nvCxnSpPr>
        <p:spPr>
          <a:xfrm>
            <a:off x="5963686" y="769847"/>
            <a:ext cx="5536552" cy="13607"/>
          </a:xfrm>
          <a:prstGeom prst="straightConnector1">
            <a:avLst/>
          </a:prstGeom>
          <a:ln w="19050" cap="flat" cmpd="sng" algn="ctr">
            <a:solidFill>
              <a:srgbClr val="000000">
                <a:alpha val="100000"/>
              </a:srgbClr>
            </a:solidFill>
            <a:prstDash val="solid"/>
            <a:miter lim="800000"/>
            <a:tailEnd type="triangle"/>
          </a:ln>
        </p:spPr>
        <p:style>
          <a:lnRef idx="1">
            <a:schemeClr val="accent1"/>
          </a:lnRef>
          <a:fillRef idx="0">
            <a:schemeClr val="accent1"/>
          </a:fillRef>
          <a:effectRef idx="0">
            <a:schemeClr val="accent1"/>
          </a:effectRef>
          <a:fontRef idx="minor">
            <a:schemeClr val="tx1"/>
          </a:fontRef>
        </p:style>
      </p:cxnSp>
      <p:sp>
        <p:nvSpPr>
          <p:cNvPr id="67" name="文本框 66"/>
          <p:cNvSpPr txBox="1"/>
          <p:nvPr/>
        </p:nvSpPr>
        <p:spPr>
          <a:xfrm>
            <a:off x="6452616" y="760554"/>
            <a:ext cx="583304" cy="114242"/>
          </a:xfrm>
          <a:prstGeom prst="rect">
            <a:avLst/>
          </a:prstGeom>
          <a:noFill/>
        </p:spPr>
        <p:txBody>
          <a:bodyPr wrap="square" rtlCol="0">
            <a:noAutofit/>
          </a:bodyPr>
          <a:lstStyle/>
          <a:p>
            <a:pPr marL="0" marR="0" lvl="0" indent="0" algn="ctr" defTabSz="1187450" rtl="0" eaLnBrk="1" fontAlgn="ctr" latinLnBrk="0" hangingPunct="1">
              <a:lnSpc>
                <a:spcPct val="100000"/>
              </a:lnSpc>
              <a:spcBef>
                <a:spcPts val="0"/>
              </a:spcBef>
              <a:spcAft>
                <a:spcPts val="0"/>
              </a:spcAft>
              <a:buClrTx/>
              <a:buSzTx/>
              <a:buFontTx/>
              <a:buNone/>
              <a:defRPr/>
            </a:pPr>
            <a:r>
              <a:rPr kumimoji="0" lang="en-US" altLang="zh-CN" sz="1200" b="1" kern="1200" cap="none" spc="0" normalizeH="0" baseline="0" noProof="0" dirty="0">
                <a:ln>
                  <a:noFill/>
                </a:ln>
                <a:effectLst/>
                <a:uLnTx/>
                <a:uFillTx/>
                <a:latin typeface="微软雅黑" charset="0"/>
                <a:ea typeface="微软雅黑" charset="0"/>
                <a:cs typeface="+mn-cs"/>
                <a:sym typeface="+mn-ea"/>
              </a:rPr>
              <a:t>2.4</a:t>
            </a:r>
            <a:endParaRPr kumimoji="0" lang="zh-CN" altLang="en-US" sz="1200" b="0" i="0" u="none" strike="noStrike" kern="1200" cap="none" spc="0" normalizeH="0" baseline="0" noProof="0" dirty="0">
              <a:ln>
                <a:noFill/>
              </a:ln>
              <a:effectLst/>
              <a:uLnTx/>
              <a:uFillTx/>
              <a:latin typeface="微软雅黑" charset="0"/>
              <a:ea typeface="微软雅黑" charset="0"/>
              <a:cs typeface="+mn-cs"/>
              <a:sym typeface="+mn-ea"/>
            </a:endParaRPr>
          </a:p>
        </p:txBody>
      </p:sp>
      <p:sp>
        <p:nvSpPr>
          <p:cNvPr id="68" name="文本框 67"/>
          <p:cNvSpPr txBox="1"/>
          <p:nvPr/>
        </p:nvSpPr>
        <p:spPr>
          <a:xfrm>
            <a:off x="7249561" y="752402"/>
            <a:ext cx="583304" cy="114242"/>
          </a:xfrm>
          <a:prstGeom prst="rect">
            <a:avLst/>
          </a:prstGeom>
          <a:noFill/>
        </p:spPr>
        <p:txBody>
          <a:bodyPr wrap="square" rtlCol="0">
            <a:noAutofit/>
          </a:bodyPr>
          <a:lstStyle/>
          <a:p>
            <a:pPr marL="0" marR="0" lvl="0" indent="0" algn="ctr" defTabSz="1187450" rtl="0" eaLnBrk="1" fontAlgn="ctr" latinLnBrk="0" hangingPunct="1">
              <a:lnSpc>
                <a:spcPct val="100000"/>
              </a:lnSpc>
              <a:spcBef>
                <a:spcPts val="0"/>
              </a:spcBef>
              <a:spcAft>
                <a:spcPts val="0"/>
              </a:spcAft>
              <a:buClrTx/>
              <a:buSzTx/>
              <a:buFontTx/>
              <a:buNone/>
              <a:defRPr/>
            </a:pPr>
            <a:r>
              <a:rPr kumimoji="0" lang="en-US" altLang="zh-CN" sz="1200" b="1" kern="1200" cap="none" spc="0" normalizeH="0" baseline="0" noProof="0" dirty="0">
                <a:ln>
                  <a:noFill/>
                </a:ln>
                <a:effectLst/>
                <a:uLnTx/>
                <a:uFillTx/>
                <a:latin typeface="微软雅黑" charset="0"/>
                <a:ea typeface="微软雅黑" charset="0"/>
                <a:cs typeface="+mn-cs"/>
                <a:sym typeface="+mn-ea"/>
              </a:rPr>
              <a:t>2.11</a:t>
            </a:r>
            <a:endParaRPr kumimoji="0" lang="zh-CN" altLang="en-US" sz="1200" b="0" i="0" u="none" strike="noStrike" kern="1200" cap="none" spc="0" normalizeH="0" baseline="0" noProof="0" dirty="0">
              <a:ln>
                <a:noFill/>
              </a:ln>
              <a:effectLst/>
              <a:uLnTx/>
              <a:uFillTx/>
              <a:latin typeface="微软雅黑" charset="0"/>
              <a:ea typeface="微软雅黑" charset="0"/>
              <a:cs typeface="+mn-cs"/>
              <a:sym typeface="+mn-ea"/>
            </a:endParaRPr>
          </a:p>
        </p:txBody>
      </p:sp>
      <p:sp>
        <p:nvSpPr>
          <p:cNvPr id="72" name="文本框 71"/>
          <p:cNvSpPr txBox="1"/>
          <p:nvPr/>
        </p:nvSpPr>
        <p:spPr>
          <a:xfrm>
            <a:off x="8095917" y="745582"/>
            <a:ext cx="583304" cy="114242"/>
          </a:xfrm>
          <a:prstGeom prst="rect">
            <a:avLst/>
          </a:prstGeom>
          <a:noFill/>
        </p:spPr>
        <p:txBody>
          <a:bodyPr wrap="square" rtlCol="0">
            <a:noAutofit/>
          </a:bodyPr>
          <a:lstStyle/>
          <a:p>
            <a:pPr marL="0" marR="0" lvl="0" indent="0" algn="ctr" defTabSz="1187450" rtl="0" eaLnBrk="1" fontAlgn="ctr" latinLnBrk="0" hangingPunct="1">
              <a:lnSpc>
                <a:spcPct val="100000"/>
              </a:lnSpc>
              <a:spcBef>
                <a:spcPts val="0"/>
              </a:spcBef>
              <a:spcAft>
                <a:spcPts val="0"/>
              </a:spcAft>
              <a:buClrTx/>
              <a:buSzTx/>
              <a:buFontTx/>
              <a:buNone/>
              <a:defRPr/>
            </a:pPr>
            <a:r>
              <a:rPr kumimoji="0" lang="en-US" altLang="zh-CN" sz="1200" b="1" kern="1200" cap="none" spc="0" normalizeH="0" baseline="0" noProof="0" dirty="0">
                <a:ln>
                  <a:noFill/>
                </a:ln>
                <a:effectLst/>
                <a:uLnTx/>
                <a:uFillTx/>
                <a:latin typeface="微软雅黑" charset="0"/>
                <a:ea typeface="微软雅黑" charset="0"/>
                <a:cs typeface="+mn-cs"/>
                <a:sym typeface="+mn-ea"/>
              </a:rPr>
              <a:t>2.13</a:t>
            </a:r>
            <a:endParaRPr kumimoji="0" lang="zh-CN" altLang="en-US" sz="1200" b="0" i="0" u="none" strike="noStrike" kern="1200" cap="none" spc="0" normalizeH="0" baseline="0" noProof="0" dirty="0">
              <a:ln>
                <a:noFill/>
              </a:ln>
              <a:effectLst/>
              <a:uLnTx/>
              <a:uFillTx/>
              <a:latin typeface="微软雅黑" charset="0"/>
              <a:ea typeface="微软雅黑" charset="0"/>
              <a:cs typeface="+mn-cs"/>
              <a:sym typeface="+mn-ea"/>
            </a:endParaRPr>
          </a:p>
        </p:txBody>
      </p:sp>
      <p:sp>
        <p:nvSpPr>
          <p:cNvPr id="73" name="文本框 72"/>
          <p:cNvSpPr txBox="1"/>
          <p:nvPr/>
        </p:nvSpPr>
        <p:spPr>
          <a:xfrm>
            <a:off x="8816454" y="738111"/>
            <a:ext cx="583304" cy="114242"/>
          </a:xfrm>
          <a:prstGeom prst="rect">
            <a:avLst/>
          </a:prstGeom>
          <a:noFill/>
        </p:spPr>
        <p:txBody>
          <a:bodyPr wrap="square" rtlCol="0">
            <a:noAutofit/>
          </a:bodyPr>
          <a:lstStyle/>
          <a:p>
            <a:pPr marL="0" marR="0" lvl="0" indent="0" algn="ctr" defTabSz="1187450" rtl="0" eaLnBrk="1" fontAlgn="ctr" latinLnBrk="0" hangingPunct="1">
              <a:lnSpc>
                <a:spcPct val="100000"/>
              </a:lnSpc>
              <a:spcBef>
                <a:spcPts val="0"/>
              </a:spcBef>
              <a:spcAft>
                <a:spcPts val="0"/>
              </a:spcAft>
              <a:buClrTx/>
              <a:buSzTx/>
              <a:buFontTx/>
              <a:buNone/>
              <a:defRPr/>
            </a:pPr>
            <a:r>
              <a:rPr kumimoji="0" lang="en-US" altLang="zh-CN" sz="1200" b="1" kern="1200" cap="none" spc="0" normalizeH="0" baseline="0" noProof="0" dirty="0">
                <a:ln>
                  <a:noFill/>
                </a:ln>
                <a:effectLst/>
                <a:uLnTx/>
                <a:uFillTx/>
                <a:latin typeface="微软雅黑" charset="0"/>
                <a:ea typeface="微软雅黑" charset="0"/>
                <a:cs typeface="+mn-cs"/>
                <a:sym typeface="+mn-ea"/>
              </a:rPr>
              <a:t>2.16</a:t>
            </a:r>
            <a:endParaRPr kumimoji="0" lang="zh-CN" altLang="en-US" sz="1200" b="0" i="0" u="none" strike="noStrike" kern="1200" cap="none" spc="0" normalizeH="0" baseline="0" noProof="0" dirty="0">
              <a:ln>
                <a:noFill/>
              </a:ln>
              <a:effectLst/>
              <a:uLnTx/>
              <a:uFillTx/>
              <a:latin typeface="微软雅黑" charset="0"/>
              <a:ea typeface="微软雅黑" charset="0"/>
              <a:cs typeface="+mn-cs"/>
              <a:sym typeface="+mn-ea"/>
            </a:endParaRPr>
          </a:p>
        </p:txBody>
      </p:sp>
      <p:sp>
        <p:nvSpPr>
          <p:cNvPr id="76" name="文本框 75"/>
          <p:cNvSpPr txBox="1"/>
          <p:nvPr/>
        </p:nvSpPr>
        <p:spPr>
          <a:xfrm>
            <a:off x="9676247" y="735286"/>
            <a:ext cx="583304" cy="114242"/>
          </a:xfrm>
          <a:prstGeom prst="rect">
            <a:avLst/>
          </a:prstGeom>
          <a:noFill/>
        </p:spPr>
        <p:txBody>
          <a:bodyPr wrap="square" rtlCol="0">
            <a:noAutofit/>
          </a:bodyPr>
          <a:lstStyle/>
          <a:p>
            <a:pPr marL="0" marR="0" lvl="0" indent="0" algn="ctr" defTabSz="1187450" rtl="0" eaLnBrk="1" fontAlgn="ctr" latinLnBrk="0" hangingPunct="1">
              <a:lnSpc>
                <a:spcPct val="100000"/>
              </a:lnSpc>
              <a:spcBef>
                <a:spcPts val="0"/>
              </a:spcBef>
              <a:spcAft>
                <a:spcPts val="0"/>
              </a:spcAft>
              <a:buClrTx/>
              <a:buSzTx/>
              <a:buFontTx/>
              <a:buNone/>
              <a:defRPr/>
            </a:pPr>
            <a:r>
              <a:rPr kumimoji="0" lang="en-US" altLang="zh-CN" sz="1200" b="1" kern="1200" cap="none" spc="0" normalizeH="0" baseline="0" noProof="0" dirty="0">
                <a:ln>
                  <a:noFill/>
                </a:ln>
                <a:effectLst/>
                <a:uLnTx/>
                <a:uFillTx/>
                <a:latin typeface="微软雅黑" charset="0"/>
                <a:ea typeface="微软雅黑" charset="0"/>
                <a:cs typeface="+mn-cs"/>
                <a:sym typeface="+mn-ea"/>
              </a:rPr>
              <a:t>2.25</a:t>
            </a:r>
            <a:endParaRPr kumimoji="0" lang="zh-CN" altLang="en-US" sz="1200" b="0" i="0" u="none" strike="noStrike" kern="1200" cap="none" spc="0" normalizeH="0" baseline="0" noProof="0" dirty="0">
              <a:ln>
                <a:noFill/>
              </a:ln>
              <a:effectLst/>
              <a:uLnTx/>
              <a:uFillTx/>
              <a:latin typeface="微软雅黑" charset="0"/>
              <a:ea typeface="微软雅黑" charset="0"/>
              <a:cs typeface="+mn-cs"/>
              <a:sym typeface="+mn-ea"/>
            </a:endParaRPr>
          </a:p>
        </p:txBody>
      </p:sp>
      <p:sp>
        <p:nvSpPr>
          <p:cNvPr id="77" name="文本框 76"/>
          <p:cNvSpPr txBox="1"/>
          <p:nvPr/>
        </p:nvSpPr>
        <p:spPr>
          <a:xfrm>
            <a:off x="6181924" y="446649"/>
            <a:ext cx="1124724" cy="114242"/>
          </a:xfrm>
          <a:prstGeom prst="rect">
            <a:avLst/>
          </a:prstGeom>
          <a:noFill/>
        </p:spPr>
        <p:txBody>
          <a:bodyPr wrap="square" rtlCol="0">
            <a:noAutofit/>
          </a:bodyPr>
          <a:lstStyle/>
          <a:p>
            <a:pPr marL="0" marR="0" lvl="0" indent="0" algn="ctr" defTabSz="1187450" rtl="0" eaLnBrk="1" fontAlgn="ctr" latinLnBrk="0" hangingPunct="1">
              <a:lnSpc>
                <a:spcPct val="100000"/>
              </a:lnSpc>
              <a:spcBef>
                <a:spcPts val="0"/>
              </a:spcBef>
              <a:spcAft>
                <a:spcPts val="0"/>
              </a:spcAft>
              <a:buClrTx/>
              <a:buSzTx/>
              <a:buFontTx/>
              <a:buNone/>
              <a:defRPr/>
            </a:pPr>
            <a:r>
              <a:rPr kumimoji="0" lang="en-US" altLang="zh-CN" sz="800" kern="1200" cap="none" spc="0" normalizeH="0" baseline="0" noProof="0" dirty="0">
                <a:ln>
                  <a:noFill/>
                </a:ln>
                <a:effectLst/>
                <a:uLnTx/>
                <a:uFillTx/>
                <a:latin typeface="微软雅黑" charset="0"/>
                <a:ea typeface="微软雅黑" charset="0"/>
                <a:cs typeface="+mn-cs"/>
                <a:sym typeface="+mn-ea"/>
              </a:rPr>
              <a:t>Qwen3-Coder-Next</a:t>
            </a:r>
            <a:endParaRPr kumimoji="0" lang="zh-CN" altLang="en-US" sz="800" i="0" u="none" strike="noStrike" kern="1200" cap="none" spc="0" normalizeH="0" baseline="0" noProof="0" dirty="0">
              <a:ln>
                <a:noFill/>
              </a:ln>
              <a:effectLst/>
              <a:uLnTx/>
              <a:uFillTx/>
              <a:latin typeface="微软雅黑" charset="0"/>
              <a:ea typeface="微软雅黑" charset="0"/>
              <a:cs typeface="+mn-cs"/>
              <a:sym typeface="+mn-ea"/>
            </a:endParaRPr>
          </a:p>
        </p:txBody>
      </p:sp>
      <p:sp>
        <p:nvSpPr>
          <p:cNvPr id="84" name="文本框 83"/>
          <p:cNvSpPr txBox="1"/>
          <p:nvPr/>
        </p:nvSpPr>
        <p:spPr>
          <a:xfrm>
            <a:off x="7121183" y="541240"/>
            <a:ext cx="877553" cy="114242"/>
          </a:xfrm>
          <a:prstGeom prst="rect">
            <a:avLst/>
          </a:prstGeom>
          <a:noFill/>
        </p:spPr>
        <p:txBody>
          <a:bodyPr wrap="square" rtlCol="0">
            <a:noAutofit/>
          </a:bodyPr>
          <a:lstStyle/>
          <a:p>
            <a:pPr marL="0" marR="0" lvl="0" indent="0" algn="ctr" defTabSz="1187450" rtl="0" eaLnBrk="1" fontAlgn="ctr" latinLnBrk="0" hangingPunct="1">
              <a:lnSpc>
                <a:spcPct val="100000"/>
              </a:lnSpc>
              <a:spcBef>
                <a:spcPts val="0"/>
              </a:spcBef>
              <a:spcAft>
                <a:spcPts val="0"/>
              </a:spcAft>
              <a:buClrTx/>
              <a:buSzTx/>
              <a:buFontTx/>
              <a:buNone/>
              <a:defRPr/>
            </a:pPr>
            <a:r>
              <a:rPr kumimoji="0" lang="en-US" altLang="zh-CN" sz="800" kern="1200" cap="none" spc="0" normalizeH="0" baseline="0" noProof="0" dirty="0">
                <a:ln>
                  <a:noFill/>
                </a:ln>
                <a:effectLst/>
                <a:uLnTx/>
                <a:uFillTx/>
                <a:latin typeface="微软雅黑" charset="0"/>
                <a:ea typeface="微软雅黑" charset="0"/>
                <a:cs typeface="+mn-cs"/>
                <a:sym typeface="+mn-ea"/>
              </a:rPr>
              <a:t>GLM5</a:t>
            </a:r>
            <a:endParaRPr kumimoji="0" lang="zh-CN" altLang="en-US" sz="800" i="0" u="none" strike="noStrike" kern="1200" cap="none" spc="0" normalizeH="0" baseline="0" noProof="0" dirty="0">
              <a:ln>
                <a:noFill/>
              </a:ln>
              <a:effectLst/>
              <a:uLnTx/>
              <a:uFillTx/>
              <a:latin typeface="微软雅黑" charset="0"/>
              <a:ea typeface="微软雅黑" charset="0"/>
              <a:cs typeface="+mn-cs"/>
              <a:sym typeface="+mn-ea"/>
            </a:endParaRPr>
          </a:p>
        </p:txBody>
      </p:sp>
      <p:sp>
        <p:nvSpPr>
          <p:cNvPr id="85" name="文本框 84"/>
          <p:cNvSpPr txBox="1"/>
          <p:nvPr/>
        </p:nvSpPr>
        <p:spPr>
          <a:xfrm>
            <a:off x="7825206" y="541240"/>
            <a:ext cx="1124725" cy="114242"/>
          </a:xfrm>
          <a:prstGeom prst="rect">
            <a:avLst/>
          </a:prstGeom>
          <a:noFill/>
        </p:spPr>
        <p:txBody>
          <a:bodyPr wrap="square" rtlCol="0">
            <a:noAutofit/>
          </a:bodyPr>
          <a:lstStyle/>
          <a:p>
            <a:pPr marL="0" marR="0" lvl="0" indent="0" algn="ctr" defTabSz="1187450" rtl="0" eaLnBrk="1" fontAlgn="ctr" latinLnBrk="0" hangingPunct="1">
              <a:lnSpc>
                <a:spcPct val="100000"/>
              </a:lnSpc>
              <a:spcBef>
                <a:spcPts val="0"/>
              </a:spcBef>
              <a:spcAft>
                <a:spcPts val="0"/>
              </a:spcAft>
              <a:buClrTx/>
              <a:buSzTx/>
              <a:buFontTx/>
              <a:buNone/>
              <a:defRPr/>
            </a:pPr>
            <a:r>
              <a:rPr kumimoji="0" lang="en-US" altLang="zh-CN" sz="800" kern="1200" cap="none" spc="0" normalizeH="0" baseline="0" noProof="0" dirty="0">
                <a:ln>
                  <a:noFill/>
                </a:ln>
                <a:effectLst/>
                <a:uLnTx/>
                <a:uFillTx/>
                <a:latin typeface="微软雅黑" charset="0"/>
                <a:ea typeface="微软雅黑" charset="0"/>
                <a:cs typeface="+mn-cs"/>
                <a:sym typeface="+mn-ea"/>
              </a:rPr>
              <a:t>Minimax M2.5</a:t>
            </a:r>
            <a:endParaRPr kumimoji="0" lang="zh-CN" altLang="en-US" sz="800" i="0" u="none" strike="noStrike" kern="1200" cap="none" spc="0" normalizeH="0" baseline="0" noProof="0" dirty="0">
              <a:ln>
                <a:noFill/>
              </a:ln>
              <a:effectLst/>
              <a:uLnTx/>
              <a:uFillTx/>
              <a:latin typeface="微软雅黑" charset="0"/>
              <a:ea typeface="微软雅黑" charset="0"/>
              <a:cs typeface="+mn-cs"/>
              <a:sym typeface="+mn-ea"/>
            </a:endParaRPr>
          </a:p>
        </p:txBody>
      </p:sp>
      <p:sp>
        <p:nvSpPr>
          <p:cNvPr id="86" name="文本框 85"/>
          <p:cNvSpPr txBox="1"/>
          <p:nvPr/>
        </p:nvSpPr>
        <p:spPr>
          <a:xfrm>
            <a:off x="8679253" y="492752"/>
            <a:ext cx="944294" cy="211275"/>
          </a:xfrm>
          <a:prstGeom prst="rect">
            <a:avLst/>
          </a:prstGeom>
          <a:noFill/>
        </p:spPr>
        <p:txBody>
          <a:bodyPr wrap="square" rtlCol="0">
            <a:noAutofit/>
          </a:bodyPr>
          <a:lstStyle/>
          <a:p>
            <a:pPr marL="0" marR="0" lvl="0" indent="0" algn="ctr" defTabSz="1187450" rtl="0" eaLnBrk="1" fontAlgn="ctr" latinLnBrk="0" hangingPunct="1">
              <a:lnSpc>
                <a:spcPct val="100000"/>
              </a:lnSpc>
              <a:spcBef>
                <a:spcPts val="0"/>
              </a:spcBef>
              <a:spcAft>
                <a:spcPts val="0"/>
              </a:spcAft>
              <a:buClrTx/>
              <a:buSzTx/>
              <a:buFontTx/>
              <a:buNone/>
              <a:defRPr/>
            </a:pPr>
            <a:r>
              <a:rPr kumimoji="0" lang="en-US" altLang="zh-CN" sz="800" kern="1200" cap="none" spc="0" normalizeH="0" baseline="0" noProof="0" dirty="0">
                <a:ln>
                  <a:noFill/>
                </a:ln>
                <a:effectLst/>
                <a:uLnTx/>
                <a:uFillTx/>
                <a:latin typeface="微软雅黑" charset="0"/>
                <a:ea typeface="微软雅黑" charset="0"/>
                <a:cs typeface="+mn-cs"/>
                <a:sym typeface="+mn-ea"/>
              </a:rPr>
              <a:t>Qwen 3.5-397B-A17B</a:t>
            </a:r>
            <a:endParaRPr kumimoji="0" lang="zh-CN" altLang="en-US" sz="800" i="0" u="none" strike="noStrike" kern="1200" cap="none" spc="0" normalizeH="0" baseline="0" noProof="0" dirty="0">
              <a:ln>
                <a:noFill/>
              </a:ln>
              <a:effectLst/>
              <a:uLnTx/>
              <a:uFillTx/>
              <a:latin typeface="微软雅黑" charset="0"/>
              <a:ea typeface="微软雅黑" charset="0"/>
              <a:cs typeface="+mn-cs"/>
              <a:sym typeface="+mn-ea"/>
            </a:endParaRPr>
          </a:p>
        </p:txBody>
      </p:sp>
      <p:sp>
        <p:nvSpPr>
          <p:cNvPr id="92" name="文本框 91"/>
          <p:cNvSpPr txBox="1"/>
          <p:nvPr/>
        </p:nvSpPr>
        <p:spPr>
          <a:xfrm>
            <a:off x="9529136" y="356342"/>
            <a:ext cx="877553" cy="211275"/>
          </a:xfrm>
          <a:prstGeom prst="rect">
            <a:avLst/>
          </a:prstGeom>
          <a:noFill/>
        </p:spPr>
        <p:txBody>
          <a:bodyPr wrap="square" rtlCol="0">
            <a:noAutofit/>
          </a:bodyPr>
          <a:lstStyle/>
          <a:p>
            <a:pPr marL="0" marR="0" lvl="0" indent="0" algn="ctr" defTabSz="1187450" rtl="0" eaLnBrk="1" fontAlgn="ctr" latinLnBrk="0" hangingPunct="1">
              <a:lnSpc>
                <a:spcPct val="100000"/>
              </a:lnSpc>
              <a:spcBef>
                <a:spcPts val="0"/>
              </a:spcBef>
              <a:spcAft>
                <a:spcPts val="0"/>
              </a:spcAft>
              <a:buClrTx/>
              <a:buSzTx/>
              <a:buFontTx/>
              <a:buNone/>
              <a:defRPr/>
            </a:pPr>
            <a:r>
              <a:rPr kumimoji="0" lang="en-US" altLang="zh-CN" sz="800" kern="1200" cap="none" spc="0" normalizeH="0" baseline="0" noProof="0" dirty="0">
                <a:ln>
                  <a:noFill/>
                </a:ln>
                <a:effectLst/>
                <a:uLnTx/>
                <a:uFillTx/>
                <a:latin typeface="微软雅黑" charset="0"/>
                <a:ea typeface="微软雅黑" charset="0"/>
                <a:cs typeface="+mn-cs"/>
                <a:sym typeface="+mn-ea"/>
              </a:rPr>
              <a:t>Qwen 3.5-122B</a:t>
            </a:r>
          </a:p>
          <a:p>
            <a:pPr marL="0" marR="0" lvl="0" indent="0" algn="ctr" defTabSz="1187450" rtl="0" eaLnBrk="1" fontAlgn="ctr" latinLnBrk="0" hangingPunct="1">
              <a:lnSpc>
                <a:spcPct val="100000"/>
              </a:lnSpc>
              <a:spcBef>
                <a:spcPts val="0"/>
              </a:spcBef>
              <a:spcAft>
                <a:spcPts val="0"/>
              </a:spcAft>
              <a:buClrTx/>
              <a:buSzTx/>
              <a:buFontTx/>
              <a:buNone/>
              <a:defRPr/>
            </a:pPr>
            <a:r>
              <a:rPr lang="en-US" altLang="zh-CN" sz="800" i="0" u="none" strike="noStrike" dirty="0">
                <a:latin typeface="微软雅黑" charset="0"/>
                <a:ea typeface="微软雅黑" charset="0"/>
                <a:sym typeface="+mn-ea"/>
              </a:rPr>
              <a:t>/35B</a:t>
            </a:r>
            <a:r>
              <a:rPr lang="en-US" altLang="zh-CN" sz="800" dirty="0">
                <a:latin typeface="微软雅黑" charset="0"/>
                <a:ea typeface="微软雅黑" charset="0"/>
                <a:sym typeface="+mn-ea"/>
              </a:rPr>
              <a:t>/27B</a:t>
            </a:r>
            <a:endParaRPr lang="en-US" altLang="zh-CN" sz="800" i="0" u="none" strike="noStrike" dirty="0">
              <a:latin typeface="微软雅黑" charset="0"/>
              <a:ea typeface="微软雅黑" charset="0"/>
              <a:sym typeface="+mn-ea"/>
            </a:endParaRPr>
          </a:p>
        </p:txBody>
      </p:sp>
      <p:sp>
        <p:nvSpPr>
          <p:cNvPr id="94" name="文本框 93"/>
          <p:cNvSpPr txBox="1"/>
          <p:nvPr/>
        </p:nvSpPr>
        <p:spPr>
          <a:xfrm>
            <a:off x="10736915" y="735286"/>
            <a:ext cx="583304" cy="114242"/>
          </a:xfrm>
          <a:prstGeom prst="rect">
            <a:avLst/>
          </a:prstGeom>
          <a:noFill/>
        </p:spPr>
        <p:txBody>
          <a:bodyPr wrap="square" rtlCol="0">
            <a:noAutofit/>
          </a:bodyPr>
          <a:lstStyle/>
          <a:p>
            <a:pPr marL="0" marR="0" lvl="0" indent="0" algn="ctr" defTabSz="1187450" rtl="0" eaLnBrk="1" fontAlgn="ctr" latinLnBrk="0" hangingPunct="1">
              <a:lnSpc>
                <a:spcPct val="100000"/>
              </a:lnSpc>
              <a:spcBef>
                <a:spcPts val="0"/>
              </a:spcBef>
              <a:spcAft>
                <a:spcPts val="0"/>
              </a:spcAft>
              <a:buClrTx/>
              <a:buSzTx/>
              <a:buFontTx/>
              <a:buNone/>
              <a:defRPr/>
            </a:pPr>
            <a:r>
              <a:rPr kumimoji="0" lang="en-US" altLang="zh-CN" sz="1200" b="1" kern="1200" cap="none" spc="0" normalizeH="0" baseline="0" noProof="0" dirty="0">
                <a:ln>
                  <a:noFill/>
                </a:ln>
                <a:effectLst/>
                <a:uLnTx/>
                <a:uFillTx/>
                <a:latin typeface="微软雅黑" charset="0"/>
                <a:ea typeface="微软雅黑" charset="0"/>
                <a:cs typeface="+mn-cs"/>
                <a:sym typeface="+mn-ea"/>
              </a:rPr>
              <a:t>3.2</a:t>
            </a:r>
            <a:endParaRPr kumimoji="0" lang="zh-CN" altLang="en-US" sz="1200" b="0" i="0" u="none" strike="noStrike" kern="1200" cap="none" spc="0" normalizeH="0" baseline="0" noProof="0" dirty="0">
              <a:ln>
                <a:noFill/>
              </a:ln>
              <a:effectLst/>
              <a:uLnTx/>
              <a:uFillTx/>
              <a:latin typeface="微软雅黑" charset="0"/>
              <a:ea typeface="微软雅黑" charset="0"/>
              <a:cs typeface="+mn-cs"/>
              <a:sym typeface="+mn-ea"/>
            </a:endParaRPr>
          </a:p>
        </p:txBody>
      </p:sp>
      <p:sp>
        <p:nvSpPr>
          <p:cNvPr id="95" name="文本框 94"/>
          <p:cNvSpPr txBox="1"/>
          <p:nvPr/>
        </p:nvSpPr>
        <p:spPr>
          <a:xfrm>
            <a:off x="10622720" y="446617"/>
            <a:ext cx="877553" cy="211275"/>
          </a:xfrm>
          <a:prstGeom prst="rect">
            <a:avLst/>
          </a:prstGeom>
          <a:noFill/>
        </p:spPr>
        <p:txBody>
          <a:bodyPr wrap="square" rtlCol="0">
            <a:noAutofit/>
          </a:bodyPr>
          <a:lstStyle/>
          <a:p>
            <a:pPr marL="0" marR="0" lvl="0" indent="0" algn="ctr" defTabSz="1187450" rtl="0" eaLnBrk="1" fontAlgn="ctr" latinLnBrk="0" hangingPunct="1">
              <a:lnSpc>
                <a:spcPct val="100000"/>
              </a:lnSpc>
              <a:spcBef>
                <a:spcPts val="0"/>
              </a:spcBef>
              <a:spcAft>
                <a:spcPts val="0"/>
              </a:spcAft>
              <a:buClrTx/>
              <a:buSzTx/>
              <a:buFontTx/>
              <a:buNone/>
              <a:defRPr/>
            </a:pPr>
            <a:r>
              <a:rPr kumimoji="0" lang="en-US" altLang="zh-CN" sz="800" kern="1200" cap="none" spc="0" normalizeH="0" baseline="0" noProof="0" dirty="0">
                <a:ln>
                  <a:noFill/>
                </a:ln>
                <a:effectLst/>
                <a:uLnTx/>
                <a:uFillTx/>
                <a:latin typeface="微软雅黑" charset="0"/>
                <a:ea typeface="微软雅黑" charset="0"/>
                <a:cs typeface="+mn-cs"/>
                <a:sym typeface="+mn-ea"/>
              </a:rPr>
              <a:t>Qwen 3.5-0.8B</a:t>
            </a:r>
            <a:r>
              <a:rPr lang="en-US" altLang="zh-CN" sz="800" dirty="0">
                <a:latin typeface="微软雅黑" charset="0"/>
                <a:ea typeface="微软雅黑" charset="0"/>
                <a:sym typeface="+mn-ea"/>
              </a:rPr>
              <a:t>/2B/4B/9B</a:t>
            </a:r>
            <a:endParaRPr lang="en-US" altLang="zh-CN" sz="800" i="0" u="none" strike="noStrike" dirty="0">
              <a:latin typeface="微软雅黑" charset="0"/>
              <a:ea typeface="微软雅黑" charset="0"/>
              <a:sym typeface="+mn-ea"/>
            </a:endParaRPr>
          </a:p>
        </p:txBody>
      </p:sp>
      <p:sp>
        <p:nvSpPr>
          <p:cNvPr id="100" name="文本框 99"/>
          <p:cNvSpPr txBox="1"/>
          <p:nvPr/>
        </p:nvSpPr>
        <p:spPr>
          <a:xfrm>
            <a:off x="727070" y="1031775"/>
            <a:ext cx="651340" cy="156518"/>
          </a:xfrm>
          <a:prstGeom prst="rect">
            <a:avLst/>
          </a:prstGeom>
          <a:noFill/>
        </p:spPr>
        <p:txBody>
          <a:bodyPr wrap="square" rtlCol="0">
            <a:noAutofit/>
          </a:bodyPr>
          <a:lstStyle/>
          <a:p>
            <a:pPr marL="0" marR="0" lvl="0" indent="0" algn="ctr" defTabSz="1187450" rtl="0" eaLnBrk="1" fontAlgn="ctr" latinLnBrk="0" hangingPunct="1">
              <a:lnSpc>
                <a:spcPct val="100000"/>
              </a:lnSpc>
              <a:spcBef>
                <a:spcPts val="0"/>
              </a:spcBef>
              <a:spcAft>
                <a:spcPts val="0"/>
              </a:spcAft>
              <a:buClrTx/>
              <a:buSzTx/>
              <a:buFontTx/>
              <a:buNone/>
              <a:defRPr/>
            </a:pPr>
            <a:r>
              <a:rPr kumimoji="0" lang="en-US" altLang="zh-CN" sz="1200" b="1" kern="1200" cap="none" spc="0" normalizeH="0" baseline="0" noProof="0" dirty="0">
                <a:ln>
                  <a:noFill/>
                </a:ln>
                <a:effectLst/>
                <a:uLnTx/>
                <a:uFillTx/>
                <a:latin typeface="微软雅黑" charset="0"/>
                <a:ea typeface="微软雅黑" charset="0"/>
                <a:cs typeface="+mn-cs"/>
                <a:sym typeface="+mn-ea"/>
              </a:rPr>
              <a:t>1.20</a:t>
            </a:r>
            <a:endParaRPr kumimoji="0" lang="zh-CN" altLang="en-US" sz="1200" b="0" i="0" u="none" strike="noStrike" kern="1200" cap="none" spc="0" normalizeH="0" baseline="0" noProof="0" dirty="0">
              <a:ln>
                <a:noFill/>
              </a:ln>
              <a:effectLst/>
              <a:uLnTx/>
              <a:uFillTx/>
              <a:latin typeface="微软雅黑" charset="0"/>
              <a:ea typeface="微软雅黑" charset="0"/>
              <a:cs typeface="+mn-cs"/>
              <a:sym typeface="+mn-ea"/>
            </a:endParaRPr>
          </a:p>
        </p:txBody>
      </p:sp>
      <p:sp>
        <p:nvSpPr>
          <p:cNvPr id="101" name="文本框 100"/>
          <p:cNvSpPr txBox="1"/>
          <p:nvPr/>
        </p:nvSpPr>
        <p:spPr>
          <a:xfrm>
            <a:off x="1682106" y="1024304"/>
            <a:ext cx="651340" cy="156518"/>
          </a:xfrm>
          <a:prstGeom prst="rect">
            <a:avLst/>
          </a:prstGeom>
          <a:noFill/>
        </p:spPr>
        <p:txBody>
          <a:bodyPr wrap="square" rtlCol="0">
            <a:noAutofit/>
          </a:bodyPr>
          <a:lstStyle/>
          <a:p>
            <a:pPr marL="0" marR="0" lvl="0" indent="0" algn="ctr" defTabSz="1187450" rtl="0" eaLnBrk="1" fontAlgn="ctr" latinLnBrk="0" hangingPunct="1">
              <a:lnSpc>
                <a:spcPct val="100000"/>
              </a:lnSpc>
              <a:spcBef>
                <a:spcPts val="0"/>
              </a:spcBef>
              <a:spcAft>
                <a:spcPts val="0"/>
              </a:spcAft>
              <a:buClrTx/>
              <a:buSzTx/>
              <a:buFontTx/>
              <a:buNone/>
              <a:defRPr/>
            </a:pPr>
            <a:r>
              <a:rPr kumimoji="0" lang="en-US" altLang="zh-CN" sz="1200" b="1" kern="1200" cap="none" spc="0" normalizeH="0" baseline="0" noProof="0" dirty="0">
                <a:ln>
                  <a:noFill/>
                </a:ln>
                <a:effectLst/>
                <a:uLnTx/>
                <a:uFillTx/>
                <a:latin typeface="微软雅黑" charset="0"/>
                <a:ea typeface="微软雅黑" charset="0"/>
                <a:cs typeface="+mn-cs"/>
                <a:sym typeface="+mn-ea"/>
              </a:rPr>
              <a:t>4.29</a:t>
            </a:r>
            <a:endParaRPr kumimoji="0" lang="zh-CN" altLang="en-US" sz="1200" b="0" i="0" u="none" strike="noStrike" kern="1200" cap="none" spc="0" normalizeH="0" baseline="0" noProof="0" dirty="0">
              <a:ln>
                <a:noFill/>
              </a:ln>
              <a:effectLst/>
              <a:uLnTx/>
              <a:uFillTx/>
              <a:latin typeface="微软雅黑" charset="0"/>
              <a:ea typeface="微软雅黑" charset="0"/>
              <a:cs typeface="+mn-cs"/>
              <a:sym typeface="+mn-ea"/>
            </a:endParaRPr>
          </a:p>
        </p:txBody>
      </p:sp>
      <p:sp>
        <p:nvSpPr>
          <p:cNvPr id="102" name="文本框 101"/>
          <p:cNvSpPr txBox="1"/>
          <p:nvPr/>
        </p:nvSpPr>
        <p:spPr>
          <a:xfrm>
            <a:off x="2528462" y="1017484"/>
            <a:ext cx="651340" cy="156518"/>
          </a:xfrm>
          <a:prstGeom prst="rect">
            <a:avLst/>
          </a:prstGeom>
          <a:noFill/>
        </p:spPr>
        <p:txBody>
          <a:bodyPr wrap="square" rtlCol="0">
            <a:noAutofit/>
          </a:bodyPr>
          <a:lstStyle/>
          <a:p>
            <a:pPr marL="0" marR="0" lvl="0" indent="0" algn="ctr" defTabSz="1187450" rtl="0" eaLnBrk="1" fontAlgn="ctr" latinLnBrk="0" hangingPunct="1">
              <a:lnSpc>
                <a:spcPct val="100000"/>
              </a:lnSpc>
              <a:spcBef>
                <a:spcPts val="0"/>
              </a:spcBef>
              <a:spcAft>
                <a:spcPts val="0"/>
              </a:spcAft>
              <a:buClrTx/>
              <a:buSzTx/>
              <a:buFontTx/>
              <a:buNone/>
              <a:defRPr/>
            </a:pPr>
            <a:r>
              <a:rPr kumimoji="0" lang="en-US" altLang="zh-CN" sz="1200" b="1" kern="1200" cap="none" spc="0" normalizeH="0" baseline="0" noProof="0" dirty="0">
                <a:ln>
                  <a:noFill/>
                </a:ln>
                <a:effectLst/>
                <a:uLnTx/>
                <a:uFillTx/>
                <a:latin typeface="微软雅黑" charset="0"/>
                <a:ea typeface="微软雅黑" charset="0"/>
                <a:cs typeface="+mn-cs"/>
                <a:sym typeface="+mn-ea"/>
              </a:rPr>
              <a:t>7.21</a:t>
            </a:r>
            <a:endParaRPr kumimoji="0" lang="zh-CN" altLang="en-US" sz="1200" b="0" i="0" u="none" strike="noStrike" kern="1200" cap="none" spc="0" normalizeH="0" baseline="0" noProof="0" dirty="0">
              <a:ln>
                <a:noFill/>
              </a:ln>
              <a:effectLst/>
              <a:uLnTx/>
              <a:uFillTx/>
              <a:latin typeface="微软雅黑" charset="0"/>
              <a:ea typeface="微软雅黑" charset="0"/>
              <a:cs typeface="+mn-cs"/>
              <a:sym typeface="+mn-ea"/>
            </a:endParaRPr>
          </a:p>
        </p:txBody>
      </p:sp>
      <p:sp>
        <p:nvSpPr>
          <p:cNvPr id="103" name="文本框 102"/>
          <p:cNvSpPr txBox="1"/>
          <p:nvPr/>
        </p:nvSpPr>
        <p:spPr>
          <a:xfrm>
            <a:off x="3248999" y="1010013"/>
            <a:ext cx="651340" cy="156518"/>
          </a:xfrm>
          <a:prstGeom prst="rect">
            <a:avLst/>
          </a:prstGeom>
          <a:noFill/>
        </p:spPr>
        <p:txBody>
          <a:bodyPr wrap="square" rtlCol="0">
            <a:noAutofit/>
          </a:bodyPr>
          <a:lstStyle/>
          <a:p>
            <a:pPr marL="0" marR="0" lvl="0" indent="0" algn="ctr" defTabSz="1187450" rtl="0" eaLnBrk="1" fontAlgn="ctr" latinLnBrk="0" hangingPunct="1">
              <a:lnSpc>
                <a:spcPct val="100000"/>
              </a:lnSpc>
              <a:spcBef>
                <a:spcPts val="0"/>
              </a:spcBef>
              <a:spcAft>
                <a:spcPts val="0"/>
              </a:spcAft>
              <a:buClrTx/>
              <a:buSzTx/>
              <a:buFontTx/>
              <a:buNone/>
              <a:defRPr/>
            </a:pPr>
            <a:r>
              <a:rPr kumimoji="0" lang="en-US" altLang="zh-CN" sz="1200" b="1" kern="1200" cap="none" spc="0" normalizeH="0" baseline="0" noProof="0" dirty="0">
                <a:ln>
                  <a:noFill/>
                </a:ln>
                <a:effectLst/>
                <a:uLnTx/>
                <a:uFillTx/>
                <a:latin typeface="微软雅黑" charset="0"/>
                <a:ea typeface="微软雅黑" charset="0"/>
                <a:cs typeface="+mn-cs"/>
                <a:sym typeface="+mn-ea"/>
              </a:rPr>
              <a:t>9.12</a:t>
            </a:r>
            <a:endParaRPr kumimoji="0" lang="zh-CN" altLang="en-US" sz="1200" b="0" i="0" u="none" strike="noStrike" kern="1200" cap="none" spc="0" normalizeH="0" baseline="0" noProof="0" dirty="0">
              <a:ln>
                <a:noFill/>
              </a:ln>
              <a:effectLst/>
              <a:uLnTx/>
              <a:uFillTx/>
              <a:latin typeface="微软雅黑" charset="0"/>
              <a:ea typeface="微软雅黑" charset="0"/>
              <a:cs typeface="+mn-cs"/>
              <a:sym typeface="+mn-ea"/>
            </a:endParaRPr>
          </a:p>
        </p:txBody>
      </p:sp>
      <p:sp>
        <p:nvSpPr>
          <p:cNvPr id="104" name="文本框 103"/>
          <p:cNvSpPr txBox="1"/>
          <p:nvPr/>
        </p:nvSpPr>
        <p:spPr>
          <a:xfrm>
            <a:off x="595141" y="676859"/>
            <a:ext cx="945589" cy="156518"/>
          </a:xfrm>
          <a:prstGeom prst="rect">
            <a:avLst/>
          </a:prstGeom>
          <a:noFill/>
        </p:spPr>
        <p:txBody>
          <a:bodyPr wrap="square" rtlCol="0">
            <a:noAutofit/>
          </a:bodyPr>
          <a:lstStyle/>
          <a:p>
            <a:pPr marL="0" marR="0" lvl="0" indent="0" algn="ctr" defTabSz="1187450" rtl="0" eaLnBrk="1" fontAlgn="ctr" latinLnBrk="0" hangingPunct="1">
              <a:lnSpc>
                <a:spcPct val="100000"/>
              </a:lnSpc>
              <a:spcBef>
                <a:spcPts val="0"/>
              </a:spcBef>
              <a:spcAft>
                <a:spcPts val="0"/>
              </a:spcAft>
              <a:buClrTx/>
              <a:buSzTx/>
              <a:buFontTx/>
              <a:buNone/>
              <a:defRPr/>
            </a:pPr>
            <a:r>
              <a:rPr kumimoji="0" lang="en-US" altLang="zh-CN" sz="800" kern="1200" cap="none" spc="0" normalizeH="0" baseline="0" noProof="0" dirty="0">
                <a:ln>
                  <a:noFill/>
                </a:ln>
                <a:effectLst/>
                <a:uLnTx/>
                <a:uFillTx/>
                <a:latin typeface="微软雅黑" charset="0"/>
                <a:ea typeface="微软雅黑" charset="0"/>
                <a:cs typeface="+mn-cs"/>
                <a:sym typeface="+mn-ea"/>
              </a:rPr>
              <a:t>DS R1</a:t>
            </a:r>
            <a:endParaRPr kumimoji="0" lang="zh-CN" altLang="en-US" sz="800" i="0" u="none" strike="noStrike" kern="1200" cap="none" spc="0" normalizeH="0" baseline="0" noProof="0" dirty="0">
              <a:ln>
                <a:noFill/>
              </a:ln>
              <a:effectLst/>
              <a:uLnTx/>
              <a:uFillTx/>
              <a:latin typeface="微软雅黑" charset="0"/>
              <a:ea typeface="微软雅黑" charset="0"/>
              <a:cs typeface="+mn-cs"/>
              <a:sym typeface="+mn-ea"/>
            </a:endParaRPr>
          </a:p>
        </p:txBody>
      </p:sp>
      <p:sp>
        <p:nvSpPr>
          <p:cNvPr id="105" name="文本框 104"/>
          <p:cNvSpPr txBox="1"/>
          <p:nvPr/>
        </p:nvSpPr>
        <p:spPr>
          <a:xfrm>
            <a:off x="1540730" y="608693"/>
            <a:ext cx="945589" cy="156518"/>
          </a:xfrm>
          <a:prstGeom prst="rect">
            <a:avLst/>
          </a:prstGeom>
          <a:noFill/>
        </p:spPr>
        <p:txBody>
          <a:bodyPr wrap="square" rtlCol="0">
            <a:noAutofit/>
          </a:bodyPr>
          <a:lstStyle/>
          <a:p>
            <a:pPr marL="0" marR="0" lvl="0" indent="0" algn="ctr" defTabSz="1187450" rtl="0" eaLnBrk="1" fontAlgn="ctr" latinLnBrk="0" hangingPunct="1">
              <a:lnSpc>
                <a:spcPct val="100000"/>
              </a:lnSpc>
              <a:spcBef>
                <a:spcPts val="0"/>
              </a:spcBef>
              <a:spcAft>
                <a:spcPts val="0"/>
              </a:spcAft>
              <a:buClrTx/>
              <a:buSzTx/>
              <a:buFontTx/>
              <a:buNone/>
              <a:defRPr/>
            </a:pPr>
            <a:r>
              <a:rPr lang="en-US" altLang="zh-CN" sz="800" i="0" u="none" strike="noStrike" dirty="0">
                <a:latin typeface="微软雅黑" charset="0"/>
                <a:ea typeface="微软雅黑" charset="0"/>
                <a:sym typeface="+mn-ea"/>
              </a:rPr>
              <a:t>Qwen3-235B</a:t>
            </a:r>
            <a:endParaRPr lang="en-US" altLang="zh-CN" sz="800" dirty="0">
              <a:latin typeface="微软雅黑" charset="0"/>
              <a:ea typeface="微软雅黑" charset="0"/>
              <a:sym typeface="+mn-ea"/>
            </a:endParaRPr>
          </a:p>
          <a:p>
            <a:pPr marL="0" marR="0" lvl="0" indent="0" algn="ctr" defTabSz="1187450" rtl="0" eaLnBrk="1" fontAlgn="ctr" latinLnBrk="0" hangingPunct="1">
              <a:lnSpc>
                <a:spcPct val="100000"/>
              </a:lnSpc>
              <a:spcBef>
                <a:spcPts val="0"/>
              </a:spcBef>
              <a:spcAft>
                <a:spcPts val="0"/>
              </a:spcAft>
              <a:buClrTx/>
              <a:buSzTx/>
              <a:buFontTx/>
              <a:buNone/>
              <a:defRPr/>
            </a:pPr>
            <a:r>
              <a:rPr kumimoji="0" lang="en-US" altLang="zh-CN" sz="800" i="0" u="none" strike="noStrike" kern="1200" cap="none" spc="0" normalizeH="0" baseline="0" noProof="0" dirty="0">
                <a:ln>
                  <a:noFill/>
                </a:ln>
                <a:effectLst/>
                <a:uLnTx/>
                <a:uFillTx/>
                <a:latin typeface="微软雅黑" charset="0"/>
                <a:ea typeface="微软雅黑" charset="0"/>
                <a:cs typeface="+mn-cs"/>
                <a:sym typeface="+mn-ea"/>
              </a:rPr>
              <a:t>/30B/32B</a:t>
            </a:r>
          </a:p>
        </p:txBody>
      </p:sp>
      <p:sp>
        <p:nvSpPr>
          <p:cNvPr id="106" name="文本框 105"/>
          <p:cNvSpPr txBox="1"/>
          <p:nvPr/>
        </p:nvSpPr>
        <p:spPr>
          <a:xfrm>
            <a:off x="2257741" y="680765"/>
            <a:ext cx="1192761" cy="156518"/>
          </a:xfrm>
          <a:prstGeom prst="rect">
            <a:avLst/>
          </a:prstGeom>
          <a:noFill/>
        </p:spPr>
        <p:txBody>
          <a:bodyPr wrap="square" rtlCol="0">
            <a:noAutofit/>
          </a:bodyPr>
          <a:lstStyle/>
          <a:p>
            <a:pPr marL="0" marR="0" lvl="0" indent="0" algn="ctr" defTabSz="1187450" rtl="0" eaLnBrk="1" fontAlgn="ctr" latinLnBrk="0" hangingPunct="1">
              <a:lnSpc>
                <a:spcPct val="100000"/>
              </a:lnSpc>
              <a:spcBef>
                <a:spcPts val="0"/>
              </a:spcBef>
              <a:spcAft>
                <a:spcPts val="0"/>
              </a:spcAft>
              <a:buClrTx/>
              <a:buSzTx/>
              <a:buFontTx/>
              <a:buNone/>
              <a:defRPr/>
            </a:pPr>
            <a:r>
              <a:rPr kumimoji="0" lang="en-US" altLang="zh-CN" sz="800" kern="1200" cap="none" spc="0" normalizeH="0" baseline="0" noProof="0" dirty="0">
                <a:ln>
                  <a:noFill/>
                </a:ln>
                <a:effectLst/>
                <a:uLnTx/>
                <a:uFillTx/>
                <a:latin typeface="微软雅黑" charset="0"/>
                <a:ea typeface="微软雅黑" charset="0"/>
                <a:cs typeface="+mn-cs"/>
                <a:sym typeface="+mn-ea"/>
              </a:rPr>
              <a:t>Qwen3-235B</a:t>
            </a:r>
            <a:endParaRPr kumimoji="0" lang="zh-CN" altLang="en-US" sz="800" i="0" u="none" strike="noStrike" kern="1200" cap="none" spc="0" normalizeH="0" baseline="0" noProof="0" dirty="0">
              <a:ln>
                <a:noFill/>
              </a:ln>
              <a:effectLst/>
              <a:uLnTx/>
              <a:uFillTx/>
              <a:latin typeface="微软雅黑" charset="0"/>
              <a:ea typeface="微软雅黑" charset="0"/>
              <a:cs typeface="+mn-cs"/>
              <a:sym typeface="+mn-ea"/>
            </a:endParaRPr>
          </a:p>
        </p:txBody>
      </p:sp>
      <p:sp>
        <p:nvSpPr>
          <p:cNvPr id="107" name="文本框 106"/>
          <p:cNvSpPr txBox="1"/>
          <p:nvPr/>
        </p:nvSpPr>
        <p:spPr>
          <a:xfrm>
            <a:off x="3101840" y="697937"/>
            <a:ext cx="945589" cy="135440"/>
          </a:xfrm>
          <a:prstGeom prst="rect">
            <a:avLst/>
          </a:prstGeom>
          <a:noFill/>
        </p:spPr>
        <p:txBody>
          <a:bodyPr wrap="square" rtlCol="0">
            <a:noAutofit/>
          </a:bodyPr>
          <a:lstStyle/>
          <a:p>
            <a:pPr marL="0" marR="0" lvl="0" indent="0" algn="ctr" defTabSz="1187450" rtl="0" eaLnBrk="1" fontAlgn="ctr" latinLnBrk="0" hangingPunct="1">
              <a:lnSpc>
                <a:spcPct val="100000"/>
              </a:lnSpc>
              <a:spcBef>
                <a:spcPts val="0"/>
              </a:spcBef>
              <a:spcAft>
                <a:spcPts val="0"/>
              </a:spcAft>
              <a:buClrTx/>
              <a:buSzTx/>
              <a:buFontTx/>
              <a:buNone/>
              <a:defRPr/>
            </a:pPr>
            <a:r>
              <a:rPr kumimoji="0" lang="en-US" altLang="zh-CN" sz="800" kern="1200" cap="none" spc="0" normalizeH="0" baseline="0" noProof="0" dirty="0">
                <a:ln>
                  <a:noFill/>
                </a:ln>
                <a:effectLst/>
                <a:uLnTx/>
                <a:uFillTx/>
                <a:latin typeface="微软雅黑" charset="0"/>
                <a:ea typeface="微软雅黑" charset="0"/>
                <a:cs typeface="+mn-cs"/>
                <a:sym typeface="+mn-ea"/>
              </a:rPr>
              <a:t>Qwen3-next</a:t>
            </a:r>
            <a:endParaRPr kumimoji="0" lang="zh-CN" altLang="en-US" sz="800" i="0" u="none" strike="noStrike" kern="1200" cap="none" spc="0" normalizeH="0" baseline="0" noProof="0" dirty="0">
              <a:ln>
                <a:noFill/>
              </a:ln>
              <a:effectLst/>
              <a:uLnTx/>
              <a:uFillTx/>
              <a:latin typeface="微软雅黑" charset="0"/>
              <a:ea typeface="微软雅黑" charset="0"/>
              <a:cs typeface="+mn-cs"/>
              <a:sym typeface="+mn-ea"/>
            </a:endParaRPr>
          </a:p>
        </p:txBody>
      </p:sp>
      <p:sp>
        <p:nvSpPr>
          <p:cNvPr id="109" name="文本框 108"/>
          <p:cNvSpPr txBox="1"/>
          <p:nvPr/>
        </p:nvSpPr>
        <p:spPr>
          <a:xfrm>
            <a:off x="5766248" y="769840"/>
            <a:ext cx="583304" cy="114242"/>
          </a:xfrm>
          <a:prstGeom prst="rect">
            <a:avLst/>
          </a:prstGeom>
          <a:noFill/>
        </p:spPr>
        <p:txBody>
          <a:bodyPr wrap="square" rtlCol="0">
            <a:noAutofit/>
          </a:bodyPr>
          <a:lstStyle/>
          <a:p>
            <a:pPr marL="0" marR="0" lvl="0" indent="0" algn="ctr" defTabSz="1187450" rtl="0" eaLnBrk="1" fontAlgn="ctr" latinLnBrk="0" hangingPunct="1">
              <a:lnSpc>
                <a:spcPct val="100000"/>
              </a:lnSpc>
              <a:spcBef>
                <a:spcPts val="0"/>
              </a:spcBef>
              <a:spcAft>
                <a:spcPts val="0"/>
              </a:spcAft>
              <a:buClrTx/>
              <a:buSzTx/>
              <a:buFontTx/>
              <a:buNone/>
              <a:defRPr/>
            </a:pPr>
            <a:r>
              <a:rPr kumimoji="0" lang="en-US" altLang="zh-CN" sz="1200" b="1" kern="1200" cap="none" spc="0" normalizeH="0" baseline="0" noProof="0" dirty="0">
                <a:ln>
                  <a:noFill/>
                </a:ln>
                <a:effectLst/>
                <a:uLnTx/>
                <a:uFillTx/>
                <a:latin typeface="微软雅黑" charset="0"/>
                <a:ea typeface="微软雅黑" charset="0"/>
                <a:cs typeface="+mn-cs"/>
                <a:sym typeface="+mn-ea"/>
              </a:rPr>
              <a:t>1.27</a:t>
            </a:r>
            <a:endParaRPr kumimoji="0" lang="zh-CN" altLang="en-US" sz="1200" b="0" i="0" u="none" strike="noStrike" kern="1200" cap="none" spc="0" normalizeH="0" baseline="0" noProof="0" dirty="0">
              <a:ln>
                <a:noFill/>
              </a:ln>
              <a:effectLst/>
              <a:uLnTx/>
              <a:uFillTx/>
              <a:latin typeface="微软雅黑" charset="0"/>
              <a:ea typeface="微软雅黑" charset="0"/>
              <a:cs typeface="+mn-cs"/>
              <a:sym typeface="+mn-ea"/>
            </a:endParaRPr>
          </a:p>
        </p:txBody>
      </p:sp>
      <p:sp>
        <p:nvSpPr>
          <p:cNvPr id="110" name="文本框 109"/>
          <p:cNvSpPr txBox="1"/>
          <p:nvPr/>
        </p:nvSpPr>
        <p:spPr>
          <a:xfrm>
            <a:off x="5575048" y="541240"/>
            <a:ext cx="877553" cy="114242"/>
          </a:xfrm>
          <a:prstGeom prst="rect">
            <a:avLst/>
          </a:prstGeom>
          <a:noFill/>
        </p:spPr>
        <p:txBody>
          <a:bodyPr wrap="square" rtlCol="0">
            <a:noAutofit/>
          </a:bodyPr>
          <a:lstStyle/>
          <a:p>
            <a:pPr marL="0" marR="0" lvl="0" indent="0" algn="ctr" defTabSz="1187450" rtl="0" eaLnBrk="1" fontAlgn="ctr" latinLnBrk="0" hangingPunct="1">
              <a:lnSpc>
                <a:spcPct val="100000"/>
              </a:lnSpc>
              <a:spcBef>
                <a:spcPts val="0"/>
              </a:spcBef>
              <a:spcAft>
                <a:spcPts val="0"/>
              </a:spcAft>
              <a:buClrTx/>
              <a:buSzTx/>
              <a:buFontTx/>
              <a:buNone/>
              <a:defRPr/>
            </a:pPr>
            <a:r>
              <a:rPr kumimoji="0" lang="en-US" altLang="zh-CN" sz="800" kern="1200" cap="none" spc="0" normalizeH="0" baseline="0" noProof="0" dirty="0">
                <a:ln>
                  <a:noFill/>
                </a:ln>
                <a:effectLst/>
                <a:uLnTx/>
                <a:uFillTx/>
                <a:latin typeface="微软雅黑" charset="0"/>
                <a:ea typeface="微软雅黑" charset="0"/>
                <a:cs typeface="+mn-cs"/>
                <a:sym typeface="+mn-ea"/>
              </a:rPr>
              <a:t>Kimi K2.5</a:t>
            </a:r>
            <a:endParaRPr kumimoji="0" lang="zh-CN" altLang="en-US" sz="800" i="0" u="none" strike="noStrike" kern="1200" cap="none" spc="0" normalizeH="0" baseline="0" noProof="0" dirty="0">
              <a:ln>
                <a:noFill/>
              </a:ln>
              <a:effectLst/>
              <a:uLnTx/>
              <a:uFillTx/>
              <a:latin typeface="微软雅黑" charset="0"/>
              <a:ea typeface="微软雅黑" charset="0"/>
              <a:cs typeface="+mn-cs"/>
              <a:sym typeface="+mn-ea"/>
            </a:endParaRPr>
          </a:p>
        </p:txBody>
      </p:sp>
      <p:sp>
        <p:nvSpPr>
          <p:cNvPr id="112" name="文本框 111"/>
          <p:cNvSpPr txBox="1"/>
          <p:nvPr/>
        </p:nvSpPr>
        <p:spPr>
          <a:xfrm>
            <a:off x="4092733" y="1031775"/>
            <a:ext cx="651340" cy="156518"/>
          </a:xfrm>
          <a:prstGeom prst="rect">
            <a:avLst/>
          </a:prstGeom>
          <a:noFill/>
        </p:spPr>
        <p:txBody>
          <a:bodyPr wrap="square" rtlCol="0">
            <a:noAutofit/>
          </a:bodyPr>
          <a:lstStyle/>
          <a:p>
            <a:pPr marL="0" marR="0" lvl="0" indent="0" algn="ctr" defTabSz="1187450" rtl="0" eaLnBrk="1" fontAlgn="ctr" latinLnBrk="0" hangingPunct="1">
              <a:lnSpc>
                <a:spcPct val="100000"/>
              </a:lnSpc>
              <a:spcBef>
                <a:spcPts val="0"/>
              </a:spcBef>
              <a:spcAft>
                <a:spcPts val="0"/>
              </a:spcAft>
              <a:buClrTx/>
              <a:buSzTx/>
              <a:buFontTx/>
              <a:buNone/>
              <a:defRPr/>
            </a:pPr>
            <a:r>
              <a:rPr kumimoji="0" lang="en-US" altLang="zh-CN" sz="1200" b="1" kern="1200" cap="none" spc="0" normalizeH="0" baseline="0" noProof="0" dirty="0">
                <a:ln>
                  <a:noFill/>
                </a:ln>
                <a:effectLst/>
                <a:uLnTx/>
                <a:uFillTx/>
                <a:latin typeface="微软雅黑" charset="0"/>
                <a:ea typeface="微软雅黑" charset="0"/>
                <a:cs typeface="+mn-cs"/>
                <a:sym typeface="+mn-ea"/>
              </a:rPr>
              <a:t>9.29</a:t>
            </a:r>
            <a:endParaRPr kumimoji="0" lang="zh-CN" altLang="en-US" sz="1200" b="0" i="0" u="none" strike="noStrike" kern="1200" cap="none" spc="0" normalizeH="0" baseline="0" noProof="0" dirty="0">
              <a:ln>
                <a:noFill/>
              </a:ln>
              <a:effectLst/>
              <a:uLnTx/>
              <a:uFillTx/>
              <a:latin typeface="微软雅黑" charset="0"/>
              <a:ea typeface="微软雅黑" charset="0"/>
              <a:cs typeface="+mn-cs"/>
              <a:sym typeface="+mn-ea"/>
            </a:endParaRPr>
          </a:p>
        </p:txBody>
      </p:sp>
      <p:sp>
        <p:nvSpPr>
          <p:cNvPr id="113" name="文本框 112"/>
          <p:cNvSpPr txBox="1"/>
          <p:nvPr/>
        </p:nvSpPr>
        <p:spPr>
          <a:xfrm>
            <a:off x="3945650" y="715479"/>
            <a:ext cx="945589" cy="135440"/>
          </a:xfrm>
          <a:prstGeom prst="rect">
            <a:avLst/>
          </a:prstGeom>
          <a:noFill/>
        </p:spPr>
        <p:txBody>
          <a:bodyPr wrap="square" rtlCol="0">
            <a:noAutofit/>
          </a:bodyPr>
          <a:lstStyle/>
          <a:p>
            <a:pPr marL="0" marR="0" lvl="0" indent="0" algn="ctr" defTabSz="1187450" rtl="0" eaLnBrk="1" fontAlgn="ctr" latinLnBrk="0" hangingPunct="1">
              <a:lnSpc>
                <a:spcPct val="100000"/>
              </a:lnSpc>
              <a:spcBef>
                <a:spcPts val="0"/>
              </a:spcBef>
              <a:spcAft>
                <a:spcPts val="0"/>
              </a:spcAft>
              <a:buClrTx/>
              <a:buSzTx/>
              <a:buFontTx/>
              <a:buNone/>
              <a:defRPr/>
            </a:pPr>
            <a:r>
              <a:rPr kumimoji="0" lang="en-US" altLang="zh-CN" sz="800" kern="1200" cap="none" spc="0" normalizeH="0" baseline="0" noProof="0" dirty="0">
                <a:ln>
                  <a:noFill/>
                </a:ln>
                <a:effectLst/>
                <a:uLnTx/>
                <a:uFillTx/>
                <a:latin typeface="微软雅黑" charset="0"/>
                <a:ea typeface="微软雅黑" charset="0"/>
                <a:cs typeface="+mn-cs"/>
                <a:sym typeface="+mn-ea"/>
              </a:rPr>
              <a:t>DS 3.2</a:t>
            </a:r>
            <a:endParaRPr kumimoji="0" lang="zh-CN" altLang="en-US" sz="800" i="0" u="none" strike="noStrike" kern="1200" cap="none" spc="0" normalizeH="0" baseline="0" noProof="0" dirty="0">
              <a:ln>
                <a:noFill/>
              </a:ln>
              <a:effectLst/>
              <a:uLnTx/>
              <a:uFillTx/>
              <a:latin typeface="微软雅黑" charset="0"/>
              <a:ea typeface="微软雅黑" charset="0"/>
              <a:cs typeface="+mn-cs"/>
              <a:sym typeface="+mn-ea"/>
            </a:endParaRPr>
          </a:p>
        </p:txBody>
      </p:sp>
      <p:sp>
        <p:nvSpPr>
          <p:cNvPr id="114" name="右箭头 113"/>
          <p:cNvSpPr/>
          <p:nvPr userDrawn="1"/>
        </p:nvSpPr>
        <p:spPr>
          <a:xfrm>
            <a:off x="5204249" y="589884"/>
            <a:ext cx="175521" cy="680231"/>
          </a:xfrm>
          <a:prstGeom prst="rightArrow">
            <a:avLst>
              <a:gd name="adj1" fmla="val 50000"/>
              <a:gd name="adj2" fmla="val 62936"/>
            </a:avLst>
          </a:prstGeom>
          <a:solidFill>
            <a:srgbClr val="E2E6ED">
              <a:alpha val="100000"/>
            </a:srgbClr>
          </a:solidFill>
          <a:ln w="12700" cap="flat" cmpd="sng" algn="ctr">
            <a:solidFill>
              <a:srgbClr val="AEB5C0">
                <a:alpha val="100000"/>
              </a:srgb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ot="0" vertOverflow="overflow" horzOverflow="overflow" vert="horz" wrap="square" lIns="91440" tIns="45720" rIns="91440" bIns="45720" numCol="1" spcCol="0" rtlCol="0" fromWordArt="0" anchor="ctr" anchorCtr="0" forceAA="0" compatLnSpc="1">
            <a:noAutofit/>
          </a:bodyPr>
          <a:lstStyle/>
          <a:p>
            <a:pPr algn="ctr"/>
            <a:endParaRPr lang="zh-CN" altLang="en-US">
              <a:solidFill>
                <a:srgbClr val="000000"/>
              </a:solidFill>
            </a:endParaRPr>
          </a:p>
        </p:txBody>
      </p:sp>
      <p:cxnSp>
        <p:nvCxnSpPr>
          <p:cNvPr id="115" name="直接箭头连接符 114"/>
          <p:cNvCxnSpPr/>
          <p:nvPr/>
        </p:nvCxnSpPr>
        <p:spPr>
          <a:xfrm>
            <a:off x="5880616" y="1290937"/>
            <a:ext cx="5536552" cy="13607"/>
          </a:xfrm>
          <a:prstGeom prst="straightConnector1">
            <a:avLst/>
          </a:prstGeom>
          <a:ln w="19050" cap="flat" cmpd="sng" algn="ctr">
            <a:solidFill>
              <a:srgbClr val="000000">
                <a:alpha val="100000"/>
              </a:srgbClr>
            </a:solidFill>
            <a:prstDash val="solid"/>
            <a:miter lim="800000"/>
            <a:tailEnd type="triangle"/>
          </a:ln>
        </p:spPr>
        <p:style>
          <a:lnRef idx="1">
            <a:schemeClr val="accent1"/>
          </a:lnRef>
          <a:fillRef idx="0">
            <a:schemeClr val="accent1"/>
          </a:fillRef>
          <a:effectRef idx="0">
            <a:schemeClr val="accent1"/>
          </a:effectRef>
          <a:fontRef idx="minor">
            <a:schemeClr val="tx1"/>
          </a:fontRef>
        </p:style>
      </p:cxnSp>
      <p:sp>
        <p:nvSpPr>
          <p:cNvPr id="120" name="文本框 119"/>
          <p:cNvSpPr txBox="1"/>
          <p:nvPr/>
        </p:nvSpPr>
        <p:spPr>
          <a:xfrm>
            <a:off x="8012847" y="1266672"/>
            <a:ext cx="583304" cy="114242"/>
          </a:xfrm>
          <a:prstGeom prst="rect">
            <a:avLst/>
          </a:prstGeom>
          <a:noFill/>
        </p:spPr>
        <p:txBody>
          <a:bodyPr wrap="square" rtlCol="0">
            <a:noAutofit/>
          </a:bodyPr>
          <a:lstStyle/>
          <a:p>
            <a:pPr marL="0" marR="0" lvl="0" indent="0" algn="ctr" defTabSz="1187450" rtl="0" eaLnBrk="1" fontAlgn="ctr" latinLnBrk="0" hangingPunct="1">
              <a:lnSpc>
                <a:spcPct val="100000"/>
              </a:lnSpc>
              <a:spcBef>
                <a:spcPts val="0"/>
              </a:spcBef>
              <a:spcAft>
                <a:spcPts val="0"/>
              </a:spcAft>
              <a:buClrTx/>
              <a:buSzTx/>
              <a:buFontTx/>
              <a:buNone/>
              <a:defRPr/>
            </a:pPr>
            <a:r>
              <a:rPr kumimoji="0" lang="en-US" altLang="zh-CN" sz="1200" b="1" kern="1200" cap="none" spc="0" normalizeH="0" baseline="0" noProof="0" dirty="0">
                <a:ln>
                  <a:noFill/>
                </a:ln>
                <a:effectLst/>
                <a:uLnTx/>
                <a:uFillTx/>
                <a:latin typeface="微软雅黑" charset="0"/>
                <a:ea typeface="微软雅黑" charset="0"/>
                <a:cs typeface="+mn-cs"/>
                <a:sym typeface="+mn-ea"/>
              </a:rPr>
              <a:t>4.16</a:t>
            </a:r>
            <a:endParaRPr kumimoji="0" lang="zh-CN" altLang="en-US" sz="1200" b="0" i="0" u="none" strike="noStrike" kern="1200" cap="none" spc="0" normalizeH="0" baseline="0" noProof="0" dirty="0">
              <a:ln>
                <a:noFill/>
              </a:ln>
              <a:effectLst/>
              <a:uLnTx/>
              <a:uFillTx/>
              <a:latin typeface="微软雅黑" charset="0"/>
              <a:ea typeface="微软雅黑" charset="0"/>
              <a:cs typeface="+mn-cs"/>
              <a:sym typeface="+mn-ea"/>
            </a:endParaRPr>
          </a:p>
        </p:txBody>
      </p:sp>
      <p:sp>
        <p:nvSpPr>
          <p:cNvPr id="121" name="文本框 120"/>
          <p:cNvSpPr txBox="1"/>
          <p:nvPr/>
        </p:nvSpPr>
        <p:spPr>
          <a:xfrm>
            <a:off x="8733384" y="1259201"/>
            <a:ext cx="583304" cy="114242"/>
          </a:xfrm>
          <a:prstGeom prst="rect">
            <a:avLst/>
          </a:prstGeom>
          <a:noFill/>
        </p:spPr>
        <p:txBody>
          <a:bodyPr wrap="square" rtlCol="0">
            <a:noAutofit/>
          </a:bodyPr>
          <a:lstStyle/>
          <a:p>
            <a:pPr marL="0" marR="0" lvl="0" indent="0" algn="ctr" defTabSz="1187450" rtl="0" eaLnBrk="1" fontAlgn="ctr" latinLnBrk="0" hangingPunct="1">
              <a:lnSpc>
                <a:spcPct val="100000"/>
              </a:lnSpc>
              <a:spcBef>
                <a:spcPts val="0"/>
              </a:spcBef>
              <a:spcAft>
                <a:spcPts val="0"/>
              </a:spcAft>
              <a:buClrTx/>
              <a:buSzTx/>
              <a:buFontTx/>
              <a:buNone/>
              <a:defRPr/>
            </a:pPr>
            <a:r>
              <a:rPr kumimoji="0" lang="en-US" altLang="zh-CN" sz="1200" b="1" kern="1200" cap="none" spc="0" normalizeH="0" baseline="0" noProof="0" dirty="0">
                <a:ln>
                  <a:noFill/>
                </a:ln>
                <a:effectLst/>
                <a:uLnTx/>
                <a:uFillTx/>
                <a:latin typeface="微软雅黑" charset="0"/>
                <a:ea typeface="微软雅黑" charset="0"/>
                <a:cs typeface="+mn-cs"/>
                <a:sym typeface="+mn-ea"/>
              </a:rPr>
              <a:t>4.20</a:t>
            </a:r>
            <a:endParaRPr kumimoji="0" lang="zh-CN" altLang="en-US" sz="1200" b="0" i="0" u="none" strike="noStrike" kern="1200" cap="none" spc="0" normalizeH="0" baseline="0" noProof="0" dirty="0">
              <a:ln>
                <a:noFill/>
              </a:ln>
              <a:effectLst/>
              <a:uLnTx/>
              <a:uFillTx/>
              <a:latin typeface="微软雅黑" charset="0"/>
              <a:ea typeface="微软雅黑" charset="0"/>
              <a:cs typeface="+mn-cs"/>
              <a:sym typeface="+mn-ea"/>
            </a:endParaRPr>
          </a:p>
        </p:txBody>
      </p:sp>
      <p:sp>
        <p:nvSpPr>
          <p:cNvPr id="123" name="文本框 122"/>
          <p:cNvSpPr txBox="1"/>
          <p:nvPr/>
        </p:nvSpPr>
        <p:spPr>
          <a:xfrm>
            <a:off x="9593177" y="1256376"/>
            <a:ext cx="583304" cy="114242"/>
          </a:xfrm>
          <a:prstGeom prst="rect">
            <a:avLst/>
          </a:prstGeom>
          <a:noFill/>
        </p:spPr>
        <p:txBody>
          <a:bodyPr wrap="square" rtlCol="0">
            <a:noAutofit/>
          </a:bodyPr>
          <a:lstStyle/>
          <a:p>
            <a:pPr marL="0" marR="0" lvl="0" indent="0" algn="ctr" defTabSz="1187450" rtl="0" eaLnBrk="1" fontAlgn="ctr" latinLnBrk="0" hangingPunct="1">
              <a:lnSpc>
                <a:spcPct val="100000"/>
              </a:lnSpc>
              <a:spcBef>
                <a:spcPts val="0"/>
              </a:spcBef>
              <a:spcAft>
                <a:spcPts val="0"/>
              </a:spcAft>
              <a:buClrTx/>
              <a:buSzTx/>
              <a:buFontTx/>
              <a:buNone/>
              <a:defRPr/>
            </a:pPr>
            <a:r>
              <a:rPr kumimoji="0" lang="en-US" altLang="zh-CN" sz="1200" b="1" kern="1200" cap="none" spc="0" normalizeH="0" baseline="0" noProof="0" dirty="0">
                <a:ln>
                  <a:noFill/>
                </a:ln>
                <a:effectLst/>
                <a:uLnTx/>
                <a:uFillTx/>
                <a:latin typeface="微软雅黑" charset="0"/>
                <a:ea typeface="微软雅黑" charset="0"/>
                <a:cs typeface="+mn-cs"/>
                <a:sym typeface="+mn-ea"/>
              </a:rPr>
              <a:t>4.22</a:t>
            </a:r>
            <a:endParaRPr kumimoji="0" lang="zh-CN" altLang="en-US" sz="1200" b="0" i="0" u="none" strike="noStrike" kern="1200" cap="none" spc="0" normalizeH="0" baseline="0" noProof="0" dirty="0">
              <a:ln>
                <a:noFill/>
              </a:ln>
              <a:effectLst/>
              <a:uLnTx/>
              <a:uFillTx/>
              <a:latin typeface="微软雅黑" charset="0"/>
              <a:ea typeface="微软雅黑" charset="0"/>
              <a:cs typeface="+mn-cs"/>
              <a:sym typeface="+mn-ea"/>
            </a:endParaRPr>
          </a:p>
        </p:txBody>
      </p:sp>
      <p:sp>
        <p:nvSpPr>
          <p:cNvPr id="124" name="文本框 123"/>
          <p:cNvSpPr txBox="1"/>
          <p:nvPr/>
        </p:nvSpPr>
        <p:spPr>
          <a:xfrm>
            <a:off x="7691701" y="1089140"/>
            <a:ext cx="1124725" cy="114242"/>
          </a:xfrm>
          <a:prstGeom prst="rect">
            <a:avLst/>
          </a:prstGeom>
          <a:noFill/>
        </p:spPr>
        <p:txBody>
          <a:bodyPr wrap="square" rtlCol="0" anchor="ctr">
            <a:noAutofit/>
          </a:bodyPr>
          <a:lstStyle/>
          <a:p>
            <a:pPr marL="0" marR="0" lvl="0" indent="0" algn="ctr" defTabSz="1187450" rtl="0" eaLnBrk="1" fontAlgn="ctr" latinLnBrk="0" hangingPunct="1">
              <a:lnSpc>
                <a:spcPct val="100000"/>
              </a:lnSpc>
              <a:spcBef>
                <a:spcPts val="0"/>
              </a:spcBef>
              <a:spcAft>
                <a:spcPts val="0"/>
              </a:spcAft>
              <a:buClrTx/>
              <a:buSzTx/>
              <a:buFontTx/>
              <a:buNone/>
              <a:defRPr/>
            </a:pPr>
            <a:r>
              <a:rPr kumimoji="0" lang="en-US" altLang="zh-CN" sz="800" kern="1200" cap="none" spc="0" normalizeH="0" baseline="0" noProof="0" dirty="0">
                <a:ln>
                  <a:noFill/>
                </a:ln>
                <a:effectLst/>
                <a:uLnTx/>
                <a:uFillTx/>
                <a:latin typeface="微软雅黑" charset="0"/>
                <a:ea typeface="微软雅黑" charset="0"/>
                <a:cs typeface="+mn-cs"/>
                <a:sym typeface="+mn-ea"/>
              </a:rPr>
              <a:t>Qwen3.6 35B</a:t>
            </a:r>
            <a:endParaRPr kumimoji="0" lang="zh-CN" altLang="en-US" sz="800" i="0" u="none" strike="noStrike" kern="1200" cap="none" spc="0" normalizeH="0" baseline="0" noProof="0" dirty="0">
              <a:ln>
                <a:noFill/>
              </a:ln>
              <a:effectLst/>
              <a:uLnTx/>
              <a:uFillTx/>
              <a:latin typeface="微软雅黑" charset="0"/>
              <a:ea typeface="微软雅黑" charset="0"/>
              <a:cs typeface="+mn-cs"/>
              <a:sym typeface="+mn-ea"/>
            </a:endParaRPr>
          </a:p>
        </p:txBody>
      </p:sp>
      <p:sp>
        <p:nvSpPr>
          <p:cNvPr id="125" name="文本框 124"/>
          <p:cNvSpPr txBox="1"/>
          <p:nvPr/>
        </p:nvSpPr>
        <p:spPr>
          <a:xfrm>
            <a:off x="8572286" y="1031731"/>
            <a:ext cx="877553" cy="211275"/>
          </a:xfrm>
          <a:prstGeom prst="rect">
            <a:avLst/>
          </a:prstGeom>
          <a:noFill/>
        </p:spPr>
        <p:txBody>
          <a:bodyPr wrap="square" rtlCol="0" anchor="ctr">
            <a:noAutofit/>
          </a:bodyPr>
          <a:lstStyle/>
          <a:p>
            <a:pPr marL="0" marR="0" lvl="0" indent="0" algn="ctr" defTabSz="1187450" rtl="0" eaLnBrk="1" fontAlgn="ctr" latinLnBrk="0" hangingPunct="1">
              <a:lnSpc>
                <a:spcPct val="100000"/>
              </a:lnSpc>
              <a:spcBef>
                <a:spcPts val="0"/>
              </a:spcBef>
              <a:spcAft>
                <a:spcPts val="0"/>
              </a:spcAft>
              <a:buClrTx/>
              <a:buSzTx/>
              <a:buFontTx/>
              <a:buNone/>
              <a:defRPr/>
            </a:pPr>
            <a:r>
              <a:rPr kumimoji="0" lang="en-US" altLang="zh-CN" sz="800" kern="1200" cap="none" spc="0" normalizeH="0" baseline="0" noProof="0" dirty="0">
                <a:ln>
                  <a:noFill/>
                </a:ln>
                <a:effectLst/>
                <a:uLnTx/>
                <a:uFillTx/>
                <a:latin typeface="微软雅黑" charset="0"/>
                <a:ea typeface="微软雅黑" charset="0"/>
                <a:cs typeface="+mn-cs"/>
                <a:sym typeface="+mn-ea"/>
              </a:rPr>
              <a:t>Kimi K2.6</a:t>
            </a:r>
            <a:endParaRPr lang="en-US" altLang="zh-CN" sz="800" i="0" u="none" strike="noStrike" dirty="0">
              <a:latin typeface="微软雅黑" charset="0"/>
              <a:ea typeface="微软雅黑" charset="0"/>
              <a:sym typeface="+mn-ea"/>
            </a:endParaRPr>
          </a:p>
        </p:txBody>
      </p:sp>
      <p:sp>
        <p:nvSpPr>
          <p:cNvPr id="128" name="文本框 127"/>
          <p:cNvSpPr txBox="1"/>
          <p:nvPr/>
        </p:nvSpPr>
        <p:spPr>
          <a:xfrm>
            <a:off x="10653845" y="1256376"/>
            <a:ext cx="583304" cy="114242"/>
          </a:xfrm>
          <a:prstGeom prst="rect">
            <a:avLst/>
          </a:prstGeom>
          <a:noFill/>
        </p:spPr>
        <p:txBody>
          <a:bodyPr wrap="square" rtlCol="0">
            <a:noAutofit/>
          </a:bodyPr>
          <a:lstStyle/>
          <a:p>
            <a:pPr marL="0" marR="0" lvl="0" indent="0" algn="ctr" defTabSz="1187450" rtl="0" eaLnBrk="1" fontAlgn="ctr" latinLnBrk="0" hangingPunct="1">
              <a:lnSpc>
                <a:spcPct val="100000"/>
              </a:lnSpc>
              <a:spcBef>
                <a:spcPts val="0"/>
              </a:spcBef>
              <a:spcAft>
                <a:spcPts val="0"/>
              </a:spcAft>
              <a:buClrTx/>
              <a:buSzTx/>
              <a:buFontTx/>
              <a:buNone/>
              <a:defRPr/>
            </a:pPr>
            <a:r>
              <a:rPr kumimoji="0" lang="en-US" altLang="zh-CN" sz="1200" b="1" kern="1200" cap="none" spc="0" normalizeH="0" baseline="0" noProof="0" dirty="0">
                <a:ln>
                  <a:noFill/>
                </a:ln>
                <a:effectLst/>
                <a:uLnTx/>
                <a:uFillTx/>
                <a:latin typeface="微软雅黑" charset="0"/>
                <a:ea typeface="微软雅黑" charset="0"/>
                <a:cs typeface="+mn-cs"/>
                <a:sym typeface="+mn-ea"/>
              </a:rPr>
              <a:t>4.24</a:t>
            </a:r>
            <a:endParaRPr kumimoji="0" lang="zh-CN" altLang="en-US" sz="1200" b="0" i="0" u="none" strike="noStrike" kern="1200" cap="none" spc="0" normalizeH="0" baseline="0" noProof="0" dirty="0">
              <a:ln>
                <a:noFill/>
              </a:ln>
              <a:effectLst/>
              <a:uLnTx/>
              <a:uFillTx/>
              <a:latin typeface="微软雅黑" charset="0"/>
              <a:ea typeface="微软雅黑" charset="0"/>
              <a:cs typeface="+mn-cs"/>
              <a:sym typeface="+mn-ea"/>
            </a:endParaRPr>
          </a:p>
        </p:txBody>
      </p:sp>
      <p:sp>
        <p:nvSpPr>
          <p:cNvPr id="129" name="文本框 128"/>
          <p:cNvSpPr txBox="1"/>
          <p:nvPr/>
        </p:nvSpPr>
        <p:spPr>
          <a:xfrm>
            <a:off x="10429335" y="970258"/>
            <a:ext cx="1171962" cy="211275"/>
          </a:xfrm>
          <a:prstGeom prst="rect">
            <a:avLst/>
          </a:prstGeom>
          <a:noFill/>
        </p:spPr>
        <p:txBody>
          <a:bodyPr wrap="square" rtlCol="0">
            <a:noAutofit/>
          </a:bodyPr>
          <a:lstStyle/>
          <a:p>
            <a:pPr marL="0" marR="0" lvl="0" indent="0" algn="ctr" defTabSz="1187450" rtl="0" eaLnBrk="1" fontAlgn="ctr" latinLnBrk="0" hangingPunct="1">
              <a:lnSpc>
                <a:spcPct val="100000"/>
              </a:lnSpc>
              <a:spcBef>
                <a:spcPts val="0"/>
              </a:spcBef>
              <a:spcAft>
                <a:spcPts val="0"/>
              </a:spcAft>
              <a:buClrTx/>
              <a:buSzTx/>
              <a:buFontTx/>
              <a:buNone/>
              <a:defRPr/>
            </a:pPr>
            <a:r>
              <a:rPr lang="en-US" altLang="zh-CN" sz="800" i="0" u="none" strike="noStrike" dirty="0">
                <a:latin typeface="微软雅黑" charset="0"/>
                <a:ea typeface="微软雅黑" charset="0"/>
                <a:sym typeface="+mn-ea"/>
              </a:rPr>
              <a:t>DS V4 Flash</a:t>
            </a:r>
          </a:p>
          <a:p>
            <a:pPr marL="0" marR="0" lvl="0" indent="0" algn="ctr" defTabSz="1187450" rtl="0" eaLnBrk="1" fontAlgn="ctr" latinLnBrk="0" hangingPunct="1">
              <a:lnSpc>
                <a:spcPct val="100000"/>
              </a:lnSpc>
              <a:spcBef>
                <a:spcPts val="0"/>
              </a:spcBef>
              <a:spcAft>
                <a:spcPts val="0"/>
              </a:spcAft>
              <a:buClrTx/>
              <a:buSzTx/>
              <a:buFontTx/>
              <a:buNone/>
              <a:defRPr/>
            </a:pPr>
            <a:r>
              <a:rPr lang="en-US" altLang="zh-CN" sz="800" dirty="0">
                <a:latin typeface="微软雅黑" charset="0"/>
                <a:ea typeface="微软雅黑" charset="0"/>
                <a:sym typeface="+mn-ea"/>
              </a:rPr>
              <a:t>DS V4 Pro</a:t>
            </a:r>
            <a:endParaRPr lang="en-US" altLang="zh-CN" sz="800" i="0" u="none" strike="noStrike" dirty="0">
              <a:latin typeface="微软雅黑" charset="0"/>
              <a:ea typeface="微软雅黑" charset="0"/>
              <a:sym typeface="+mn-ea"/>
            </a:endParaRPr>
          </a:p>
        </p:txBody>
      </p:sp>
      <p:cxnSp>
        <p:nvCxnSpPr>
          <p:cNvPr id="130" name="连接符: 曲线 6"/>
          <p:cNvCxnSpPr/>
          <p:nvPr/>
        </p:nvCxnSpPr>
        <p:spPr>
          <a:xfrm flipV="1">
            <a:off x="5880629" y="783484"/>
            <a:ext cx="5573512" cy="502766"/>
          </a:xfrm>
          <a:prstGeom prst="curvedConnector3">
            <a:avLst>
              <a:gd name="adj1" fmla="val 50000"/>
            </a:avLst>
          </a:prstGeom>
          <a:ln w="12700"/>
        </p:spPr>
        <p:style>
          <a:lnRef idx="1">
            <a:schemeClr val="accent1"/>
          </a:lnRef>
          <a:fillRef idx="0">
            <a:schemeClr val="accent1"/>
          </a:fillRef>
          <a:effectRef idx="0">
            <a:schemeClr val="accent1"/>
          </a:effectRef>
          <a:fontRef idx="minor">
            <a:schemeClr val="tx1"/>
          </a:fontRef>
        </p:style>
      </p:cxnSp>
      <p:sp>
        <p:nvSpPr>
          <p:cNvPr id="131" name="文本框 130"/>
          <p:cNvSpPr txBox="1"/>
          <p:nvPr/>
        </p:nvSpPr>
        <p:spPr>
          <a:xfrm>
            <a:off x="9513137" y="1020564"/>
            <a:ext cx="877553" cy="211275"/>
          </a:xfrm>
          <a:prstGeom prst="rect">
            <a:avLst/>
          </a:prstGeom>
          <a:noFill/>
        </p:spPr>
        <p:txBody>
          <a:bodyPr wrap="square" rtlCol="0" anchor="ctr">
            <a:noAutofit/>
          </a:bodyPr>
          <a:lstStyle/>
          <a:p>
            <a:pPr marL="0" marR="0" lvl="0" indent="0" algn="ctr" defTabSz="1187450" rtl="0" eaLnBrk="1" fontAlgn="ctr" latinLnBrk="0" hangingPunct="1">
              <a:lnSpc>
                <a:spcPct val="100000"/>
              </a:lnSpc>
              <a:spcBef>
                <a:spcPts val="0"/>
              </a:spcBef>
              <a:spcAft>
                <a:spcPts val="0"/>
              </a:spcAft>
              <a:buClrTx/>
              <a:buSzTx/>
              <a:buFontTx/>
              <a:buNone/>
              <a:defRPr/>
            </a:pPr>
            <a:r>
              <a:rPr kumimoji="0" lang="en-US" altLang="zh-CN" sz="800" kern="1200" cap="none" spc="0" normalizeH="0" baseline="0" noProof="0" dirty="0">
                <a:ln>
                  <a:noFill/>
                </a:ln>
                <a:effectLst/>
                <a:uLnTx/>
                <a:uFillTx/>
                <a:latin typeface="微软雅黑" charset="0"/>
                <a:ea typeface="微软雅黑" charset="0"/>
                <a:cs typeface="+mn-cs"/>
                <a:sym typeface="+mn-ea"/>
              </a:rPr>
              <a:t>Qwen3.6-27B</a:t>
            </a:r>
            <a:endParaRPr lang="en-US" altLang="zh-CN" sz="800" i="0" u="none" strike="noStrike" dirty="0">
              <a:latin typeface="微软雅黑" charset="0"/>
              <a:ea typeface="微软雅黑" charset="0"/>
              <a:sym typeface="+mn-ea"/>
            </a:endParaRPr>
          </a:p>
        </p:txBody>
      </p:sp>
      <p:sp>
        <p:nvSpPr>
          <p:cNvPr id="132" name="文本框 131"/>
          <p:cNvSpPr txBox="1"/>
          <p:nvPr/>
        </p:nvSpPr>
        <p:spPr>
          <a:xfrm>
            <a:off x="6400612" y="1258844"/>
            <a:ext cx="583304" cy="114242"/>
          </a:xfrm>
          <a:prstGeom prst="rect">
            <a:avLst/>
          </a:prstGeom>
          <a:noFill/>
        </p:spPr>
        <p:txBody>
          <a:bodyPr wrap="square" rtlCol="0">
            <a:noAutofit/>
          </a:bodyPr>
          <a:lstStyle/>
          <a:p>
            <a:pPr marL="0" marR="0" lvl="0" indent="0" algn="ctr" defTabSz="1187450" rtl="0" eaLnBrk="1" fontAlgn="ctr" latinLnBrk="0" hangingPunct="1">
              <a:lnSpc>
                <a:spcPct val="100000"/>
              </a:lnSpc>
              <a:spcBef>
                <a:spcPts val="0"/>
              </a:spcBef>
              <a:spcAft>
                <a:spcPts val="0"/>
              </a:spcAft>
              <a:buClrTx/>
              <a:buSzTx/>
              <a:buFontTx/>
              <a:buNone/>
              <a:defRPr/>
            </a:pPr>
            <a:r>
              <a:rPr kumimoji="0" lang="en-US" altLang="zh-CN" sz="1200" b="1" kern="1200" cap="none" spc="0" normalizeH="0" baseline="0" noProof="0" dirty="0">
                <a:ln>
                  <a:noFill/>
                </a:ln>
                <a:effectLst/>
                <a:uLnTx/>
                <a:uFillTx/>
                <a:latin typeface="微软雅黑" charset="0"/>
                <a:ea typeface="微软雅黑" charset="0"/>
                <a:cs typeface="+mn-cs"/>
                <a:sym typeface="+mn-ea"/>
              </a:rPr>
              <a:t>4.8</a:t>
            </a:r>
            <a:endParaRPr kumimoji="0" lang="zh-CN" altLang="en-US" sz="1200" b="0" i="0" u="none" strike="noStrike" kern="1200" cap="none" spc="0" normalizeH="0" baseline="0" noProof="0" dirty="0">
              <a:ln>
                <a:noFill/>
              </a:ln>
              <a:effectLst/>
              <a:uLnTx/>
              <a:uFillTx/>
              <a:latin typeface="微软雅黑" charset="0"/>
              <a:ea typeface="微软雅黑" charset="0"/>
              <a:cs typeface="+mn-cs"/>
              <a:sym typeface="+mn-ea"/>
            </a:endParaRPr>
          </a:p>
        </p:txBody>
      </p:sp>
      <p:sp>
        <p:nvSpPr>
          <p:cNvPr id="133" name="文本框 132"/>
          <p:cNvSpPr txBox="1"/>
          <p:nvPr/>
        </p:nvSpPr>
        <p:spPr>
          <a:xfrm>
            <a:off x="7121149" y="1251373"/>
            <a:ext cx="583304" cy="114242"/>
          </a:xfrm>
          <a:prstGeom prst="rect">
            <a:avLst/>
          </a:prstGeom>
          <a:noFill/>
        </p:spPr>
        <p:txBody>
          <a:bodyPr wrap="square" rtlCol="0">
            <a:noAutofit/>
          </a:bodyPr>
          <a:lstStyle/>
          <a:p>
            <a:pPr marL="0" marR="0" lvl="0" indent="0" algn="ctr" defTabSz="1187450" rtl="0" eaLnBrk="1" fontAlgn="ctr" latinLnBrk="0" hangingPunct="1">
              <a:lnSpc>
                <a:spcPct val="100000"/>
              </a:lnSpc>
              <a:spcBef>
                <a:spcPts val="0"/>
              </a:spcBef>
              <a:spcAft>
                <a:spcPts val="0"/>
              </a:spcAft>
              <a:buClrTx/>
              <a:buSzTx/>
              <a:buFontTx/>
              <a:buNone/>
              <a:defRPr/>
            </a:pPr>
            <a:r>
              <a:rPr kumimoji="0" lang="en-US" altLang="zh-CN" sz="1200" b="1" kern="1200" cap="none" spc="0" normalizeH="0" baseline="0" noProof="0" dirty="0">
                <a:ln>
                  <a:noFill/>
                </a:ln>
                <a:effectLst/>
                <a:uLnTx/>
                <a:uFillTx/>
                <a:latin typeface="微软雅黑" charset="0"/>
                <a:ea typeface="微软雅黑" charset="0"/>
                <a:cs typeface="+mn-cs"/>
                <a:sym typeface="+mn-ea"/>
              </a:rPr>
              <a:t>4.12</a:t>
            </a:r>
            <a:endParaRPr kumimoji="0" lang="zh-CN" altLang="en-US" sz="1200" b="0" i="0" u="none" strike="noStrike" kern="1200" cap="none" spc="0" normalizeH="0" baseline="0" noProof="0" dirty="0">
              <a:ln>
                <a:noFill/>
              </a:ln>
              <a:effectLst/>
              <a:uLnTx/>
              <a:uFillTx/>
              <a:latin typeface="微软雅黑" charset="0"/>
              <a:ea typeface="微软雅黑" charset="0"/>
              <a:cs typeface="+mn-cs"/>
              <a:sym typeface="+mn-ea"/>
            </a:endParaRPr>
          </a:p>
        </p:txBody>
      </p:sp>
      <p:sp>
        <p:nvSpPr>
          <p:cNvPr id="134" name="文本框 133"/>
          <p:cNvSpPr txBox="1"/>
          <p:nvPr/>
        </p:nvSpPr>
        <p:spPr>
          <a:xfrm>
            <a:off x="6124839" y="1089112"/>
            <a:ext cx="1124725" cy="114242"/>
          </a:xfrm>
          <a:prstGeom prst="rect">
            <a:avLst/>
          </a:prstGeom>
          <a:noFill/>
        </p:spPr>
        <p:txBody>
          <a:bodyPr wrap="square" rtlCol="0" anchor="ctr">
            <a:noAutofit/>
          </a:bodyPr>
          <a:lstStyle/>
          <a:p>
            <a:pPr marL="0" marR="0" lvl="0" indent="0" algn="ctr" defTabSz="1187450" rtl="0" eaLnBrk="1" fontAlgn="ctr" latinLnBrk="0" hangingPunct="1">
              <a:lnSpc>
                <a:spcPct val="100000"/>
              </a:lnSpc>
              <a:spcBef>
                <a:spcPts val="0"/>
              </a:spcBef>
              <a:spcAft>
                <a:spcPts val="0"/>
              </a:spcAft>
              <a:buClrTx/>
              <a:buSzTx/>
              <a:buFontTx/>
              <a:buNone/>
              <a:defRPr/>
            </a:pPr>
            <a:r>
              <a:rPr kumimoji="0" lang="en-US" altLang="zh-CN" sz="800" kern="1200" cap="none" spc="0" normalizeH="0" baseline="0" noProof="0" dirty="0">
                <a:ln>
                  <a:noFill/>
                </a:ln>
                <a:effectLst/>
                <a:uLnTx/>
                <a:uFillTx/>
                <a:latin typeface="微软雅黑" charset="0"/>
                <a:ea typeface="微软雅黑" charset="0"/>
                <a:cs typeface="+mn-cs"/>
                <a:sym typeface="+mn-ea"/>
              </a:rPr>
              <a:t>GLM 5.1</a:t>
            </a:r>
            <a:endParaRPr kumimoji="0" lang="zh-CN" altLang="en-US" sz="800" i="0" u="none" strike="noStrike" kern="1200" cap="none" spc="0" normalizeH="0" baseline="0" noProof="0" dirty="0">
              <a:ln>
                <a:noFill/>
              </a:ln>
              <a:effectLst/>
              <a:uLnTx/>
              <a:uFillTx/>
              <a:latin typeface="微软雅黑" charset="0"/>
              <a:ea typeface="微软雅黑" charset="0"/>
              <a:cs typeface="+mn-cs"/>
              <a:sym typeface="+mn-ea"/>
            </a:endParaRPr>
          </a:p>
        </p:txBody>
      </p:sp>
      <p:sp>
        <p:nvSpPr>
          <p:cNvPr id="135" name="文本框 134"/>
          <p:cNvSpPr txBox="1"/>
          <p:nvPr/>
        </p:nvSpPr>
        <p:spPr>
          <a:xfrm>
            <a:off x="7035944" y="1031731"/>
            <a:ext cx="877553" cy="211275"/>
          </a:xfrm>
          <a:prstGeom prst="rect">
            <a:avLst/>
          </a:prstGeom>
          <a:noFill/>
        </p:spPr>
        <p:txBody>
          <a:bodyPr wrap="square" rtlCol="0" anchor="ctr">
            <a:noAutofit/>
          </a:bodyPr>
          <a:lstStyle/>
          <a:p>
            <a:pPr marL="0" marR="0" lvl="0" indent="0" algn="ctr" defTabSz="1187450" rtl="0" eaLnBrk="1" fontAlgn="ctr" latinLnBrk="0" hangingPunct="1">
              <a:lnSpc>
                <a:spcPct val="100000"/>
              </a:lnSpc>
              <a:spcBef>
                <a:spcPts val="0"/>
              </a:spcBef>
              <a:spcAft>
                <a:spcPts val="0"/>
              </a:spcAft>
              <a:buClrTx/>
              <a:buSzTx/>
              <a:buFontTx/>
              <a:buNone/>
              <a:defRPr/>
            </a:pPr>
            <a:r>
              <a:rPr kumimoji="0" lang="en-US" altLang="zh-CN" sz="800" kern="1200" cap="none" spc="0" normalizeH="0" baseline="0" noProof="0" dirty="0">
                <a:ln>
                  <a:noFill/>
                </a:ln>
                <a:effectLst/>
                <a:uLnTx/>
                <a:uFillTx/>
                <a:latin typeface="微软雅黑" charset="0"/>
                <a:ea typeface="微软雅黑" charset="0"/>
                <a:cs typeface="+mn-cs"/>
                <a:sym typeface="+mn-ea"/>
              </a:rPr>
              <a:t>Minimax M2.7</a:t>
            </a:r>
            <a:endParaRPr lang="en-US" altLang="zh-CN" sz="800" i="0" u="none" strike="noStrike" dirty="0">
              <a:latin typeface="微软雅黑" charset="0"/>
              <a:ea typeface="微软雅黑" charset="0"/>
              <a:sym typeface="+mn-ea"/>
            </a:endParaRPr>
          </a:p>
        </p:txBody>
      </p:sp>
    </p:spTree>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0"/>
          <p:cNvSpPr/>
          <p:nvPr/>
        </p:nvSpPr>
        <p:spPr>
          <a:xfrm>
            <a:off x="100557" y="0"/>
            <a:ext cx="12178509" cy="609436"/>
          </a:xfrm>
          <a:prstGeom prst="rect">
            <a:avLst/>
          </a:prstGeom>
        </p:spPr>
        <p:txBody>
          <a:bodyPr anchor="ctr">
            <a:noAutofit/>
          </a:bodyPr>
          <a:lstStyle/>
          <a:p>
            <a:pPr marL="0" marR="0" lvl="0" indent="0" algn="l" defTabSz="1185545" rtl="0" eaLnBrk="1" fontAlgn="auto" latinLnBrk="0" hangingPunct="1">
              <a:lnSpc>
                <a:spcPct val="100000"/>
              </a:lnSpc>
              <a:spcBef>
                <a:spcPct val="0"/>
              </a:spcBef>
              <a:spcAft>
                <a:spcPts val="0"/>
              </a:spcAft>
              <a:buClrTx/>
              <a:buSzTx/>
              <a:buFontTx/>
              <a:buNone/>
              <a:defRPr/>
            </a:pPr>
            <a:r>
              <a:rPr lang="zh-CN" altLang="en-US" sz="1600" b="1" dirty="0">
                <a:solidFill>
                  <a:srgbClr val="C00000"/>
                </a:solidFill>
                <a:latin typeface="微软雅黑" panose="020B0503020204020204" pitchFamily="34" charset="-122"/>
                <a:ea typeface="微软雅黑" panose="020B0503020204020204" pitchFamily="34" charset="-122"/>
                <a:sym typeface="+mn-ea"/>
              </a:rPr>
              <a:t>推理关键进展-开箱案例</a:t>
            </a:r>
            <a:r>
              <a:rPr lang="en-US" altLang="zh-CN" sz="1600" b="1" dirty="0">
                <a:solidFill>
                  <a:srgbClr val="C00000"/>
                </a:solidFill>
                <a:latin typeface="微软雅黑" panose="020B0503020204020204" pitchFamily="34" charset="-122"/>
                <a:ea typeface="微软雅黑" panose="020B0503020204020204" pitchFamily="34" charset="-122"/>
                <a:sym typeface="+mn-ea"/>
              </a:rPr>
              <a:t> </a:t>
            </a:r>
            <a:r>
              <a:rPr kumimoji="0" lang="zh-CN" altLang="en-US" sz="16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sym typeface="Arial" panose="020B0604020202020204"/>
              </a:rPr>
              <a:t>：</a:t>
            </a:r>
            <a:r>
              <a:rPr kumimoji="0" lang="en-US" altLang="zh-CN" sz="16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sym typeface="Arial" panose="020B0604020202020204"/>
              </a:rPr>
              <a:t>DS</a:t>
            </a:r>
            <a:r>
              <a:rPr kumimoji="0" lang="zh-CN" altLang="en-US" sz="16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sym typeface="Arial" panose="020B0604020202020204"/>
              </a:rPr>
              <a:t> </a:t>
            </a:r>
            <a:r>
              <a:rPr kumimoji="0" lang="en-US" altLang="zh-CN" sz="16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sym typeface="Arial" panose="020B0604020202020204"/>
              </a:rPr>
              <a:t>V4 Flash</a:t>
            </a:r>
            <a:r>
              <a:rPr kumimoji="0" lang="zh-CN" altLang="en-US" sz="16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sym typeface="Arial" panose="020B0604020202020204"/>
              </a:rPr>
              <a:t>在</a:t>
            </a:r>
            <a:r>
              <a:rPr lang="en-US" altLang="zh-CN" sz="1600" b="1" dirty="0">
                <a:solidFill>
                  <a:srgbClr val="C00000"/>
                </a:solidFill>
                <a:latin typeface="微软雅黑" panose="020B0503020204020204" pitchFamily="34" charset="-122"/>
                <a:ea typeface="微软雅黑" panose="020B0503020204020204" pitchFamily="34" charset="-122"/>
                <a:sym typeface="Arial" panose="020B0604020202020204"/>
              </a:rPr>
              <a:t>A5 A3 A2 0Day</a:t>
            </a:r>
            <a:r>
              <a:rPr lang="zh-CN" altLang="en-US" sz="1600" b="1" dirty="0">
                <a:solidFill>
                  <a:srgbClr val="C00000"/>
                </a:solidFill>
                <a:latin typeface="微软雅黑" panose="020B0503020204020204" pitchFamily="34" charset="-122"/>
                <a:ea typeface="微软雅黑" panose="020B0503020204020204" pitchFamily="34" charset="-122"/>
                <a:sym typeface="Arial" panose="020B0604020202020204"/>
              </a:rPr>
              <a:t>开箱，适配优化相比</a:t>
            </a:r>
            <a:r>
              <a:rPr lang="en-US" altLang="zh-CN" sz="1600" b="1" dirty="0">
                <a:solidFill>
                  <a:srgbClr val="C00000"/>
                </a:solidFill>
                <a:latin typeface="微软雅黑" panose="020B0503020204020204" pitchFamily="34" charset="-122"/>
                <a:ea typeface="微软雅黑" panose="020B0503020204020204" pitchFamily="34" charset="-122"/>
                <a:sym typeface="Arial" panose="020B0604020202020204"/>
              </a:rPr>
              <a:t>DS  V3</a:t>
            </a:r>
            <a:r>
              <a:rPr lang="zh-CN" altLang="en-US" sz="1600" b="1" dirty="0">
                <a:solidFill>
                  <a:srgbClr val="C00000"/>
                </a:solidFill>
                <a:latin typeface="微软雅黑" panose="020B0503020204020204" pitchFamily="34" charset="-122"/>
                <a:ea typeface="微软雅黑" panose="020B0503020204020204" pitchFamily="34" charset="-122"/>
                <a:sym typeface="Arial" panose="020B0604020202020204"/>
              </a:rPr>
              <a:t>由</a:t>
            </a:r>
            <a:r>
              <a:rPr lang="en-US" altLang="zh-CN" sz="1600" b="1" dirty="0">
                <a:solidFill>
                  <a:srgbClr val="C00000"/>
                </a:solidFill>
                <a:latin typeface="微软雅黑" panose="020B0503020204020204" pitchFamily="34" charset="-122"/>
                <a:ea typeface="微软雅黑" panose="020B0503020204020204" pitchFamily="34" charset="-122"/>
                <a:sym typeface="Arial" panose="020B0604020202020204"/>
              </a:rPr>
              <a:t>3-4</a:t>
            </a:r>
            <a:r>
              <a:rPr lang="zh-CN" altLang="en-US" sz="1600" b="1" dirty="0">
                <a:solidFill>
                  <a:srgbClr val="C00000"/>
                </a:solidFill>
                <a:latin typeface="微软雅黑" panose="020B0503020204020204" pitchFamily="34" charset="-122"/>
                <a:ea typeface="微软雅黑" panose="020B0503020204020204" pitchFamily="34" charset="-122"/>
                <a:sym typeface="Arial" panose="020B0604020202020204"/>
              </a:rPr>
              <a:t>月缩短到</a:t>
            </a:r>
            <a:r>
              <a:rPr lang="en-US" altLang="zh-CN" sz="1600" b="1" dirty="0">
                <a:solidFill>
                  <a:srgbClr val="C00000"/>
                </a:solidFill>
                <a:latin typeface="微软雅黑" panose="020B0503020204020204" pitchFamily="34" charset="-122"/>
                <a:ea typeface="微软雅黑" panose="020B0503020204020204" pitchFamily="34" charset="-122"/>
                <a:sym typeface="Arial" panose="020B0604020202020204"/>
              </a:rPr>
              <a:t>4-5</a:t>
            </a:r>
            <a:r>
              <a:rPr lang="zh-CN" altLang="en-US" sz="1600" b="1" dirty="0">
                <a:solidFill>
                  <a:srgbClr val="C00000"/>
                </a:solidFill>
                <a:latin typeface="微软雅黑" panose="020B0503020204020204" pitchFamily="34" charset="-122"/>
                <a:ea typeface="微软雅黑" panose="020B0503020204020204" pitchFamily="34" charset="-122"/>
                <a:sym typeface="Arial" panose="020B0604020202020204"/>
              </a:rPr>
              <a:t>周；</a:t>
            </a:r>
            <a:r>
              <a:rPr lang="en-US" altLang="zh-CN" sz="1600" b="1" dirty="0">
                <a:solidFill>
                  <a:srgbClr val="C00000"/>
                </a:solidFill>
                <a:latin typeface="微软雅黑" panose="020B0503020204020204" pitchFamily="34" charset="-122"/>
                <a:ea typeface="微软雅黑" panose="020B0503020204020204" pitchFamily="34" charset="-122"/>
                <a:sym typeface="Arial" panose="020B0604020202020204"/>
              </a:rPr>
              <a:t>2</a:t>
            </a:r>
            <a:r>
              <a:rPr lang="zh-CN" altLang="en-US" sz="1600" b="1" dirty="0">
                <a:solidFill>
                  <a:srgbClr val="C00000"/>
                </a:solidFill>
                <a:latin typeface="微软雅黑" panose="020B0503020204020204" pitchFamily="34" charset="-122"/>
                <a:ea typeface="微软雅黑" panose="020B0503020204020204" pitchFamily="34" charset="-122"/>
                <a:sym typeface="Arial" panose="020B0604020202020204"/>
              </a:rPr>
              <a:t>周内版本快速迭代补充验证</a:t>
            </a:r>
            <a:r>
              <a:rPr lang="en-US" altLang="zh-CN" sz="1600" b="1" dirty="0">
                <a:solidFill>
                  <a:srgbClr val="C00000"/>
                </a:solidFill>
                <a:latin typeface="微软雅黑" panose="020B0503020204020204" pitchFamily="34" charset="-122"/>
                <a:ea typeface="微软雅黑" panose="020B0503020204020204" pitchFamily="34" charset="-122"/>
                <a:sym typeface="Arial" panose="020B0604020202020204"/>
              </a:rPr>
              <a:t>DS V4 Pro</a:t>
            </a:r>
            <a:r>
              <a:rPr lang="zh-CN" altLang="en-US" sz="1600" b="1" dirty="0">
                <a:solidFill>
                  <a:srgbClr val="C00000"/>
                </a:solidFill>
                <a:latin typeface="微软雅黑" panose="020B0503020204020204" pitchFamily="34" charset="-122"/>
                <a:ea typeface="微软雅黑" panose="020B0503020204020204" pitchFamily="34" charset="-122"/>
                <a:sym typeface="Arial" panose="020B0604020202020204"/>
              </a:rPr>
              <a:t>并完善</a:t>
            </a:r>
            <a:r>
              <a:rPr lang="en-US" altLang="zh-CN" sz="1600" b="1" dirty="0">
                <a:solidFill>
                  <a:srgbClr val="C00000"/>
                </a:solidFill>
                <a:latin typeface="微软雅黑" panose="020B0503020204020204" pitchFamily="34" charset="-122"/>
                <a:ea typeface="微软雅黑" panose="020B0503020204020204" pitchFamily="34" charset="-122"/>
                <a:sym typeface="Arial" panose="020B0604020202020204"/>
              </a:rPr>
              <a:t>Prefix Cache</a:t>
            </a:r>
            <a:r>
              <a:rPr lang="zh-CN" altLang="en-US" sz="1600" b="1" dirty="0">
                <a:solidFill>
                  <a:srgbClr val="C00000"/>
                </a:solidFill>
                <a:latin typeface="微软雅黑" panose="020B0503020204020204" pitchFamily="34" charset="-122"/>
                <a:ea typeface="微软雅黑" panose="020B0503020204020204" pitchFamily="34" charset="-122"/>
                <a:sym typeface="Arial" panose="020B0604020202020204"/>
              </a:rPr>
              <a:t>及</a:t>
            </a:r>
            <a:r>
              <a:rPr lang="en-US" altLang="zh-CN" sz="1600" b="1" dirty="0">
                <a:solidFill>
                  <a:srgbClr val="C00000"/>
                </a:solidFill>
                <a:latin typeface="微软雅黑" panose="020B0503020204020204" pitchFamily="34" charset="-122"/>
                <a:ea typeface="微软雅黑" panose="020B0503020204020204" pitchFamily="34" charset="-122"/>
                <a:sym typeface="Arial" panose="020B0604020202020204"/>
              </a:rPr>
              <a:t>Function Call</a:t>
            </a:r>
            <a:r>
              <a:rPr lang="zh-CN" altLang="en-US" sz="1600" b="1" dirty="0">
                <a:solidFill>
                  <a:srgbClr val="C00000"/>
                </a:solidFill>
                <a:latin typeface="微软雅黑" panose="020B0503020204020204" pitchFamily="34" charset="-122"/>
                <a:ea typeface="微软雅黑" panose="020B0503020204020204" pitchFamily="34" charset="-122"/>
                <a:sym typeface="Arial" panose="020B0604020202020204"/>
              </a:rPr>
              <a:t>等能力</a:t>
            </a:r>
            <a:endParaRPr lang="en-US" altLang="zh-CN" sz="1600" b="1" dirty="0">
              <a:solidFill>
                <a:srgbClr val="C00000"/>
              </a:solidFill>
              <a:latin typeface="微软雅黑" panose="020B0503020204020204" pitchFamily="34" charset="-122"/>
              <a:ea typeface="微软雅黑" panose="020B0503020204020204" pitchFamily="34" charset="-122"/>
              <a:sym typeface="Arial" panose="020B0604020202020204"/>
            </a:endParaRPr>
          </a:p>
        </p:txBody>
      </p:sp>
      <p:graphicFrame>
        <p:nvGraphicFramePr>
          <p:cNvPr id="110" name="表格 109"/>
          <p:cNvGraphicFramePr>
            <a:graphicFrameLocks noGrp="1"/>
          </p:cNvGraphicFramePr>
          <p:nvPr/>
        </p:nvGraphicFramePr>
        <p:xfrm>
          <a:off x="53839" y="2567896"/>
          <a:ext cx="12000230" cy="4134485"/>
        </p:xfrm>
        <a:graphic>
          <a:graphicData uri="http://schemas.openxmlformats.org/drawingml/2006/table">
            <a:tbl>
              <a:tblPr/>
              <a:tblGrid>
                <a:gridCol w="650875">
                  <a:extLst>
                    <a:ext uri="{9D8B030D-6E8A-4147-A177-3AD203B41FA5}">
                      <a16:colId xmlns:a16="http://schemas.microsoft.com/office/drawing/2014/main" val="20000"/>
                    </a:ext>
                  </a:extLst>
                </a:gridCol>
                <a:gridCol w="859155">
                  <a:extLst>
                    <a:ext uri="{9D8B030D-6E8A-4147-A177-3AD203B41FA5}">
                      <a16:colId xmlns:a16="http://schemas.microsoft.com/office/drawing/2014/main" val="20001"/>
                    </a:ext>
                  </a:extLst>
                </a:gridCol>
                <a:gridCol w="994410">
                  <a:extLst>
                    <a:ext uri="{9D8B030D-6E8A-4147-A177-3AD203B41FA5}">
                      <a16:colId xmlns:a16="http://schemas.microsoft.com/office/drawing/2014/main" val="20002"/>
                    </a:ext>
                  </a:extLst>
                </a:gridCol>
                <a:gridCol w="5001260">
                  <a:extLst>
                    <a:ext uri="{9D8B030D-6E8A-4147-A177-3AD203B41FA5}">
                      <a16:colId xmlns:a16="http://schemas.microsoft.com/office/drawing/2014/main" val="20003"/>
                    </a:ext>
                  </a:extLst>
                </a:gridCol>
                <a:gridCol w="4494530">
                  <a:extLst>
                    <a:ext uri="{9D8B030D-6E8A-4147-A177-3AD203B41FA5}">
                      <a16:colId xmlns:a16="http://schemas.microsoft.com/office/drawing/2014/main" val="20004"/>
                    </a:ext>
                  </a:extLst>
                </a:gridCol>
              </a:tblGrid>
              <a:tr h="311150">
                <a:tc>
                  <a:txBody>
                    <a:bodyPr/>
                    <a:lstStyle>
                      <a:lvl1pPr marL="0" algn="l" defTabSz="1187450" rtl="0" eaLnBrk="1" latinLnBrk="0" hangingPunct="1">
                        <a:defRPr sz="2335" kern="1200">
                          <a:solidFill>
                            <a:schemeClr val="tx1"/>
                          </a:solidFill>
                          <a:latin typeface="Calibri"/>
                        </a:defRPr>
                      </a:lvl1pPr>
                      <a:lvl2pPr marL="593725" algn="l" defTabSz="1187450" rtl="0" eaLnBrk="1" latinLnBrk="0" hangingPunct="1">
                        <a:defRPr sz="2335" kern="1200">
                          <a:solidFill>
                            <a:schemeClr val="tx1"/>
                          </a:solidFill>
                          <a:latin typeface="Calibri"/>
                        </a:defRPr>
                      </a:lvl2pPr>
                      <a:lvl3pPr marL="1187450" algn="l" defTabSz="1187450" rtl="0" eaLnBrk="1" latinLnBrk="0" hangingPunct="1">
                        <a:defRPr sz="2335" kern="1200">
                          <a:solidFill>
                            <a:schemeClr val="tx1"/>
                          </a:solidFill>
                          <a:latin typeface="Calibri"/>
                        </a:defRPr>
                      </a:lvl3pPr>
                      <a:lvl4pPr marL="1781175" algn="l" defTabSz="1187450" rtl="0" eaLnBrk="1" latinLnBrk="0" hangingPunct="1">
                        <a:defRPr sz="2335" kern="1200">
                          <a:solidFill>
                            <a:schemeClr val="tx1"/>
                          </a:solidFill>
                          <a:latin typeface="Calibri"/>
                        </a:defRPr>
                      </a:lvl4pPr>
                      <a:lvl5pPr marL="2374900" algn="l" defTabSz="1187450" rtl="0" eaLnBrk="1" latinLnBrk="0" hangingPunct="1">
                        <a:defRPr sz="2335" kern="1200">
                          <a:solidFill>
                            <a:schemeClr val="tx1"/>
                          </a:solidFill>
                          <a:latin typeface="Calibri"/>
                        </a:defRPr>
                      </a:lvl5pPr>
                      <a:lvl6pPr marL="2968625" algn="l" defTabSz="1187450" rtl="0" eaLnBrk="1" latinLnBrk="0" hangingPunct="1">
                        <a:defRPr sz="2335" kern="1200">
                          <a:solidFill>
                            <a:schemeClr val="tx1"/>
                          </a:solidFill>
                          <a:latin typeface="Calibri"/>
                        </a:defRPr>
                      </a:lvl6pPr>
                      <a:lvl7pPr marL="3561715" algn="l" defTabSz="1187450" rtl="0" eaLnBrk="1" latinLnBrk="0" hangingPunct="1">
                        <a:defRPr sz="2335" kern="1200">
                          <a:solidFill>
                            <a:schemeClr val="tx1"/>
                          </a:solidFill>
                          <a:latin typeface="Calibri"/>
                        </a:defRPr>
                      </a:lvl7pPr>
                      <a:lvl8pPr marL="4155440" algn="l" defTabSz="1187450" rtl="0" eaLnBrk="1" latinLnBrk="0" hangingPunct="1">
                        <a:defRPr sz="2335" kern="1200">
                          <a:solidFill>
                            <a:schemeClr val="tx1"/>
                          </a:solidFill>
                          <a:latin typeface="Calibri"/>
                        </a:defRPr>
                      </a:lvl8pPr>
                      <a:lvl9pPr marL="4749165" algn="l" defTabSz="1187450" rtl="0" eaLnBrk="1" latinLnBrk="0" hangingPunct="1">
                        <a:defRPr sz="2335" kern="1200">
                          <a:solidFill>
                            <a:schemeClr val="tx1"/>
                          </a:solidFill>
                          <a:latin typeface="Calibri"/>
                        </a:defRPr>
                      </a:lvl9pPr>
                    </a:lstStyle>
                    <a:p>
                      <a:pPr algn="ctr" rtl="0" fontAlgn="ctr"/>
                      <a:r>
                        <a:rPr lang="zh-CN" altLang="en-US" sz="1200" b="1" i="0" u="none" strike="noStrike" dirty="0">
                          <a:solidFill>
                            <a:schemeClr val="tx1"/>
                          </a:solidFill>
                          <a:effectLst/>
                          <a:latin typeface="微软雅黑" charset="0"/>
                          <a:ea typeface="微软雅黑" charset="0"/>
                          <a:cs typeface="微软雅黑" charset="0"/>
                        </a:rPr>
                        <a:t>维度</a:t>
                      </a:r>
                    </a:p>
                  </a:txBody>
                  <a:tcPr marL="6348" marR="6348" marT="6348" marB="0" anchor="ctr">
                    <a:lnL w="3175" cap="flat" cmpd="sng" algn="ctr">
                      <a:solidFill>
                        <a:srgbClr val="1D1D1A"/>
                      </a:solidFill>
                      <a:prstDash val="solid"/>
                      <a:round/>
                      <a:headEnd type="none" w="med" len="med"/>
                      <a:tailEnd type="none" w="med" len="med"/>
                    </a:lnL>
                    <a:lnR w="3175" cap="flat" cmpd="sng" algn="ctr">
                      <a:solidFill>
                        <a:srgbClr val="1D1D1A"/>
                      </a:solidFill>
                      <a:prstDash val="solid"/>
                      <a:round/>
                      <a:headEnd type="none" w="med" len="med"/>
                      <a:tailEnd type="none" w="med" len="med"/>
                    </a:lnR>
                    <a:lnT w="3175" cap="flat" cmpd="sng" algn="ctr">
                      <a:solidFill>
                        <a:srgbClr val="1D1D1A"/>
                      </a:solidFill>
                      <a:prstDash val="solid"/>
                      <a:round/>
                      <a:headEnd type="none" w="med" len="med"/>
                      <a:tailEnd type="none" w="med" len="med"/>
                    </a:lnT>
                    <a:lnB w="3175" cap="flat" cmpd="sng" algn="ctr">
                      <a:solidFill>
                        <a:srgbClr val="1D1D1A"/>
                      </a:solidFill>
                      <a:prstDash val="solid"/>
                      <a:round/>
                      <a:headEnd type="none" w="med" len="med"/>
                      <a:tailEnd type="none" w="med" len="med"/>
                    </a:lnB>
                    <a:lnTlToBr w="12700" cmpd="sng">
                      <a:noFill/>
                      <a:prstDash val="solid"/>
                    </a:lnTlToBr>
                    <a:lnBlToTr w="12700" cmpd="sng">
                      <a:noFill/>
                      <a:prstDash val="solid"/>
                    </a:lnBlToTr>
                    <a:solidFill>
                      <a:srgbClr val="D4F1F5"/>
                    </a:solidFill>
                  </a:tcPr>
                </a:tc>
                <a:tc>
                  <a:txBody>
                    <a:bodyPr/>
                    <a:lstStyle>
                      <a:lvl1pPr marL="0" algn="l" defTabSz="1187450" rtl="0" eaLnBrk="1" latinLnBrk="0" hangingPunct="1">
                        <a:defRPr sz="2335" kern="1200">
                          <a:solidFill>
                            <a:schemeClr val="tx1"/>
                          </a:solidFill>
                          <a:latin typeface="Calibri"/>
                        </a:defRPr>
                      </a:lvl1pPr>
                      <a:lvl2pPr marL="593725" algn="l" defTabSz="1187450" rtl="0" eaLnBrk="1" latinLnBrk="0" hangingPunct="1">
                        <a:defRPr sz="2335" kern="1200">
                          <a:solidFill>
                            <a:schemeClr val="tx1"/>
                          </a:solidFill>
                          <a:latin typeface="Calibri"/>
                        </a:defRPr>
                      </a:lvl2pPr>
                      <a:lvl3pPr marL="1187450" algn="l" defTabSz="1187450" rtl="0" eaLnBrk="1" latinLnBrk="0" hangingPunct="1">
                        <a:defRPr sz="2335" kern="1200">
                          <a:solidFill>
                            <a:schemeClr val="tx1"/>
                          </a:solidFill>
                          <a:latin typeface="Calibri"/>
                        </a:defRPr>
                      </a:lvl3pPr>
                      <a:lvl4pPr marL="1781175" algn="l" defTabSz="1187450" rtl="0" eaLnBrk="1" latinLnBrk="0" hangingPunct="1">
                        <a:defRPr sz="2335" kern="1200">
                          <a:solidFill>
                            <a:schemeClr val="tx1"/>
                          </a:solidFill>
                          <a:latin typeface="Calibri"/>
                        </a:defRPr>
                      </a:lvl4pPr>
                      <a:lvl5pPr marL="2374900" algn="l" defTabSz="1187450" rtl="0" eaLnBrk="1" latinLnBrk="0" hangingPunct="1">
                        <a:defRPr sz="2335" kern="1200">
                          <a:solidFill>
                            <a:schemeClr val="tx1"/>
                          </a:solidFill>
                          <a:latin typeface="Calibri"/>
                        </a:defRPr>
                      </a:lvl5pPr>
                      <a:lvl6pPr marL="2968625" algn="l" defTabSz="1187450" rtl="0" eaLnBrk="1" latinLnBrk="0" hangingPunct="1">
                        <a:defRPr sz="2335" kern="1200">
                          <a:solidFill>
                            <a:schemeClr val="tx1"/>
                          </a:solidFill>
                          <a:latin typeface="Calibri"/>
                        </a:defRPr>
                      </a:lvl6pPr>
                      <a:lvl7pPr marL="3561715" algn="l" defTabSz="1187450" rtl="0" eaLnBrk="1" latinLnBrk="0" hangingPunct="1">
                        <a:defRPr sz="2335" kern="1200">
                          <a:solidFill>
                            <a:schemeClr val="tx1"/>
                          </a:solidFill>
                          <a:latin typeface="Calibri"/>
                        </a:defRPr>
                      </a:lvl7pPr>
                      <a:lvl8pPr marL="4155440" algn="l" defTabSz="1187450" rtl="0" eaLnBrk="1" latinLnBrk="0" hangingPunct="1">
                        <a:defRPr sz="2335" kern="1200">
                          <a:solidFill>
                            <a:schemeClr val="tx1"/>
                          </a:solidFill>
                          <a:latin typeface="Calibri"/>
                        </a:defRPr>
                      </a:lvl8pPr>
                      <a:lvl9pPr marL="4749165" algn="l" defTabSz="1187450" rtl="0" eaLnBrk="1" latinLnBrk="0" hangingPunct="1">
                        <a:defRPr sz="2335" kern="1200">
                          <a:solidFill>
                            <a:schemeClr val="tx1"/>
                          </a:solidFill>
                          <a:latin typeface="Calibri"/>
                        </a:defRPr>
                      </a:lvl9pPr>
                    </a:lstStyle>
                    <a:p>
                      <a:pPr algn="ctr" rtl="0" fontAlgn="ctr"/>
                      <a:r>
                        <a:rPr lang="en-US" sz="1000" b="1" i="0" u="none" strike="noStrike" dirty="0">
                          <a:solidFill>
                            <a:srgbClr val="1D1D1A"/>
                          </a:solidFill>
                          <a:effectLst/>
                          <a:latin typeface="微软雅黑" charset="0"/>
                          <a:ea typeface="微软雅黑" charset="0"/>
                          <a:cs typeface="微软雅黑" charset="0"/>
                        </a:rPr>
                        <a:t>D</a:t>
                      </a:r>
                      <a:r>
                        <a:rPr lang="en-US" altLang="zh-CN" sz="1000" b="1" i="0" u="none" strike="noStrike" dirty="0">
                          <a:solidFill>
                            <a:srgbClr val="1D1D1A"/>
                          </a:solidFill>
                          <a:effectLst/>
                          <a:latin typeface="微软雅黑" charset="0"/>
                          <a:ea typeface="微软雅黑" charset="0"/>
                          <a:cs typeface="微软雅黑" charset="0"/>
                        </a:rPr>
                        <a:t>eepSeekV3</a:t>
                      </a:r>
                      <a:r>
                        <a:rPr lang="zh-CN" altLang="en-US" sz="1000" b="1" i="0" u="none" strike="noStrike" dirty="0">
                          <a:solidFill>
                            <a:srgbClr val="1D1D1A"/>
                          </a:solidFill>
                          <a:effectLst/>
                          <a:latin typeface="微软雅黑" charset="0"/>
                          <a:ea typeface="微软雅黑" charset="0"/>
                          <a:cs typeface="微软雅黑" charset="0"/>
                        </a:rPr>
                        <a:t>（非串行）</a:t>
                      </a:r>
                      <a:endParaRPr lang="en-US" sz="1000" b="1" i="0" u="none" strike="noStrike" dirty="0">
                        <a:solidFill>
                          <a:srgbClr val="1D1D1A"/>
                        </a:solidFill>
                        <a:effectLst/>
                        <a:latin typeface="微软雅黑" charset="0"/>
                        <a:ea typeface="微软雅黑" charset="0"/>
                        <a:cs typeface="微软雅黑" charset="0"/>
                      </a:endParaRPr>
                    </a:p>
                  </a:txBody>
                  <a:tcPr marL="6348" marR="6348" marT="6348" marB="0" anchor="ctr">
                    <a:lnL w="3175" cap="flat" cmpd="sng" algn="ctr">
                      <a:solidFill>
                        <a:srgbClr val="1D1D1A"/>
                      </a:solidFill>
                      <a:prstDash val="solid"/>
                      <a:round/>
                      <a:headEnd type="none" w="med" len="med"/>
                      <a:tailEnd type="none" w="med" len="med"/>
                    </a:lnL>
                    <a:lnR w="3175" cap="flat" cmpd="sng" algn="ctr">
                      <a:solidFill>
                        <a:srgbClr val="1D1D1A"/>
                      </a:solidFill>
                      <a:prstDash val="solid"/>
                      <a:round/>
                      <a:headEnd type="none" w="med" len="med"/>
                      <a:tailEnd type="none" w="med" len="med"/>
                    </a:lnR>
                    <a:lnT w="3175" cap="flat" cmpd="sng" algn="ctr">
                      <a:solidFill>
                        <a:srgbClr val="1D1D1A"/>
                      </a:solidFill>
                      <a:prstDash val="solid"/>
                      <a:round/>
                      <a:headEnd type="none" w="med" len="med"/>
                      <a:tailEnd type="none" w="med" len="med"/>
                    </a:lnT>
                    <a:lnB w="3175" cap="flat" cmpd="sng" algn="ctr">
                      <a:solidFill>
                        <a:srgbClr val="1D1D1A"/>
                      </a:solidFill>
                      <a:prstDash val="solid"/>
                      <a:round/>
                      <a:headEnd type="none" w="med" len="med"/>
                      <a:tailEnd type="none" w="med" len="med"/>
                    </a:lnB>
                    <a:lnTlToBr w="12700" cmpd="sng">
                      <a:noFill/>
                      <a:prstDash val="solid"/>
                    </a:lnTlToBr>
                    <a:lnBlToTr w="12700" cmpd="sng">
                      <a:noFill/>
                      <a:prstDash val="solid"/>
                    </a:lnBlToTr>
                    <a:solidFill>
                      <a:srgbClr val="D4F1F5"/>
                    </a:solidFill>
                  </a:tcPr>
                </a:tc>
                <a:tc>
                  <a:txBody>
                    <a:bodyPr/>
                    <a:lstStyle>
                      <a:lvl1pPr marL="0" algn="l" defTabSz="1187450" rtl="0" eaLnBrk="1" latinLnBrk="0" hangingPunct="1">
                        <a:defRPr sz="2335" kern="1200">
                          <a:solidFill>
                            <a:schemeClr val="tx1"/>
                          </a:solidFill>
                          <a:latin typeface="Calibri"/>
                        </a:defRPr>
                      </a:lvl1pPr>
                      <a:lvl2pPr marL="593725" algn="l" defTabSz="1187450" rtl="0" eaLnBrk="1" latinLnBrk="0" hangingPunct="1">
                        <a:defRPr sz="2335" kern="1200">
                          <a:solidFill>
                            <a:schemeClr val="tx1"/>
                          </a:solidFill>
                          <a:latin typeface="Calibri"/>
                        </a:defRPr>
                      </a:lvl2pPr>
                      <a:lvl3pPr marL="1187450" algn="l" defTabSz="1187450" rtl="0" eaLnBrk="1" latinLnBrk="0" hangingPunct="1">
                        <a:defRPr sz="2335" kern="1200">
                          <a:solidFill>
                            <a:schemeClr val="tx1"/>
                          </a:solidFill>
                          <a:latin typeface="Calibri"/>
                        </a:defRPr>
                      </a:lvl3pPr>
                      <a:lvl4pPr marL="1781175" algn="l" defTabSz="1187450" rtl="0" eaLnBrk="1" latinLnBrk="0" hangingPunct="1">
                        <a:defRPr sz="2335" kern="1200">
                          <a:solidFill>
                            <a:schemeClr val="tx1"/>
                          </a:solidFill>
                          <a:latin typeface="Calibri"/>
                        </a:defRPr>
                      </a:lvl4pPr>
                      <a:lvl5pPr marL="2374900" algn="l" defTabSz="1187450" rtl="0" eaLnBrk="1" latinLnBrk="0" hangingPunct="1">
                        <a:defRPr sz="2335" kern="1200">
                          <a:solidFill>
                            <a:schemeClr val="tx1"/>
                          </a:solidFill>
                          <a:latin typeface="Calibri"/>
                        </a:defRPr>
                      </a:lvl5pPr>
                      <a:lvl6pPr marL="2968625" algn="l" defTabSz="1187450" rtl="0" eaLnBrk="1" latinLnBrk="0" hangingPunct="1">
                        <a:defRPr sz="2335" kern="1200">
                          <a:solidFill>
                            <a:schemeClr val="tx1"/>
                          </a:solidFill>
                          <a:latin typeface="Calibri"/>
                        </a:defRPr>
                      </a:lvl6pPr>
                      <a:lvl7pPr marL="3561715" algn="l" defTabSz="1187450" rtl="0" eaLnBrk="1" latinLnBrk="0" hangingPunct="1">
                        <a:defRPr sz="2335" kern="1200">
                          <a:solidFill>
                            <a:schemeClr val="tx1"/>
                          </a:solidFill>
                          <a:latin typeface="Calibri"/>
                        </a:defRPr>
                      </a:lvl7pPr>
                      <a:lvl8pPr marL="4155440" algn="l" defTabSz="1187450" rtl="0" eaLnBrk="1" latinLnBrk="0" hangingPunct="1">
                        <a:defRPr sz="2335" kern="1200">
                          <a:solidFill>
                            <a:schemeClr val="tx1"/>
                          </a:solidFill>
                          <a:latin typeface="Calibri"/>
                        </a:defRPr>
                      </a:lvl8pPr>
                      <a:lvl9pPr marL="4749165" algn="l" defTabSz="1187450" rtl="0" eaLnBrk="1" latinLnBrk="0" hangingPunct="1">
                        <a:defRPr sz="2335" kern="1200">
                          <a:solidFill>
                            <a:schemeClr val="tx1"/>
                          </a:solidFill>
                          <a:latin typeface="Calibri"/>
                        </a:defRPr>
                      </a:lvl9pPr>
                    </a:lstStyle>
                    <a:p>
                      <a:pPr algn="ctr" rtl="0" fontAlgn="ctr"/>
                      <a:r>
                        <a:rPr lang="zh-CN" altLang="en-US" sz="1000" b="1" i="0" u="none" strike="noStrike" dirty="0">
                          <a:solidFill>
                            <a:srgbClr val="1D1D1A"/>
                          </a:solidFill>
                          <a:effectLst/>
                          <a:latin typeface="微软雅黑" charset="0"/>
                          <a:ea typeface="微软雅黑" charset="0"/>
                          <a:cs typeface="微软雅黑" charset="0"/>
                        </a:rPr>
                        <a:t>新模型</a:t>
                      </a:r>
                    </a:p>
                    <a:p>
                      <a:pPr algn="ctr" rtl="0" fontAlgn="ctr"/>
                      <a:r>
                        <a:rPr lang="zh-CN" altLang="en-US" sz="1000" b="1" i="0" u="none" strike="noStrike" dirty="0">
                          <a:solidFill>
                            <a:srgbClr val="1D1D1A"/>
                          </a:solidFill>
                          <a:effectLst/>
                          <a:latin typeface="微软雅黑" charset="0"/>
                          <a:ea typeface="微软雅黑" charset="0"/>
                          <a:cs typeface="微软雅黑" charset="0"/>
                        </a:rPr>
                        <a:t>（非串行）</a:t>
                      </a:r>
                      <a:endParaRPr lang="en-US" sz="1000" b="1" i="0" u="none" strike="noStrike" dirty="0">
                        <a:solidFill>
                          <a:srgbClr val="1D1D1A"/>
                        </a:solidFill>
                        <a:effectLst/>
                        <a:latin typeface="微软雅黑" charset="0"/>
                        <a:ea typeface="微软雅黑" charset="0"/>
                        <a:cs typeface="微软雅黑" charset="0"/>
                      </a:endParaRPr>
                    </a:p>
                  </a:txBody>
                  <a:tcPr marL="6348" marR="6348" marT="6348" marB="0" anchor="ctr">
                    <a:lnL w="3175" cap="flat" cmpd="sng" algn="ctr">
                      <a:solidFill>
                        <a:srgbClr val="1D1D1A"/>
                      </a:solidFill>
                      <a:prstDash val="solid"/>
                      <a:round/>
                      <a:headEnd type="none" w="med" len="med"/>
                      <a:tailEnd type="none" w="med" len="med"/>
                    </a:lnL>
                    <a:lnR w="3175" cap="flat" cmpd="sng" algn="ctr">
                      <a:solidFill>
                        <a:srgbClr val="1D1D1A"/>
                      </a:solidFill>
                      <a:prstDash val="solid"/>
                      <a:round/>
                      <a:headEnd type="none" w="med" len="med"/>
                      <a:tailEnd type="none" w="med" len="med"/>
                    </a:lnR>
                    <a:lnT w="3175" cap="flat" cmpd="sng" algn="ctr">
                      <a:solidFill>
                        <a:srgbClr val="1D1D1A"/>
                      </a:solidFill>
                      <a:prstDash val="solid"/>
                      <a:round/>
                      <a:headEnd type="none" w="med" len="med"/>
                      <a:tailEnd type="none" w="med" len="med"/>
                    </a:lnT>
                    <a:lnB w="3175" cap="flat" cmpd="sng" algn="ctr">
                      <a:solidFill>
                        <a:srgbClr val="1D1D1A"/>
                      </a:solidFill>
                      <a:prstDash val="solid"/>
                      <a:round/>
                      <a:headEnd type="none" w="med" len="med"/>
                      <a:tailEnd type="none" w="med" len="med"/>
                    </a:lnB>
                    <a:lnTlToBr w="12700" cmpd="sng">
                      <a:noFill/>
                      <a:prstDash val="solid"/>
                    </a:lnTlToBr>
                    <a:lnBlToTr w="12700" cmpd="sng">
                      <a:noFill/>
                      <a:prstDash val="solid"/>
                    </a:lnBlToTr>
                    <a:solidFill>
                      <a:srgbClr val="D4F1F5"/>
                    </a:solidFill>
                  </a:tcPr>
                </a:tc>
                <a:tc>
                  <a:txBody>
                    <a:bodyPr/>
                    <a:lstStyle/>
                    <a:p>
                      <a:pPr algn="ctr" rtl="0" fontAlgn="ctr">
                        <a:buNone/>
                      </a:pPr>
                      <a:r>
                        <a:rPr lang="en-US" altLang="zh-CN" sz="1200" b="1" dirty="0">
                          <a:solidFill>
                            <a:srgbClr val="C00000"/>
                          </a:solidFill>
                          <a:effectLst/>
                          <a:latin typeface="微软雅黑" charset="0"/>
                          <a:ea typeface="微软雅黑" charset="0"/>
                          <a:cs typeface="微软雅黑" charset="0"/>
                        </a:rPr>
                        <a:t>√ </a:t>
                      </a:r>
                      <a:r>
                        <a:rPr lang="zh-CN" altLang="en-US" sz="1200" b="1" i="0" u="none" strike="noStrike" dirty="0">
                          <a:solidFill>
                            <a:srgbClr val="C00000"/>
                          </a:solidFill>
                          <a:effectLst/>
                          <a:latin typeface="微软雅黑" charset="0"/>
                          <a:ea typeface="微软雅黑" charset="0"/>
                          <a:cs typeface="微软雅黑" charset="0"/>
                        </a:rPr>
                        <a:t>提前储备能力，助力开箱提速</a:t>
                      </a:r>
                      <a:endParaRPr lang="en-US" altLang="en-US" sz="1200" b="1" i="0" u="none" strike="noStrike" dirty="0">
                        <a:solidFill>
                          <a:srgbClr val="C00000"/>
                        </a:solidFill>
                        <a:effectLst/>
                        <a:latin typeface="微软雅黑" charset="0"/>
                        <a:ea typeface="微软雅黑" charset="0"/>
                        <a:cs typeface="微软雅黑" charset="0"/>
                      </a:endParaRPr>
                    </a:p>
                  </a:txBody>
                  <a:tcPr marL="6348" marR="6348" marT="6348" marB="0" anchor="ctr">
                    <a:lnL w="3175" cap="flat" cmpd="sng" algn="ctr">
                      <a:solidFill>
                        <a:srgbClr val="1D1D1A"/>
                      </a:solidFill>
                      <a:prstDash val="solid"/>
                      <a:round/>
                      <a:headEnd type="none" w="med" len="med"/>
                      <a:tailEnd type="none" w="med" len="med"/>
                    </a:lnL>
                    <a:lnR w="3175" cap="flat" cmpd="sng" algn="ctr">
                      <a:solidFill>
                        <a:srgbClr val="1D1D1A"/>
                      </a:solidFill>
                      <a:prstDash val="solid"/>
                      <a:round/>
                      <a:headEnd type="none" w="med" len="med"/>
                      <a:tailEnd type="none" w="med" len="med"/>
                    </a:lnR>
                    <a:lnT w="3175" cap="flat" cmpd="sng" algn="ctr">
                      <a:solidFill>
                        <a:srgbClr val="1D1D1A"/>
                      </a:solidFill>
                      <a:prstDash val="solid"/>
                      <a:round/>
                      <a:headEnd type="none" w="med" len="med"/>
                      <a:tailEnd type="none" w="med" len="med"/>
                    </a:lnT>
                    <a:lnB w="3175" cap="flat" cmpd="sng" algn="ctr">
                      <a:solidFill>
                        <a:srgbClr val="1D1D1A"/>
                      </a:solidFill>
                      <a:prstDash val="solid"/>
                      <a:round/>
                      <a:headEnd type="none" w="med" len="med"/>
                      <a:tailEnd type="none" w="med" len="med"/>
                    </a:lnB>
                    <a:lnTlToBr w="12700" cmpd="sng">
                      <a:noFill/>
                      <a:prstDash val="solid"/>
                    </a:lnTlToBr>
                    <a:lnBlToTr w="12700" cmpd="sng">
                      <a:noFill/>
                      <a:prstDash val="solid"/>
                    </a:lnBlToTr>
                    <a:solidFill>
                      <a:srgbClr val="D4F1F5"/>
                    </a:solidFill>
                  </a:tcPr>
                </a:tc>
                <a:tc>
                  <a:txBody>
                    <a:bodyPr/>
                    <a:lstStyle/>
                    <a:p>
                      <a:pPr algn="ctr" rtl="0" fontAlgn="ctr">
                        <a:buNone/>
                      </a:pPr>
                      <a:r>
                        <a:rPr lang="zh-CN" altLang="en-US" sz="1200" b="1" dirty="0">
                          <a:solidFill>
                            <a:srgbClr val="C00000"/>
                          </a:solidFill>
                          <a:effectLst/>
                          <a:latin typeface="微软雅黑" charset="0"/>
                          <a:ea typeface="微软雅黑" charset="0"/>
                          <a:cs typeface="微软雅黑" charset="0"/>
                        </a:rPr>
                        <a:t>○ 过程发现不足，持续改进</a:t>
                      </a:r>
                      <a:endParaRPr lang="en-US" altLang="en-US" sz="1200" b="1" i="0" u="none" strike="noStrike" dirty="0">
                        <a:solidFill>
                          <a:srgbClr val="C00000"/>
                        </a:solidFill>
                        <a:effectLst/>
                        <a:latin typeface="微软雅黑" charset="0"/>
                        <a:ea typeface="微软雅黑" charset="0"/>
                        <a:cs typeface="微软雅黑" charset="0"/>
                      </a:endParaRPr>
                    </a:p>
                  </a:txBody>
                  <a:tcPr marL="6348" marR="6348" marT="6348" marB="0" anchor="ctr">
                    <a:lnL w="3175" cap="flat" cmpd="sng" algn="ctr">
                      <a:solidFill>
                        <a:srgbClr val="1D1D1A"/>
                      </a:solidFill>
                      <a:prstDash val="solid"/>
                      <a:round/>
                      <a:headEnd type="none" w="med" len="med"/>
                      <a:tailEnd type="none" w="med" len="med"/>
                    </a:lnL>
                    <a:lnR w="3175" cap="flat" cmpd="sng" algn="ctr">
                      <a:solidFill>
                        <a:srgbClr val="1D1D1A"/>
                      </a:solidFill>
                      <a:prstDash val="solid"/>
                      <a:round/>
                      <a:headEnd type="none" w="med" len="med"/>
                      <a:tailEnd type="none" w="med" len="med"/>
                    </a:lnR>
                    <a:lnT w="3175" cap="flat" cmpd="sng" algn="ctr">
                      <a:solidFill>
                        <a:srgbClr val="1D1D1A"/>
                      </a:solidFill>
                      <a:prstDash val="solid"/>
                      <a:round/>
                      <a:headEnd type="none" w="med" len="med"/>
                      <a:tailEnd type="none" w="med" len="med"/>
                    </a:lnT>
                    <a:lnB w="3175" cap="flat" cmpd="sng" algn="ctr">
                      <a:solidFill>
                        <a:srgbClr val="1D1D1A"/>
                      </a:solidFill>
                      <a:prstDash val="solid"/>
                      <a:round/>
                      <a:headEnd type="none" w="med" len="med"/>
                      <a:tailEnd type="none" w="med" len="med"/>
                    </a:lnB>
                    <a:lnTlToBr w="12700" cmpd="sng">
                      <a:noFill/>
                      <a:prstDash val="solid"/>
                    </a:lnTlToBr>
                    <a:lnBlToTr w="12700" cmpd="sng">
                      <a:noFill/>
                      <a:prstDash val="solid"/>
                    </a:lnBlToTr>
                    <a:solidFill>
                      <a:srgbClr val="D4F1F5"/>
                    </a:solidFill>
                  </a:tcPr>
                </a:tc>
                <a:extLst>
                  <a:ext uri="{0D108BD9-81ED-4DB2-BD59-A6C34878D82A}">
                    <a16:rowId xmlns:a16="http://schemas.microsoft.com/office/drawing/2014/main" val="10000"/>
                  </a:ext>
                </a:extLst>
              </a:tr>
              <a:tr h="750570">
                <a:tc>
                  <a:txBody>
                    <a:bodyPr/>
                    <a:lstStyle>
                      <a:lvl1pPr marL="0" algn="l" defTabSz="1187450" rtl="0" eaLnBrk="1" latinLnBrk="0" hangingPunct="1">
                        <a:defRPr sz="2335" kern="1200">
                          <a:solidFill>
                            <a:schemeClr val="tx1"/>
                          </a:solidFill>
                          <a:latin typeface="Calibri"/>
                        </a:defRPr>
                      </a:lvl1pPr>
                      <a:lvl2pPr marL="593725" algn="l" defTabSz="1187450" rtl="0" eaLnBrk="1" latinLnBrk="0" hangingPunct="1">
                        <a:defRPr sz="2335" kern="1200">
                          <a:solidFill>
                            <a:schemeClr val="tx1"/>
                          </a:solidFill>
                          <a:latin typeface="Calibri"/>
                        </a:defRPr>
                      </a:lvl2pPr>
                      <a:lvl3pPr marL="1187450" algn="l" defTabSz="1187450" rtl="0" eaLnBrk="1" latinLnBrk="0" hangingPunct="1">
                        <a:defRPr sz="2335" kern="1200">
                          <a:solidFill>
                            <a:schemeClr val="tx1"/>
                          </a:solidFill>
                          <a:latin typeface="Calibri"/>
                        </a:defRPr>
                      </a:lvl3pPr>
                      <a:lvl4pPr marL="1781175" algn="l" defTabSz="1187450" rtl="0" eaLnBrk="1" latinLnBrk="0" hangingPunct="1">
                        <a:defRPr sz="2335" kern="1200">
                          <a:solidFill>
                            <a:schemeClr val="tx1"/>
                          </a:solidFill>
                          <a:latin typeface="Calibri"/>
                        </a:defRPr>
                      </a:lvl4pPr>
                      <a:lvl5pPr marL="2374900" algn="l" defTabSz="1187450" rtl="0" eaLnBrk="1" latinLnBrk="0" hangingPunct="1">
                        <a:defRPr sz="2335" kern="1200">
                          <a:solidFill>
                            <a:schemeClr val="tx1"/>
                          </a:solidFill>
                          <a:latin typeface="Calibri"/>
                        </a:defRPr>
                      </a:lvl5pPr>
                      <a:lvl6pPr marL="2968625" algn="l" defTabSz="1187450" rtl="0" eaLnBrk="1" latinLnBrk="0" hangingPunct="1">
                        <a:defRPr sz="2335" kern="1200">
                          <a:solidFill>
                            <a:schemeClr val="tx1"/>
                          </a:solidFill>
                          <a:latin typeface="Calibri"/>
                        </a:defRPr>
                      </a:lvl6pPr>
                      <a:lvl7pPr marL="3561715" algn="l" defTabSz="1187450" rtl="0" eaLnBrk="1" latinLnBrk="0" hangingPunct="1">
                        <a:defRPr sz="2335" kern="1200">
                          <a:solidFill>
                            <a:schemeClr val="tx1"/>
                          </a:solidFill>
                          <a:latin typeface="Calibri"/>
                        </a:defRPr>
                      </a:lvl7pPr>
                      <a:lvl8pPr marL="4155440" algn="l" defTabSz="1187450" rtl="0" eaLnBrk="1" latinLnBrk="0" hangingPunct="1">
                        <a:defRPr sz="2335" kern="1200">
                          <a:solidFill>
                            <a:schemeClr val="tx1"/>
                          </a:solidFill>
                          <a:latin typeface="Calibri"/>
                        </a:defRPr>
                      </a:lvl8pPr>
                      <a:lvl9pPr marL="4749165" algn="l" defTabSz="1187450" rtl="0" eaLnBrk="1" latinLnBrk="0" hangingPunct="1">
                        <a:defRPr sz="2335" kern="1200">
                          <a:solidFill>
                            <a:schemeClr val="tx1"/>
                          </a:solidFill>
                          <a:latin typeface="Calibri"/>
                        </a:defRPr>
                      </a:lvl9pPr>
                    </a:lstStyle>
                    <a:p>
                      <a:pPr algn="ctr" rtl="0" fontAlgn="ctr"/>
                      <a:r>
                        <a:rPr lang="zh-CN" altLang="en-US" sz="1100" b="1" i="0" u="none" strike="noStrike" dirty="0">
                          <a:solidFill>
                            <a:srgbClr val="1D1D1A"/>
                          </a:solidFill>
                          <a:effectLst/>
                          <a:latin typeface="微软雅黑" charset="0"/>
                          <a:ea typeface="微软雅黑" charset="0"/>
                          <a:cs typeface="微软雅黑" charset="0"/>
                        </a:rPr>
                        <a:t>算子开发</a:t>
                      </a:r>
                    </a:p>
                  </a:txBody>
                  <a:tcPr marL="6348" marR="6348" marT="6348" marB="0" anchor="ctr">
                    <a:lnL w="3175" cap="flat" cmpd="sng" algn="ctr">
                      <a:solidFill>
                        <a:srgbClr val="1D1D1A"/>
                      </a:solidFill>
                      <a:prstDash val="solid"/>
                      <a:round/>
                      <a:headEnd type="none" w="med" len="med"/>
                      <a:tailEnd type="none" w="med" len="med"/>
                    </a:lnL>
                    <a:lnR w="3175" cap="flat" cmpd="sng" algn="ctr">
                      <a:solidFill>
                        <a:srgbClr val="1D1D1A"/>
                      </a:solidFill>
                      <a:prstDash val="solid"/>
                      <a:round/>
                      <a:headEnd type="none" w="med" len="med"/>
                      <a:tailEnd type="none" w="med" len="med"/>
                    </a:lnR>
                    <a:lnT w="3175" cap="flat" cmpd="sng" algn="ctr">
                      <a:solidFill>
                        <a:srgbClr val="1D1D1A"/>
                      </a:solidFill>
                      <a:prstDash val="solid"/>
                      <a:round/>
                      <a:headEnd type="none" w="med" len="med"/>
                      <a:tailEnd type="none" w="med" len="med"/>
                    </a:lnT>
                    <a:lnB w="3175" cap="flat" cmpd="sng" algn="ctr">
                      <a:solidFill>
                        <a:srgbClr val="1D1D1A"/>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lvl1pPr marL="0" algn="l" defTabSz="1187450" rtl="0" eaLnBrk="1" latinLnBrk="0" hangingPunct="1">
                        <a:defRPr sz="2335" kern="1200">
                          <a:solidFill>
                            <a:schemeClr val="tx1"/>
                          </a:solidFill>
                          <a:latin typeface="Calibri"/>
                        </a:defRPr>
                      </a:lvl1pPr>
                      <a:lvl2pPr marL="593725" algn="l" defTabSz="1187450" rtl="0" eaLnBrk="1" latinLnBrk="0" hangingPunct="1">
                        <a:defRPr sz="2335" kern="1200">
                          <a:solidFill>
                            <a:schemeClr val="tx1"/>
                          </a:solidFill>
                          <a:latin typeface="Calibri"/>
                        </a:defRPr>
                      </a:lvl2pPr>
                      <a:lvl3pPr marL="1187450" algn="l" defTabSz="1187450" rtl="0" eaLnBrk="1" latinLnBrk="0" hangingPunct="1">
                        <a:defRPr sz="2335" kern="1200">
                          <a:solidFill>
                            <a:schemeClr val="tx1"/>
                          </a:solidFill>
                          <a:latin typeface="Calibri"/>
                        </a:defRPr>
                      </a:lvl3pPr>
                      <a:lvl4pPr marL="1781175" algn="l" defTabSz="1187450" rtl="0" eaLnBrk="1" latinLnBrk="0" hangingPunct="1">
                        <a:defRPr sz="2335" kern="1200">
                          <a:solidFill>
                            <a:schemeClr val="tx1"/>
                          </a:solidFill>
                          <a:latin typeface="Calibri"/>
                        </a:defRPr>
                      </a:lvl4pPr>
                      <a:lvl5pPr marL="2374900" algn="l" defTabSz="1187450" rtl="0" eaLnBrk="1" latinLnBrk="0" hangingPunct="1">
                        <a:defRPr sz="2335" kern="1200">
                          <a:solidFill>
                            <a:schemeClr val="tx1"/>
                          </a:solidFill>
                          <a:latin typeface="Calibri"/>
                        </a:defRPr>
                      </a:lvl5pPr>
                      <a:lvl6pPr marL="2968625" algn="l" defTabSz="1187450" rtl="0" eaLnBrk="1" latinLnBrk="0" hangingPunct="1">
                        <a:defRPr sz="2335" kern="1200">
                          <a:solidFill>
                            <a:schemeClr val="tx1"/>
                          </a:solidFill>
                          <a:latin typeface="Calibri"/>
                        </a:defRPr>
                      </a:lvl6pPr>
                      <a:lvl7pPr marL="3561715" algn="l" defTabSz="1187450" rtl="0" eaLnBrk="1" latinLnBrk="0" hangingPunct="1">
                        <a:defRPr sz="2335" kern="1200">
                          <a:solidFill>
                            <a:schemeClr val="tx1"/>
                          </a:solidFill>
                          <a:latin typeface="Calibri"/>
                        </a:defRPr>
                      </a:lvl7pPr>
                      <a:lvl8pPr marL="4155440" algn="l" defTabSz="1187450" rtl="0" eaLnBrk="1" latinLnBrk="0" hangingPunct="1">
                        <a:defRPr sz="2335" kern="1200">
                          <a:solidFill>
                            <a:schemeClr val="tx1"/>
                          </a:solidFill>
                          <a:latin typeface="Calibri"/>
                        </a:defRPr>
                      </a:lvl8pPr>
                      <a:lvl9pPr marL="4749165" algn="l" defTabSz="1187450" rtl="0" eaLnBrk="1" latinLnBrk="0" hangingPunct="1">
                        <a:defRPr sz="2335" kern="1200">
                          <a:solidFill>
                            <a:schemeClr val="tx1"/>
                          </a:solidFill>
                          <a:latin typeface="Calibri"/>
                        </a:defRPr>
                      </a:lvl9pPr>
                    </a:lstStyle>
                    <a:p>
                      <a:pPr algn="ctr" rtl="0" fontAlgn="ctr"/>
                      <a:r>
                        <a:rPr lang="en-US" altLang="zh-CN" sz="1100" b="0" i="0" u="none" strike="noStrike" dirty="0">
                          <a:solidFill>
                            <a:srgbClr val="1D1D1A"/>
                          </a:solidFill>
                          <a:effectLst/>
                          <a:latin typeface="微软雅黑" charset="0"/>
                          <a:ea typeface="微软雅黑" charset="0"/>
                          <a:cs typeface="微软雅黑" charset="0"/>
                        </a:rPr>
                        <a:t>15</a:t>
                      </a:r>
                      <a:r>
                        <a:rPr lang="zh-CN" altLang="en-US" sz="1100" b="0" i="0" u="none" strike="noStrike" dirty="0">
                          <a:solidFill>
                            <a:srgbClr val="1D1D1A"/>
                          </a:solidFill>
                          <a:effectLst/>
                          <a:latin typeface="微软雅黑" charset="0"/>
                          <a:ea typeface="微软雅黑" charset="0"/>
                          <a:cs typeface="微软雅黑" charset="0"/>
                        </a:rPr>
                        <a:t>个算子，开发周期</a:t>
                      </a:r>
                      <a:r>
                        <a:rPr lang="en-US" altLang="zh-CN" sz="1100" b="0" i="0" u="none" strike="noStrike" dirty="0">
                          <a:solidFill>
                            <a:srgbClr val="1D1D1A"/>
                          </a:solidFill>
                          <a:effectLst/>
                          <a:latin typeface="微软雅黑" charset="0"/>
                          <a:ea typeface="微软雅黑" charset="0"/>
                          <a:cs typeface="微软雅黑" charset="0"/>
                        </a:rPr>
                        <a:t>62</a:t>
                      </a:r>
                      <a:r>
                        <a:rPr lang="zh-CN" altLang="en-US" sz="1100" b="0" i="0" u="none" strike="noStrike" dirty="0">
                          <a:solidFill>
                            <a:srgbClr val="1D1D1A"/>
                          </a:solidFill>
                          <a:effectLst/>
                          <a:latin typeface="微软雅黑" charset="0"/>
                          <a:ea typeface="微软雅黑" charset="0"/>
                          <a:cs typeface="微软雅黑" charset="0"/>
                        </a:rPr>
                        <a:t>天</a:t>
                      </a:r>
                    </a:p>
                  </a:txBody>
                  <a:tcPr marL="6348" marR="6348" marT="6348" marB="0" anchor="ctr">
                    <a:lnL w="3175" cap="flat" cmpd="sng" algn="ctr">
                      <a:solidFill>
                        <a:srgbClr val="1D1D1A"/>
                      </a:solidFill>
                      <a:prstDash val="solid"/>
                      <a:round/>
                      <a:headEnd type="none" w="med" len="med"/>
                      <a:tailEnd type="none" w="med" len="med"/>
                    </a:lnL>
                    <a:lnR w="3175" cap="flat" cmpd="sng" algn="ctr">
                      <a:solidFill>
                        <a:srgbClr val="1D1D1A"/>
                      </a:solidFill>
                      <a:prstDash val="solid"/>
                      <a:round/>
                      <a:headEnd type="none" w="med" len="med"/>
                      <a:tailEnd type="none" w="med" len="med"/>
                    </a:lnR>
                    <a:lnT w="3175" cap="flat" cmpd="sng" algn="ctr">
                      <a:solidFill>
                        <a:srgbClr val="1D1D1A"/>
                      </a:solidFill>
                      <a:prstDash val="solid"/>
                      <a:round/>
                      <a:headEnd type="none" w="med" len="med"/>
                      <a:tailEnd type="none" w="med" len="med"/>
                    </a:lnT>
                    <a:lnB w="3175" cap="flat" cmpd="sng" algn="ctr">
                      <a:solidFill>
                        <a:srgbClr val="1D1D1A"/>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lvl1pPr marL="0" algn="l" defTabSz="1187450" rtl="0" eaLnBrk="1" latinLnBrk="0" hangingPunct="1">
                        <a:defRPr sz="2335" kern="1200">
                          <a:solidFill>
                            <a:schemeClr val="tx1"/>
                          </a:solidFill>
                          <a:latin typeface="Calibri"/>
                        </a:defRPr>
                      </a:lvl1pPr>
                      <a:lvl2pPr marL="593725" algn="l" defTabSz="1187450" rtl="0" eaLnBrk="1" latinLnBrk="0" hangingPunct="1">
                        <a:defRPr sz="2335" kern="1200">
                          <a:solidFill>
                            <a:schemeClr val="tx1"/>
                          </a:solidFill>
                          <a:latin typeface="Calibri"/>
                        </a:defRPr>
                      </a:lvl2pPr>
                      <a:lvl3pPr marL="1187450" algn="l" defTabSz="1187450" rtl="0" eaLnBrk="1" latinLnBrk="0" hangingPunct="1">
                        <a:defRPr sz="2335" kern="1200">
                          <a:solidFill>
                            <a:schemeClr val="tx1"/>
                          </a:solidFill>
                          <a:latin typeface="Calibri"/>
                        </a:defRPr>
                      </a:lvl3pPr>
                      <a:lvl4pPr marL="1781175" algn="l" defTabSz="1187450" rtl="0" eaLnBrk="1" latinLnBrk="0" hangingPunct="1">
                        <a:defRPr sz="2335" kern="1200">
                          <a:solidFill>
                            <a:schemeClr val="tx1"/>
                          </a:solidFill>
                          <a:latin typeface="Calibri"/>
                        </a:defRPr>
                      </a:lvl4pPr>
                      <a:lvl5pPr marL="2374900" algn="l" defTabSz="1187450" rtl="0" eaLnBrk="1" latinLnBrk="0" hangingPunct="1">
                        <a:defRPr sz="2335" kern="1200">
                          <a:solidFill>
                            <a:schemeClr val="tx1"/>
                          </a:solidFill>
                          <a:latin typeface="Calibri"/>
                        </a:defRPr>
                      </a:lvl5pPr>
                      <a:lvl6pPr marL="2968625" algn="l" defTabSz="1187450" rtl="0" eaLnBrk="1" latinLnBrk="0" hangingPunct="1">
                        <a:defRPr sz="2335" kern="1200">
                          <a:solidFill>
                            <a:schemeClr val="tx1"/>
                          </a:solidFill>
                          <a:latin typeface="Calibri"/>
                        </a:defRPr>
                      </a:lvl6pPr>
                      <a:lvl7pPr marL="3561715" algn="l" defTabSz="1187450" rtl="0" eaLnBrk="1" latinLnBrk="0" hangingPunct="1">
                        <a:defRPr sz="2335" kern="1200">
                          <a:solidFill>
                            <a:schemeClr val="tx1"/>
                          </a:solidFill>
                          <a:latin typeface="Calibri"/>
                        </a:defRPr>
                      </a:lvl7pPr>
                      <a:lvl8pPr marL="4155440" algn="l" defTabSz="1187450" rtl="0" eaLnBrk="1" latinLnBrk="0" hangingPunct="1">
                        <a:defRPr sz="2335" kern="1200">
                          <a:solidFill>
                            <a:schemeClr val="tx1"/>
                          </a:solidFill>
                          <a:latin typeface="Calibri"/>
                        </a:defRPr>
                      </a:lvl8pPr>
                      <a:lvl9pPr marL="4749165" algn="l" defTabSz="1187450" rtl="0" eaLnBrk="1" latinLnBrk="0" hangingPunct="1">
                        <a:defRPr sz="2335" kern="1200">
                          <a:solidFill>
                            <a:schemeClr val="tx1"/>
                          </a:solidFill>
                          <a:latin typeface="Calibri"/>
                        </a:defRPr>
                      </a:lvl9pPr>
                    </a:lstStyle>
                    <a:p>
                      <a:pPr algn="ctr" rtl="0" fontAlgn="ctr"/>
                      <a:r>
                        <a:rPr lang="en-US" altLang="zh-CN" sz="1000" b="0" dirty="0">
                          <a:solidFill>
                            <a:srgbClr val="C00000"/>
                          </a:solidFill>
                          <a:effectLst/>
                          <a:latin typeface="微软雅黑" charset="0"/>
                          <a:ea typeface="微软雅黑" charset="0"/>
                          <a:cs typeface="微软雅黑" charset="0"/>
                        </a:rPr>
                        <a:t>20</a:t>
                      </a:r>
                      <a:r>
                        <a:rPr lang="zh-CN" altLang="en-US" sz="1000" b="0" dirty="0">
                          <a:solidFill>
                            <a:srgbClr val="C00000"/>
                          </a:solidFill>
                          <a:effectLst/>
                          <a:latin typeface="微软雅黑" charset="0"/>
                          <a:ea typeface="微软雅黑" charset="0"/>
                          <a:cs typeface="微软雅黑" charset="0"/>
                        </a:rPr>
                        <a:t>+</a:t>
                      </a:r>
                      <a:r>
                        <a:rPr lang="zh-CN" altLang="en-US" sz="1000" b="0" i="0" u="none" strike="noStrike" dirty="0">
                          <a:solidFill>
                            <a:srgbClr val="C00000"/>
                          </a:solidFill>
                          <a:effectLst/>
                          <a:latin typeface="微软雅黑" charset="0"/>
                          <a:ea typeface="微软雅黑" charset="0"/>
                          <a:cs typeface="微软雅黑" charset="0"/>
                        </a:rPr>
                        <a:t>个算子，开发周期</a:t>
                      </a:r>
                      <a:r>
                        <a:rPr lang="en-US" altLang="zh-CN" sz="1000" b="0" i="0" u="none" strike="noStrike" dirty="0">
                          <a:solidFill>
                            <a:srgbClr val="C00000"/>
                          </a:solidFill>
                          <a:effectLst/>
                          <a:latin typeface="微软雅黑" charset="0"/>
                          <a:ea typeface="微软雅黑" charset="0"/>
                          <a:cs typeface="微软雅黑" charset="0"/>
                        </a:rPr>
                        <a:t>27</a:t>
                      </a:r>
                      <a:r>
                        <a:rPr lang="zh-CN" altLang="en-US" sz="1000" b="0" i="0" u="none" strike="noStrike" dirty="0">
                          <a:solidFill>
                            <a:srgbClr val="C00000"/>
                          </a:solidFill>
                          <a:effectLst/>
                          <a:latin typeface="微软雅黑" charset="0"/>
                          <a:ea typeface="微软雅黑" charset="0"/>
                          <a:cs typeface="微软雅黑" charset="0"/>
                        </a:rPr>
                        <a:t>天</a:t>
                      </a:r>
                    </a:p>
                  </a:txBody>
                  <a:tcPr marL="6348" marR="6348" marT="6348" marB="0" anchor="ctr">
                    <a:lnL w="3175" cap="flat" cmpd="sng" algn="ctr">
                      <a:solidFill>
                        <a:srgbClr val="1D1D1A"/>
                      </a:solidFill>
                      <a:prstDash val="solid"/>
                      <a:round/>
                      <a:headEnd type="none" w="med" len="med"/>
                      <a:tailEnd type="none" w="med" len="med"/>
                    </a:lnL>
                    <a:lnR w="3175" cap="flat" cmpd="sng" algn="ctr">
                      <a:solidFill>
                        <a:srgbClr val="1D1D1A"/>
                      </a:solidFill>
                      <a:prstDash val="solid"/>
                      <a:round/>
                      <a:headEnd type="none" w="med" len="med"/>
                      <a:tailEnd type="none" w="med" len="med"/>
                    </a:lnR>
                    <a:lnT w="3175" cap="flat" cmpd="sng" algn="ctr">
                      <a:solidFill>
                        <a:srgbClr val="1D1D1A"/>
                      </a:solidFill>
                      <a:prstDash val="solid"/>
                      <a:round/>
                      <a:headEnd type="none" w="med" len="med"/>
                      <a:tailEnd type="none" w="med" len="med"/>
                    </a:lnT>
                    <a:lnB w="3175" cap="flat" cmpd="sng" algn="ctr">
                      <a:solidFill>
                        <a:srgbClr val="1D1D1A"/>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l" defTabSz="913130" rtl="0" hangingPunct="0">
                        <a:lnSpc>
                          <a:spcPct val="120000"/>
                        </a:lnSpc>
                        <a:spcBef>
                          <a:spcPts val="0"/>
                        </a:spcBef>
                        <a:spcAft>
                          <a:spcPts val="0"/>
                        </a:spcAft>
                        <a:buClrTx/>
                        <a:buSzTx/>
                        <a:defRPr/>
                      </a:pPr>
                      <a:r>
                        <a:rPr lang="zh-CN" altLang="en-US" sz="1000" b="1" kern="0" noProof="0" dirty="0">
                          <a:ln>
                            <a:noFill/>
                          </a:ln>
                          <a:solidFill>
                            <a:srgbClr val="00B050"/>
                          </a:solidFill>
                          <a:effectLst/>
                          <a:uLnTx/>
                          <a:uFillTx/>
                          <a:latin typeface="微软雅黑" charset="0"/>
                          <a:ea typeface="微软雅黑" charset="0"/>
                          <a:cs typeface="微软雅黑" charset="0"/>
                        </a:rPr>
                        <a:t>√ 发布前提前构建20+融合算子：</a:t>
                      </a:r>
                      <a:r>
                        <a:rPr lang="zh-CN" altLang="en-US" sz="1000" kern="0" noProof="0" dirty="0">
                          <a:ln>
                            <a:noFill/>
                          </a:ln>
                          <a:solidFill>
                            <a:prstClr val="black"/>
                          </a:solidFill>
                          <a:effectLst/>
                          <a:uLnTx/>
                          <a:uFillTx/>
                          <a:latin typeface="微软雅黑" charset="0"/>
                          <a:ea typeface="微软雅黑" charset="0"/>
                          <a:cs typeface="微软雅黑" charset="0"/>
                        </a:rPr>
                        <a:t>结合模型特点，构筑亲和昇腾的融合算子深度挖掘硬件原生算力潜力，比如针对多Layer交织的Window/Sparse/Compress Attention，提供SparseAttnSharedKV融合算子，针对不同的Compress Ratio，支持Compressor和CompressEpilog融合算子等</a:t>
                      </a:r>
                    </a:p>
                  </a:txBody>
                  <a:tcPr marL="6348" marR="6348" marT="6348" marB="0" anchor="ctr">
                    <a:lnL w="3175" cap="flat" cmpd="sng" algn="ctr">
                      <a:solidFill>
                        <a:srgbClr val="1D1D1A"/>
                      </a:solidFill>
                      <a:prstDash val="solid"/>
                      <a:round/>
                      <a:headEnd type="none" w="med" len="med"/>
                      <a:tailEnd type="none" w="med" len="med"/>
                    </a:lnL>
                    <a:lnR w="3175" cap="flat" cmpd="sng" algn="ctr">
                      <a:solidFill>
                        <a:srgbClr val="1D1D1A"/>
                      </a:solidFill>
                      <a:prstDash val="solid"/>
                      <a:round/>
                      <a:headEnd type="none" w="med" len="med"/>
                      <a:tailEnd type="none" w="med" len="med"/>
                    </a:lnR>
                    <a:lnT w="3175" cap="flat" cmpd="sng" algn="ctr">
                      <a:solidFill>
                        <a:srgbClr val="1D1D1A"/>
                      </a:solidFill>
                      <a:prstDash val="solid"/>
                      <a:round/>
                      <a:headEnd type="none" w="med" len="med"/>
                      <a:tailEnd type="none" w="med" len="med"/>
                    </a:lnT>
                    <a:lnB w="3175" cap="flat" cmpd="sng" algn="ctr">
                      <a:solidFill>
                        <a:srgbClr val="1D1D1A"/>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rtl="0" fontAlgn="ctr">
                        <a:buNone/>
                      </a:pPr>
                      <a:endParaRPr lang="zh-CN" altLang="en-US" sz="1000" b="0" i="0" u="none" strike="noStrike" dirty="0">
                        <a:solidFill>
                          <a:srgbClr val="C00000"/>
                        </a:solidFill>
                        <a:effectLst/>
                        <a:latin typeface="微软雅黑" charset="0"/>
                        <a:ea typeface="微软雅黑" charset="0"/>
                        <a:cs typeface="微软雅黑" charset="0"/>
                      </a:endParaRPr>
                    </a:p>
                  </a:txBody>
                  <a:tcPr marL="6348" marR="6348" marT="6348" marB="0" anchor="ctr">
                    <a:lnL w="3175" cap="flat" cmpd="sng" algn="ctr">
                      <a:solidFill>
                        <a:srgbClr val="1D1D1A"/>
                      </a:solidFill>
                      <a:prstDash val="solid"/>
                      <a:round/>
                      <a:headEnd type="none" w="med" len="med"/>
                      <a:tailEnd type="none" w="med" len="med"/>
                    </a:lnL>
                    <a:lnR w="3175" cap="flat" cmpd="sng" algn="ctr">
                      <a:solidFill>
                        <a:srgbClr val="1D1D1A"/>
                      </a:solidFill>
                      <a:prstDash val="solid"/>
                      <a:round/>
                      <a:headEnd type="none" w="med" len="med"/>
                      <a:tailEnd type="none" w="med" len="med"/>
                    </a:lnR>
                    <a:lnT w="3175" cap="flat" cmpd="sng" algn="ctr">
                      <a:solidFill>
                        <a:srgbClr val="1D1D1A"/>
                      </a:solidFill>
                      <a:prstDash val="solid"/>
                      <a:round/>
                      <a:headEnd type="none" w="med" len="med"/>
                      <a:tailEnd type="none" w="med" len="med"/>
                    </a:lnT>
                    <a:lnB w="3175" cap="flat" cmpd="sng" algn="ctr">
                      <a:solidFill>
                        <a:srgbClr val="1D1D1A"/>
                      </a:solid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0001"/>
                  </a:ext>
                </a:extLst>
              </a:tr>
              <a:tr h="378460">
                <a:tc>
                  <a:txBody>
                    <a:bodyPr/>
                    <a:lstStyle>
                      <a:lvl1pPr marL="0" algn="l" defTabSz="1187450" rtl="0" eaLnBrk="1" latinLnBrk="0" hangingPunct="1">
                        <a:defRPr sz="2335" kern="1200">
                          <a:solidFill>
                            <a:schemeClr val="tx1"/>
                          </a:solidFill>
                          <a:latin typeface="Calibri"/>
                        </a:defRPr>
                      </a:lvl1pPr>
                      <a:lvl2pPr marL="593725" algn="l" defTabSz="1187450" rtl="0" eaLnBrk="1" latinLnBrk="0" hangingPunct="1">
                        <a:defRPr sz="2335" kern="1200">
                          <a:solidFill>
                            <a:schemeClr val="tx1"/>
                          </a:solidFill>
                          <a:latin typeface="Calibri"/>
                        </a:defRPr>
                      </a:lvl2pPr>
                      <a:lvl3pPr marL="1187450" algn="l" defTabSz="1187450" rtl="0" eaLnBrk="1" latinLnBrk="0" hangingPunct="1">
                        <a:defRPr sz="2335" kern="1200">
                          <a:solidFill>
                            <a:schemeClr val="tx1"/>
                          </a:solidFill>
                          <a:latin typeface="Calibri"/>
                        </a:defRPr>
                      </a:lvl3pPr>
                      <a:lvl4pPr marL="1781175" algn="l" defTabSz="1187450" rtl="0" eaLnBrk="1" latinLnBrk="0" hangingPunct="1">
                        <a:defRPr sz="2335" kern="1200">
                          <a:solidFill>
                            <a:schemeClr val="tx1"/>
                          </a:solidFill>
                          <a:latin typeface="Calibri"/>
                        </a:defRPr>
                      </a:lvl4pPr>
                      <a:lvl5pPr marL="2374900" algn="l" defTabSz="1187450" rtl="0" eaLnBrk="1" latinLnBrk="0" hangingPunct="1">
                        <a:defRPr sz="2335" kern="1200">
                          <a:solidFill>
                            <a:schemeClr val="tx1"/>
                          </a:solidFill>
                          <a:latin typeface="Calibri"/>
                        </a:defRPr>
                      </a:lvl5pPr>
                      <a:lvl6pPr marL="2968625" algn="l" defTabSz="1187450" rtl="0" eaLnBrk="1" latinLnBrk="0" hangingPunct="1">
                        <a:defRPr sz="2335" kern="1200">
                          <a:solidFill>
                            <a:schemeClr val="tx1"/>
                          </a:solidFill>
                          <a:latin typeface="Calibri"/>
                        </a:defRPr>
                      </a:lvl6pPr>
                      <a:lvl7pPr marL="3561715" algn="l" defTabSz="1187450" rtl="0" eaLnBrk="1" latinLnBrk="0" hangingPunct="1">
                        <a:defRPr sz="2335" kern="1200">
                          <a:solidFill>
                            <a:schemeClr val="tx1"/>
                          </a:solidFill>
                          <a:latin typeface="Calibri"/>
                        </a:defRPr>
                      </a:lvl7pPr>
                      <a:lvl8pPr marL="4155440" algn="l" defTabSz="1187450" rtl="0" eaLnBrk="1" latinLnBrk="0" hangingPunct="1">
                        <a:defRPr sz="2335" kern="1200">
                          <a:solidFill>
                            <a:schemeClr val="tx1"/>
                          </a:solidFill>
                          <a:latin typeface="Calibri"/>
                        </a:defRPr>
                      </a:lvl8pPr>
                      <a:lvl9pPr marL="4749165" algn="l" defTabSz="1187450" rtl="0" eaLnBrk="1" latinLnBrk="0" hangingPunct="1">
                        <a:defRPr sz="2335" kern="1200">
                          <a:solidFill>
                            <a:schemeClr val="tx1"/>
                          </a:solidFill>
                          <a:latin typeface="Calibri"/>
                        </a:defRPr>
                      </a:lvl9pPr>
                    </a:lstStyle>
                    <a:p>
                      <a:pPr algn="ctr" rtl="0" fontAlgn="ctr"/>
                      <a:r>
                        <a:rPr lang="zh-CN" altLang="en-US" sz="1100" b="1" i="0" u="none" strike="noStrike" dirty="0">
                          <a:solidFill>
                            <a:srgbClr val="1D1D1A"/>
                          </a:solidFill>
                          <a:effectLst/>
                          <a:latin typeface="微软雅黑" charset="0"/>
                          <a:ea typeface="微软雅黑" charset="0"/>
                          <a:cs typeface="微软雅黑" charset="0"/>
                        </a:rPr>
                        <a:t>权重量化</a:t>
                      </a:r>
                      <a:endParaRPr lang="en-US" sz="1100" b="1" i="0" u="none" strike="noStrike" dirty="0">
                        <a:solidFill>
                          <a:srgbClr val="1D1D1A"/>
                        </a:solidFill>
                        <a:effectLst/>
                        <a:latin typeface="微软雅黑" charset="0"/>
                        <a:ea typeface="微软雅黑" charset="0"/>
                        <a:cs typeface="微软雅黑" charset="0"/>
                      </a:endParaRPr>
                    </a:p>
                  </a:txBody>
                  <a:tcPr marL="6348" marR="6348" marT="6348" marB="0" anchor="ctr">
                    <a:lnL w="3175" cap="flat" cmpd="sng" algn="ctr">
                      <a:solidFill>
                        <a:srgbClr val="1D1D1A"/>
                      </a:solidFill>
                      <a:prstDash val="solid"/>
                      <a:round/>
                      <a:headEnd type="none" w="med" len="med"/>
                      <a:tailEnd type="none" w="med" len="med"/>
                    </a:lnL>
                    <a:lnR w="3175" cap="flat" cmpd="sng" algn="ctr">
                      <a:solidFill>
                        <a:srgbClr val="1D1D1A"/>
                      </a:solidFill>
                      <a:prstDash val="solid"/>
                      <a:round/>
                      <a:headEnd type="none" w="med" len="med"/>
                      <a:tailEnd type="none" w="med" len="med"/>
                    </a:lnR>
                    <a:lnT w="3175" cap="flat" cmpd="sng" algn="ctr">
                      <a:solidFill>
                        <a:srgbClr val="1D1D1A"/>
                      </a:solidFill>
                      <a:prstDash val="solid"/>
                      <a:round/>
                      <a:headEnd type="none" w="med" len="med"/>
                      <a:tailEnd type="none" w="med" len="med"/>
                    </a:lnT>
                    <a:lnB w="3175" cap="flat" cmpd="sng" algn="ctr">
                      <a:solidFill>
                        <a:srgbClr val="1D1D1A"/>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lvl1pPr marL="0" algn="l" defTabSz="1187450" rtl="0" eaLnBrk="1" latinLnBrk="0" hangingPunct="1">
                        <a:defRPr sz="2335" kern="1200">
                          <a:solidFill>
                            <a:schemeClr val="tx1"/>
                          </a:solidFill>
                          <a:latin typeface="Calibri"/>
                        </a:defRPr>
                      </a:lvl1pPr>
                      <a:lvl2pPr marL="593725" algn="l" defTabSz="1187450" rtl="0" eaLnBrk="1" latinLnBrk="0" hangingPunct="1">
                        <a:defRPr sz="2335" kern="1200">
                          <a:solidFill>
                            <a:schemeClr val="tx1"/>
                          </a:solidFill>
                          <a:latin typeface="Calibri"/>
                        </a:defRPr>
                      </a:lvl2pPr>
                      <a:lvl3pPr marL="1187450" algn="l" defTabSz="1187450" rtl="0" eaLnBrk="1" latinLnBrk="0" hangingPunct="1">
                        <a:defRPr sz="2335" kern="1200">
                          <a:solidFill>
                            <a:schemeClr val="tx1"/>
                          </a:solidFill>
                          <a:latin typeface="Calibri"/>
                        </a:defRPr>
                      </a:lvl3pPr>
                      <a:lvl4pPr marL="1781175" algn="l" defTabSz="1187450" rtl="0" eaLnBrk="1" latinLnBrk="0" hangingPunct="1">
                        <a:defRPr sz="2335" kern="1200">
                          <a:solidFill>
                            <a:schemeClr val="tx1"/>
                          </a:solidFill>
                          <a:latin typeface="Calibri"/>
                        </a:defRPr>
                      </a:lvl4pPr>
                      <a:lvl5pPr marL="2374900" algn="l" defTabSz="1187450" rtl="0" eaLnBrk="1" latinLnBrk="0" hangingPunct="1">
                        <a:defRPr sz="2335" kern="1200">
                          <a:solidFill>
                            <a:schemeClr val="tx1"/>
                          </a:solidFill>
                          <a:latin typeface="Calibri"/>
                        </a:defRPr>
                      </a:lvl5pPr>
                      <a:lvl6pPr marL="2968625" algn="l" defTabSz="1187450" rtl="0" eaLnBrk="1" latinLnBrk="0" hangingPunct="1">
                        <a:defRPr sz="2335" kern="1200">
                          <a:solidFill>
                            <a:schemeClr val="tx1"/>
                          </a:solidFill>
                          <a:latin typeface="Calibri"/>
                        </a:defRPr>
                      </a:lvl6pPr>
                      <a:lvl7pPr marL="3561715" algn="l" defTabSz="1187450" rtl="0" eaLnBrk="1" latinLnBrk="0" hangingPunct="1">
                        <a:defRPr sz="2335" kern="1200">
                          <a:solidFill>
                            <a:schemeClr val="tx1"/>
                          </a:solidFill>
                          <a:latin typeface="Calibri"/>
                        </a:defRPr>
                      </a:lvl7pPr>
                      <a:lvl8pPr marL="4155440" algn="l" defTabSz="1187450" rtl="0" eaLnBrk="1" latinLnBrk="0" hangingPunct="1">
                        <a:defRPr sz="2335" kern="1200">
                          <a:solidFill>
                            <a:schemeClr val="tx1"/>
                          </a:solidFill>
                          <a:latin typeface="Calibri"/>
                        </a:defRPr>
                      </a:lvl8pPr>
                      <a:lvl9pPr marL="4749165" algn="l" defTabSz="1187450" rtl="0" eaLnBrk="1" latinLnBrk="0" hangingPunct="1">
                        <a:defRPr sz="2335" kern="1200">
                          <a:solidFill>
                            <a:schemeClr val="tx1"/>
                          </a:solidFill>
                          <a:latin typeface="Calibri"/>
                        </a:defRPr>
                      </a:lvl9pPr>
                    </a:lstStyle>
                    <a:p>
                      <a:pPr algn="ctr" rtl="0" fontAlgn="ctr"/>
                      <a:r>
                        <a:rPr lang="zh-CN" altLang="en-US" sz="1100" b="0" i="0" u="none" strike="noStrike" dirty="0">
                          <a:solidFill>
                            <a:srgbClr val="1D1D1A"/>
                          </a:solidFill>
                          <a:effectLst/>
                          <a:latin typeface="微软雅黑" charset="0"/>
                          <a:ea typeface="微软雅黑" charset="0"/>
                          <a:cs typeface="微软雅黑" charset="0"/>
                        </a:rPr>
                        <a:t>周期</a:t>
                      </a:r>
                      <a:r>
                        <a:rPr lang="en-US" altLang="zh-CN" sz="1100" b="0" i="0" u="none" strike="noStrike" dirty="0">
                          <a:solidFill>
                            <a:srgbClr val="1D1D1A"/>
                          </a:solidFill>
                          <a:effectLst/>
                          <a:latin typeface="微软雅黑" charset="0"/>
                          <a:ea typeface="微软雅黑" charset="0"/>
                          <a:cs typeface="微软雅黑" charset="0"/>
                        </a:rPr>
                        <a:t>7</a:t>
                      </a:r>
                      <a:r>
                        <a:rPr lang="zh-CN" altLang="en-US" sz="1100" b="0" i="0" u="none" strike="noStrike" dirty="0">
                          <a:solidFill>
                            <a:srgbClr val="1D1D1A"/>
                          </a:solidFill>
                          <a:effectLst/>
                          <a:latin typeface="微软雅黑" charset="0"/>
                          <a:ea typeface="微软雅黑" charset="0"/>
                          <a:cs typeface="微软雅黑" charset="0"/>
                        </a:rPr>
                        <a:t>天</a:t>
                      </a:r>
                    </a:p>
                  </a:txBody>
                  <a:tcPr marL="6348" marR="6348" marT="6348" marB="0" anchor="ctr">
                    <a:lnL w="3175" cap="flat" cmpd="sng" algn="ctr">
                      <a:solidFill>
                        <a:srgbClr val="1D1D1A"/>
                      </a:solidFill>
                      <a:prstDash val="solid"/>
                      <a:round/>
                      <a:headEnd type="none" w="med" len="med"/>
                      <a:tailEnd type="none" w="med" len="med"/>
                    </a:lnL>
                    <a:lnR w="3175" cap="flat" cmpd="sng" algn="ctr">
                      <a:solidFill>
                        <a:srgbClr val="1D1D1A"/>
                      </a:solidFill>
                      <a:prstDash val="solid"/>
                      <a:round/>
                      <a:headEnd type="none" w="med" len="med"/>
                      <a:tailEnd type="none" w="med" len="med"/>
                    </a:lnR>
                    <a:lnT w="3175" cap="flat" cmpd="sng" algn="ctr">
                      <a:solidFill>
                        <a:srgbClr val="1D1D1A"/>
                      </a:solidFill>
                      <a:prstDash val="solid"/>
                      <a:round/>
                      <a:headEnd type="none" w="med" len="med"/>
                      <a:tailEnd type="none" w="med" len="med"/>
                    </a:lnT>
                    <a:lnB w="3175" cap="flat" cmpd="sng" algn="ctr">
                      <a:solidFill>
                        <a:srgbClr val="1D1D1A"/>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lvl1pPr marL="0" algn="l" defTabSz="1187450" rtl="0" eaLnBrk="1" latinLnBrk="0" hangingPunct="1">
                        <a:defRPr sz="2335" kern="1200">
                          <a:solidFill>
                            <a:schemeClr val="tx1"/>
                          </a:solidFill>
                          <a:latin typeface="Calibri"/>
                        </a:defRPr>
                      </a:lvl1pPr>
                      <a:lvl2pPr marL="593725" algn="l" defTabSz="1187450" rtl="0" eaLnBrk="1" latinLnBrk="0" hangingPunct="1">
                        <a:defRPr sz="2335" kern="1200">
                          <a:solidFill>
                            <a:schemeClr val="tx1"/>
                          </a:solidFill>
                          <a:latin typeface="Calibri"/>
                        </a:defRPr>
                      </a:lvl2pPr>
                      <a:lvl3pPr marL="1187450" algn="l" defTabSz="1187450" rtl="0" eaLnBrk="1" latinLnBrk="0" hangingPunct="1">
                        <a:defRPr sz="2335" kern="1200">
                          <a:solidFill>
                            <a:schemeClr val="tx1"/>
                          </a:solidFill>
                          <a:latin typeface="Calibri"/>
                        </a:defRPr>
                      </a:lvl3pPr>
                      <a:lvl4pPr marL="1781175" algn="l" defTabSz="1187450" rtl="0" eaLnBrk="1" latinLnBrk="0" hangingPunct="1">
                        <a:defRPr sz="2335" kern="1200">
                          <a:solidFill>
                            <a:schemeClr val="tx1"/>
                          </a:solidFill>
                          <a:latin typeface="Calibri"/>
                        </a:defRPr>
                      </a:lvl4pPr>
                      <a:lvl5pPr marL="2374900" algn="l" defTabSz="1187450" rtl="0" eaLnBrk="1" latinLnBrk="0" hangingPunct="1">
                        <a:defRPr sz="2335" kern="1200">
                          <a:solidFill>
                            <a:schemeClr val="tx1"/>
                          </a:solidFill>
                          <a:latin typeface="Calibri"/>
                        </a:defRPr>
                      </a:lvl5pPr>
                      <a:lvl6pPr marL="2968625" algn="l" defTabSz="1187450" rtl="0" eaLnBrk="1" latinLnBrk="0" hangingPunct="1">
                        <a:defRPr sz="2335" kern="1200">
                          <a:solidFill>
                            <a:schemeClr val="tx1"/>
                          </a:solidFill>
                          <a:latin typeface="Calibri"/>
                        </a:defRPr>
                      </a:lvl6pPr>
                      <a:lvl7pPr marL="3561715" algn="l" defTabSz="1187450" rtl="0" eaLnBrk="1" latinLnBrk="0" hangingPunct="1">
                        <a:defRPr sz="2335" kern="1200">
                          <a:solidFill>
                            <a:schemeClr val="tx1"/>
                          </a:solidFill>
                          <a:latin typeface="Calibri"/>
                        </a:defRPr>
                      </a:lvl7pPr>
                      <a:lvl8pPr marL="4155440" algn="l" defTabSz="1187450" rtl="0" eaLnBrk="1" latinLnBrk="0" hangingPunct="1">
                        <a:defRPr sz="2335" kern="1200">
                          <a:solidFill>
                            <a:schemeClr val="tx1"/>
                          </a:solidFill>
                          <a:latin typeface="Calibri"/>
                        </a:defRPr>
                      </a:lvl8pPr>
                      <a:lvl9pPr marL="4749165" algn="l" defTabSz="1187450" rtl="0" eaLnBrk="1" latinLnBrk="0" hangingPunct="1">
                        <a:defRPr sz="2335" kern="1200">
                          <a:solidFill>
                            <a:schemeClr val="tx1"/>
                          </a:solidFill>
                          <a:latin typeface="Calibri"/>
                        </a:defRPr>
                      </a:lvl9pPr>
                    </a:lstStyle>
                    <a:p>
                      <a:pPr algn="ctr" rtl="0" fontAlgn="ctr"/>
                      <a:r>
                        <a:rPr lang="zh-CN" altLang="en-US" sz="1000" b="0" i="0" u="none" strike="noStrike" dirty="0">
                          <a:solidFill>
                            <a:srgbClr val="C00000"/>
                          </a:solidFill>
                          <a:effectLst/>
                          <a:latin typeface="微软雅黑" charset="0"/>
                          <a:ea typeface="微软雅黑" charset="0"/>
                          <a:cs typeface="微软雅黑" charset="0"/>
                        </a:rPr>
                        <a:t>周期</a:t>
                      </a:r>
                      <a:r>
                        <a:rPr lang="en-US" altLang="zh-CN" sz="1000" b="0" dirty="0">
                          <a:solidFill>
                            <a:srgbClr val="C00000"/>
                          </a:solidFill>
                          <a:effectLst/>
                          <a:latin typeface="微软雅黑" charset="0"/>
                          <a:ea typeface="微软雅黑" charset="0"/>
                          <a:cs typeface="微软雅黑" charset="0"/>
                        </a:rPr>
                        <a:t>4</a:t>
                      </a:r>
                      <a:r>
                        <a:rPr lang="zh-CN" altLang="en-US" sz="1000" b="0" i="0" u="none" strike="noStrike" dirty="0">
                          <a:solidFill>
                            <a:srgbClr val="C00000"/>
                          </a:solidFill>
                          <a:effectLst/>
                          <a:latin typeface="微软雅黑" charset="0"/>
                          <a:ea typeface="微软雅黑" charset="0"/>
                          <a:cs typeface="微软雅黑" charset="0"/>
                        </a:rPr>
                        <a:t>天</a:t>
                      </a:r>
                    </a:p>
                  </a:txBody>
                  <a:tcPr marL="6348" marR="6348" marT="6348" marB="0" anchor="ctr">
                    <a:lnL w="3175" cap="flat" cmpd="sng" algn="ctr">
                      <a:solidFill>
                        <a:srgbClr val="1D1D1A"/>
                      </a:solidFill>
                      <a:prstDash val="solid"/>
                      <a:round/>
                      <a:headEnd type="none" w="med" len="med"/>
                      <a:tailEnd type="none" w="med" len="med"/>
                    </a:lnL>
                    <a:lnR w="3175" cap="flat" cmpd="sng" algn="ctr">
                      <a:solidFill>
                        <a:srgbClr val="1D1D1A"/>
                      </a:solidFill>
                      <a:prstDash val="solid"/>
                      <a:round/>
                      <a:headEnd type="none" w="med" len="med"/>
                      <a:tailEnd type="none" w="med" len="med"/>
                    </a:lnR>
                    <a:lnT w="3175" cap="flat" cmpd="sng" algn="ctr">
                      <a:solidFill>
                        <a:srgbClr val="1D1D1A"/>
                      </a:solidFill>
                      <a:prstDash val="solid"/>
                      <a:round/>
                      <a:headEnd type="none" w="med" len="med"/>
                      <a:tailEnd type="none" w="med" len="med"/>
                    </a:lnT>
                    <a:lnB w="3175" cap="flat" cmpd="sng" algn="ctr">
                      <a:solidFill>
                        <a:srgbClr val="1D1D1A"/>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l" rtl="0" fontAlgn="ctr">
                        <a:buNone/>
                      </a:pPr>
                      <a:r>
                        <a:rPr lang="zh-CN" altLang="en-US" sz="1000" b="1" dirty="0">
                          <a:solidFill>
                            <a:srgbClr val="00B050"/>
                          </a:solidFill>
                          <a:effectLst/>
                          <a:latin typeface="微软雅黑" charset="0"/>
                          <a:ea typeface="微软雅黑" charset="0"/>
                          <a:cs typeface="微软雅黑" charset="0"/>
                        </a:rPr>
                        <a:t>√ 低精量化</a:t>
                      </a:r>
                      <a:r>
                        <a:rPr lang="zh-CN" altLang="en-US" sz="1000" b="1" i="0" u="none" strike="noStrike" dirty="0">
                          <a:solidFill>
                            <a:srgbClr val="00B050"/>
                          </a:solidFill>
                          <a:effectLst/>
                          <a:latin typeface="微软雅黑" charset="0"/>
                          <a:ea typeface="微软雅黑" charset="0"/>
                          <a:cs typeface="微软雅黑" charset="0"/>
                        </a:rPr>
                        <a:t>原生支持：</a:t>
                      </a:r>
                      <a:r>
                        <a:rPr lang="en-US" altLang="zh-CN" sz="1000" b="0" i="0" u="none" strike="noStrike" dirty="0">
                          <a:solidFill>
                            <a:srgbClr val="000000"/>
                          </a:solidFill>
                          <a:effectLst/>
                          <a:latin typeface="微软雅黑" charset="0"/>
                          <a:ea typeface="微软雅黑" charset="0"/>
                          <a:cs typeface="微软雅黑" charset="0"/>
                        </a:rPr>
                        <a:t>A5</a:t>
                      </a:r>
                      <a:r>
                        <a:rPr lang="zh-CN" altLang="en-US" sz="1000" b="0" i="0" u="none" strike="noStrike" dirty="0">
                          <a:solidFill>
                            <a:srgbClr val="000000"/>
                          </a:solidFill>
                          <a:effectLst/>
                          <a:latin typeface="微软雅黑" charset="0"/>
                          <a:ea typeface="微软雅黑" charset="0"/>
                          <a:cs typeface="微软雅黑" charset="0"/>
                        </a:rPr>
                        <a:t>代际原生</a:t>
                      </a:r>
                      <a:r>
                        <a:rPr lang="en-US" altLang="zh-CN" sz="1000" dirty="0">
                          <a:solidFill>
                            <a:srgbClr val="000000"/>
                          </a:solidFill>
                          <a:effectLst/>
                          <a:latin typeface="微软雅黑" charset="0"/>
                          <a:ea typeface="微软雅黑" charset="0"/>
                          <a:cs typeface="微软雅黑" charset="0"/>
                          <a:sym typeface="+mn-ea"/>
                        </a:rPr>
                        <a:t>MXFP4</a:t>
                      </a:r>
                      <a:r>
                        <a:rPr lang="zh-CN" altLang="en-US" sz="1000" dirty="0">
                          <a:solidFill>
                            <a:srgbClr val="000000"/>
                          </a:solidFill>
                          <a:effectLst/>
                          <a:latin typeface="微软雅黑" charset="0"/>
                          <a:ea typeface="微软雅黑" charset="0"/>
                          <a:cs typeface="微软雅黑" charset="0"/>
                          <a:sym typeface="+mn-ea"/>
                        </a:rPr>
                        <a:t>，免去从</a:t>
                      </a:r>
                      <a:r>
                        <a:rPr lang="en-US" altLang="zh-CN" sz="1000" dirty="0">
                          <a:solidFill>
                            <a:srgbClr val="000000"/>
                          </a:solidFill>
                          <a:effectLst/>
                          <a:latin typeface="微软雅黑" charset="0"/>
                          <a:ea typeface="微软雅黑" charset="0"/>
                          <a:cs typeface="微软雅黑" charset="0"/>
                          <a:sym typeface="+mn-ea"/>
                        </a:rPr>
                        <a:t>FP4/FP8</a:t>
                      </a:r>
                      <a:r>
                        <a:rPr lang="zh-CN" altLang="en-US" sz="1000" dirty="0">
                          <a:solidFill>
                            <a:srgbClr val="000000"/>
                          </a:solidFill>
                          <a:effectLst/>
                          <a:latin typeface="微软雅黑" charset="0"/>
                          <a:ea typeface="微软雅黑" charset="0"/>
                          <a:cs typeface="微软雅黑" charset="0"/>
                          <a:sym typeface="+mn-ea"/>
                        </a:rPr>
                        <a:t>到浮点的反量化及</a:t>
                      </a:r>
                      <a:r>
                        <a:rPr lang="en-US" altLang="zh-CN" sz="1000" dirty="0">
                          <a:solidFill>
                            <a:srgbClr val="000000"/>
                          </a:solidFill>
                          <a:effectLst/>
                          <a:latin typeface="微软雅黑" charset="0"/>
                          <a:ea typeface="微软雅黑" charset="0"/>
                          <a:cs typeface="微软雅黑" charset="0"/>
                          <a:sym typeface="+mn-ea"/>
                        </a:rPr>
                        <a:t>int8</a:t>
                      </a:r>
                      <a:r>
                        <a:rPr lang="zh-CN" altLang="en-US" sz="1000" dirty="0">
                          <a:solidFill>
                            <a:srgbClr val="000000"/>
                          </a:solidFill>
                          <a:effectLst/>
                          <a:latin typeface="微软雅黑" charset="0"/>
                          <a:ea typeface="微软雅黑" charset="0"/>
                          <a:cs typeface="微软雅黑" charset="0"/>
                          <a:sym typeface="+mn-ea"/>
                        </a:rPr>
                        <a:t>的量化过程，极大缩减开箱权重准备时间</a:t>
                      </a:r>
                      <a:endParaRPr lang="en-US" altLang="zh-CN" sz="1000" b="0" i="0" u="none" strike="noStrike" dirty="0">
                        <a:solidFill>
                          <a:srgbClr val="000000"/>
                        </a:solidFill>
                        <a:effectLst/>
                        <a:latin typeface="微软雅黑" charset="0"/>
                        <a:ea typeface="微软雅黑" charset="0"/>
                        <a:cs typeface="微软雅黑" charset="0"/>
                        <a:sym typeface="+mn-ea"/>
                      </a:endParaRPr>
                    </a:p>
                  </a:txBody>
                  <a:tcPr marL="6348" marR="6348" marT="6348" marB="0" anchor="ctr">
                    <a:lnL w="3175" cap="flat" cmpd="sng" algn="ctr">
                      <a:solidFill>
                        <a:srgbClr val="1D1D1A"/>
                      </a:solidFill>
                      <a:prstDash val="solid"/>
                      <a:round/>
                      <a:headEnd type="none" w="med" len="med"/>
                      <a:tailEnd type="none" w="med" len="med"/>
                    </a:lnL>
                    <a:lnR w="3175" cap="flat" cmpd="sng" algn="ctr">
                      <a:solidFill>
                        <a:srgbClr val="1D1D1A"/>
                      </a:solidFill>
                      <a:prstDash val="solid"/>
                      <a:round/>
                      <a:headEnd type="none" w="med" len="med"/>
                      <a:tailEnd type="none" w="med" len="med"/>
                    </a:lnR>
                    <a:lnT w="3175" cap="flat" cmpd="sng" algn="ctr">
                      <a:solidFill>
                        <a:srgbClr val="1D1D1A"/>
                      </a:solidFill>
                      <a:prstDash val="solid"/>
                      <a:round/>
                      <a:headEnd type="none" w="med" len="med"/>
                      <a:tailEnd type="none" w="med" len="med"/>
                    </a:lnT>
                    <a:lnB w="3175" cap="flat" cmpd="sng" algn="ctr">
                      <a:solidFill>
                        <a:srgbClr val="1D1D1A"/>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l" defTabSz="913130" rtl="0" hangingPunct="0">
                        <a:lnSpc>
                          <a:spcPct val="120000"/>
                        </a:lnSpc>
                        <a:defRPr/>
                      </a:pPr>
                      <a:r>
                        <a:rPr lang="zh-CN" altLang="en-US" sz="1000" kern="0" noProof="0" dirty="0">
                          <a:ln>
                            <a:noFill/>
                          </a:ln>
                          <a:solidFill>
                            <a:prstClr val="black"/>
                          </a:solidFill>
                          <a:effectLst/>
                          <a:uLnTx/>
                          <a:uFillTx/>
                          <a:latin typeface="微软雅黑" charset="0"/>
                          <a:ea typeface="微软雅黑" charset="0"/>
                          <a:cs typeface="微软雅黑" charset="0"/>
                        </a:rPr>
                        <a:t>【优先级中】针对大尺寸及新结构模型，工具开发及量化权重耗时4天；</a:t>
                      </a:r>
                    </a:p>
                    <a:p>
                      <a:pPr algn="l" defTabSz="913130" rtl="0" hangingPunct="0">
                        <a:lnSpc>
                          <a:spcPct val="120000"/>
                        </a:lnSpc>
                        <a:defRPr/>
                      </a:pPr>
                      <a:r>
                        <a:rPr lang="zh-CN" altLang="en-US" sz="1000" b="1" kern="0" noProof="0" dirty="0">
                          <a:ln>
                            <a:noFill/>
                          </a:ln>
                          <a:solidFill>
                            <a:srgbClr val="C00000"/>
                          </a:solidFill>
                          <a:effectLst/>
                          <a:uLnTx/>
                          <a:uFillTx/>
                          <a:latin typeface="微软雅黑" charset="0"/>
                          <a:ea typeface="微软雅黑" charset="0"/>
                          <a:cs typeface="微软雅黑" charset="0"/>
                        </a:rPr>
                        <a:t>应对措施：</a:t>
                      </a:r>
                      <a:r>
                        <a:rPr lang="zh-CN" altLang="en-US" sz="1000" kern="0" noProof="0" dirty="0">
                          <a:ln>
                            <a:noFill/>
                          </a:ln>
                          <a:solidFill>
                            <a:prstClr val="black"/>
                          </a:solidFill>
                          <a:effectLst/>
                          <a:uLnTx/>
                          <a:uFillTx/>
                          <a:latin typeface="微软雅黑" charset="0"/>
                          <a:ea typeface="微软雅黑" charset="0"/>
                          <a:cs typeface="微软雅黑" charset="0"/>
                        </a:rPr>
                        <a:t>提前规划量化工具，比如支持并行等量化</a:t>
                      </a:r>
                    </a:p>
                  </a:txBody>
                  <a:tcPr marL="6348" marR="6348" marT="6348" marB="0" anchor="ctr">
                    <a:lnL w="3175" cap="flat" cmpd="sng" algn="ctr">
                      <a:solidFill>
                        <a:srgbClr val="1D1D1A"/>
                      </a:solidFill>
                      <a:prstDash val="solid"/>
                      <a:round/>
                      <a:headEnd type="none" w="med" len="med"/>
                      <a:tailEnd type="none" w="med" len="med"/>
                    </a:lnL>
                    <a:lnR w="3175" cap="flat" cmpd="sng" algn="ctr">
                      <a:solidFill>
                        <a:srgbClr val="1D1D1A"/>
                      </a:solidFill>
                      <a:prstDash val="solid"/>
                      <a:round/>
                      <a:headEnd type="none" w="med" len="med"/>
                      <a:tailEnd type="none" w="med" len="med"/>
                    </a:lnR>
                    <a:lnT w="3175" cap="flat" cmpd="sng" algn="ctr">
                      <a:solidFill>
                        <a:srgbClr val="1D1D1A"/>
                      </a:solidFill>
                      <a:prstDash val="solid"/>
                      <a:round/>
                      <a:headEnd type="none" w="med" len="med"/>
                      <a:tailEnd type="none" w="med" len="med"/>
                    </a:lnT>
                    <a:lnB w="3175" cap="flat" cmpd="sng" algn="ctr">
                      <a:solidFill>
                        <a:srgbClr val="1D1D1A"/>
                      </a:solid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0002"/>
                  </a:ext>
                </a:extLst>
              </a:tr>
              <a:tr h="564515">
                <a:tc>
                  <a:txBody>
                    <a:bodyPr/>
                    <a:lstStyle/>
                    <a:p>
                      <a:pPr algn="ctr" rtl="0" fontAlgn="ctr"/>
                      <a:r>
                        <a:rPr lang="zh-CN" altLang="en-US" sz="1100" b="1" i="0" u="none" strike="noStrike" dirty="0">
                          <a:solidFill>
                            <a:srgbClr val="1D1D1A"/>
                          </a:solidFill>
                          <a:effectLst/>
                          <a:latin typeface="微软雅黑" charset="0"/>
                          <a:ea typeface="微软雅黑" charset="0"/>
                          <a:cs typeface="微软雅黑" charset="0"/>
                        </a:rPr>
                        <a:t>功能打通</a:t>
                      </a:r>
                      <a:endParaRPr lang="en-US" sz="1100" b="1" i="0" u="none" strike="noStrike" dirty="0">
                        <a:solidFill>
                          <a:srgbClr val="1D1D1A"/>
                        </a:solidFill>
                        <a:effectLst/>
                        <a:latin typeface="微软雅黑" charset="0"/>
                        <a:ea typeface="微软雅黑" charset="0"/>
                        <a:cs typeface="微软雅黑" charset="0"/>
                      </a:endParaRPr>
                    </a:p>
                  </a:txBody>
                  <a:tcPr marL="6348" marR="6348" marT="6348" marB="0" anchor="ctr">
                    <a:lnL w="3175" cap="flat" cmpd="sng" algn="ctr">
                      <a:solidFill>
                        <a:srgbClr val="1D1D1A"/>
                      </a:solidFill>
                      <a:prstDash val="solid"/>
                      <a:round/>
                      <a:headEnd type="none" w="med" len="med"/>
                      <a:tailEnd type="none" w="med" len="med"/>
                    </a:lnL>
                    <a:lnR w="3175" cap="flat" cmpd="sng" algn="ctr">
                      <a:solidFill>
                        <a:srgbClr val="1D1D1A"/>
                      </a:solidFill>
                      <a:prstDash val="solid"/>
                      <a:round/>
                      <a:headEnd type="none" w="med" len="med"/>
                      <a:tailEnd type="none" w="med" len="med"/>
                    </a:lnR>
                    <a:lnT w="3175" cap="flat" cmpd="sng" algn="ctr">
                      <a:solidFill>
                        <a:srgbClr val="1D1D1A"/>
                      </a:solidFill>
                      <a:prstDash val="solid"/>
                      <a:round/>
                      <a:headEnd type="none" w="med" len="med"/>
                      <a:tailEnd type="none" w="med" len="med"/>
                    </a:lnT>
                    <a:lnB w="3175" cap="flat" cmpd="sng" algn="ctr">
                      <a:solidFill>
                        <a:srgbClr val="1D1D1A"/>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rtl="0" fontAlgn="ctr"/>
                      <a:r>
                        <a:rPr lang="zh-CN" altLang="en-US" sz="1100" b="0" i="0" u="none" strike="noStrike" dirty="0">
                          <a:solidFill>
                            <a:srgbClr val="1D1D1A"/>
                          </a:solidFill>
                          <a:effectLst/>
                          <a:latin typeface="微软雅黑" charset="0"/>
                          <a:ea typeface="微软雅黑" charset="0"/>
                          <a:cs typeface="微软雅黑" charset="0"/>
                        </a:rPr>
                        <a:t>周期</a:t>
                      </a:r>
                      <a:r>
                        <a:rPr lang="en-US" altLang="zh-CN" sz="1100" b="0" i="0" u="none" strike="noStrike" dirty="0">
                          <a:solidFill>
                            <a:srgbClr val="1D1D1A"/>
                          </a:solidFill>
                          <a:effectLst/>
                          <a:latin typeface="微软雅黑" charset="0"/>
                          <a:ea typeface="微软雅黑" charset="0"/>
                          <a:cs typeface="微软雅黑" charset="0"/>
                        </a:rPr>
                        <a:t>15</a:t>
                      </a:r>
                      <a:r>
                        <a:rPr lang="zh-CN" altLang="en-US" sz="1100" b="0" i="0" u="none" strike="noStrike" dirty="0">
                          <a:solidFill>
                            <a:srgbClr val="1D1D1A"/>
                          </a:solidFill>
                          <a:effectLst/>
                          <a:latin typeface="微软雅黑" charset="0"/>
                          <a:ea typeface="微软雅黑" charset="0"/>
                          <a:cs typeface="微软雅黑" charset="0"/>
                        </a:rPr>
                        <a:t>天</a:t>
                      </a:r>
                    </a:p>
                  </a:txBody>
                  <a:tcPr marL="6348" marR="6348" marT="6348" marB="0" anchor="ctr">
                    <a:lnL w="3175" cap="flat" cmpd="sng" algn="ctr">
                      <a:solidFill>
                        <a:srgbClr val="1D1D1A"/>
                      </a:solidFill>
                      <a:prstDash val="solid"/>
                      <a:round/>
                      <a:headEnd type="none" w="med" len="med"/>
                      <a:tailEnd type="none" w="med" len="med"/>
                    </a:lnL>
                    <a:lnR w="3175" cap="flat" cmpd="sng" algn="ctr">
                      <a:solidFill>
                        <a:srgbClr val="1D1D1A"/>
                      </a:solidFill>
                      <a:prstDash val="solid"/>
                      <a:round/>
                      <a:headEnd type="none" w="med" len="med"/>
                      <a:tailEnd type="none" w="med" len="med"/>
                    </a:lnR>
                    <a:lnT w="3175" cap="flat" cmpd="sng" algn="ctr">
                      <a:solidFill>
                        <a:srgbClr val="1D1D1A"/>
                      </a:solidFill>
                      <a:prstDash val="solid"/>
                      <a:round/>
                      <a:headEnd type="none" w="med" len="med"/>
                      <a:tailEnd type="none" w="med" len="med"/>
                    </a:lnT>
                    <a:lnB w="3175" cap="flat" cmpd="sng" algn="ctr">
                      <a:solidFill>
                        <a:srgbClr val="1D1D1A"/>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rtl="0" fontAlgn="ctr"/>
                      <a:r>
                        <a:rPr lang="zh-CN" altLang="en-US" sz="1000" b="0" i="0" u="none" strike="noStrike" dirty="0">
                          <a:solidFill>
                            <a:srgbClr val="C00000"/>
                          </a:solidFill>
                          <a:effectLst/>
                          <a:latin typeface="微软雅黑" charset="0"/>
                          <a:ea typeface="微软雅黑" charset="0"/>
                          <a:cs typeface="微软雅黑" charset="0"/>
                        </a:rPr>
                        <a:t>周期</a:t>
                      </a:r>
                      <a:r>
                        <a:rPr lang="en-US" altLang="zh-CN" sz="1000" b="0" i="0" u="none" strike="noStrike" dirty="0">
                          <a:solidFill>
                            <a:srgbClr val="C00000"/>
                          </a:solidFill>
                          <a:effectLst/>
                          <a:latin typeface="微软雅黑" charset="0"/>
                          <a:ea typeface="微软雅黑" charset="0"/>
                          <a:cs typeface="微软雅黑" charset="0"/>
                        </a:rPr>
                        <a:t>12</a:t>
                      </a:r>
                      <a:r>
                        <a:rPr lang="zh-CN" altLang="en-US" sz="1000" b="0" i="0" u="none" strike="noStrike" dirty="0">
                          <a:solidFill>
                            <a:srgbClr val="C00000"/>
                          </a:solidFill>
                          <a:effectLst/>
                          <a:latin typeface="微软雅黑" charset="0"/>
                          <a:ea typeface="微软雅黑" charset="0"/>
                          <a:cs typeface="微软雅黑" charset="0"/>
                        </a:rPr>
                        <a:t>天，其中</a:t>
                      </a:r>
                      <a:r>
                        <a:rPr lang="en-US" altLang="zh-CN" sz="1000" b="0" i="0" u="none" strike="noStrike" dirty="0" err="1">
                          <a:solidFill>
                            <a:srgbClr val="C00000"/>
                          </a:solidFill>
                          <a:effectLst/>
                          <a:latin typeface="微软雅黑" charset="0"/>
                          <a:ea typeface="微软雅黑" charset="0"/>
                          <a:cs typeface="微软雅黑" charset="0"/>
                        </a:rPr>
                        <a:t>kvcache</a:t>
                      </a:r>
                      <a:r>
                        <a:rPr lang="zh-CN" altLang="en-US" sz="1000" b="0" i="0" u="none" strike="noStrike" dirty="0">
                          <a:solidFill>
                            <a:srgbClr val="C00000"/>
                          </a:solidFill>
                          <a:effectLst/>
                          <a:latin typeface="微软雅黑" charset="0"/>
                          <a:ea typeface="微软雅黑" charset="0"/>
                          <a:cs typeface="微软雅黑" charset="0"/>
                        </a:rPr>
                        <a:t>开发</a:t>
                      </a:r>
                      <a:r>
                        <a:rPr lang="en-US" altLang="zh-CN" sz="1000" b="0" i="0" u="none" strike="noStrike" dirty="0">
                          <a:solidFill>
                            <a:srgbClr val="C00000"/>
                          </a:solidFill>
                          <a:effectLst/>
                          <a:latin typeface="微软雅黑" charset="0"/>
                          <a:ea typeface="微软雅黑" charset="0"/>
                          <a:cs typeface="微软雅黑" charset="0"/>
                        </a:rPr>
                        <a:t>7</a:t>
                      </a:r>
                      <a:r>
                        <a:rPr lang="zh-CN" altLang="en-US" sz="1000" b="0" i="0" u="none" strike="noStrike" dirty="0">
                          <a:solidFill>
                            <a:srgbClr val="C00000"/>
                          </a:solidFill>
                          <a:effectLst/>
                          <a:latin typeface="微软雅黑" charset="0"/>
                          <a:ea typeface="微软雅黑" charset="0"/>
                          <a:cs typeface="微软雅黑" charset="0"/>
                        </a:rPr>
                        <a:t>天</a:t>
                      </a:r>
                    </a:p>
                  </a:txBody>
                  <a:tcPr marL="6348" marR="6348" marT="6348" marB="0" anchor="ctr">
                    <a:lnL w="3175" cap="flat" cmpd="sng" algn="ctr">
                      <a:solidFill>
                        <a:srgbClr val="1D1D1A"/>
                      </a:solidFill>
                      <a:prstDash val="solid"/>
                      <a:round/>
                      <a:headEnd type="none" w="med" len="med"/>
                      <a:tailEnd type="none" w="med" len="med"/>
                    </a:lnL>
                    <a:lnR w="3175" cap="flat" cmpd="sng" algn="ctr">
                      <a:solidFill>
                        <a:srgbClr val="1D1D1A"/>
                      </a:solidFill>
                      <a:prstDash val="solid"/>
                      <a:round/>
                      <a:headEnd type="none" w="med" len="med"/>
                      <a:tailEnd type="none" w="med" len="med"/>
                    </a:lnR>
                    <a:lnT w="3175" cap="flat" cmpd="sng" algn="ctr">
                      <a:solidFill>
                        <a:srgbClr val="1D1D1A"/>
                      </a:solidFill>
                      <a:prstDash val="solid"/>
                      <a:round/>
                      <a:headEnd type="none" w="med" len="med"/>
                      <a:tailEnd type="none" w="med" len="med"/>
                    </a:lnT>
                    <a:lnB w="3175" cap="flat" cmpd="sng" algn="ctr">
                      <a:solidFill>
                        <a:srgbClr val="1D1D1A"/>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indent="0" algn="l" defTabSz="913130" rtl="0" hangingPunct="0">
                        <a:lnSpc>
                          <a:spcPct val="120000"/>
                        </a:lnSpc>
                        <a:buNone/>
                        <a:defRPr/>
                      </a:pPr>
                      <a:r>
                        <a:rPr lang="zh-CN" altLang="en-US" sz="1000" b="1" kern="0" noProof="0" dirty="0">
                          <a:ln>
                            <a:noFill/>
                          </a:ln>
                          <a:solidFill>
                            <a:srgbClr val="00B050"/>
                          </a:solidFill>
                          <a:uLnTx/>
                          <a:uFillTx/>
                          <a:latin typeface="微软雅黑" charset="0"/>
                          <a:ea typeface="微软雅黑" charset="0"/>
                          <a:cs typeface="微软雅黑" charset="0"/>
                        </a:rPr>
                        <a:t>√ 社区技术影响力：</a:t>
                      </a:r>
                      <a:r>
                        <a:rPr lang="zh-CN" altLang="en-US" sz="1000" kern="0" noProof="0" dirty="0">
                          <a:ln>
                            <a:noFill/>
                          </a:ln>
                          <a:solidFill>
                            <a:prstClr val="black"/>
                          </a:solidFill>
                          <a:uLnTx/>
                          <a:uFillTx/>
                          <a:latin typeface="微软雅黑" charset="0"/>
                          <a:ea typeface="微软雅黑" charset="0"/>
                          <a:cs typeface="微软雅黑" charset="0"/>
                        </a:rPr>
                        <a:t>DS V4对vllm社区的KVCache特性带来巨大挑战，昇腾在vLLM社区关键贡献得到vLLM社区认可，在满足安全的前提下，与社区首发共建KVCache管理优化等，改变前期被动追随适配的问题</a:t>
                      </a:r>
                    </a:p>
                  </a:txBody>
                  <a:tcPr marL="6348" marR="6348" marT="6348" marB="0" anchor="ctr">
                    <a:lnL w="3175" cap="flat" cmpd="sng" algn="ctr">
                      <a:solidFill>
                        <a:srgbClr val="1D1D1A"/>
                      </a:solidFill>
                      <a:prstDash val="solid"/>
                      <a:round/>
                      <a:headEnd type="none" w="med" len="med"/>
                      <a:tailEnd type="none" w="med" len="med"/>
                    </a:lnL>
                    <a:lnR w="3175" cap="flat" cmpd="sng" algn="ctr">
                      <a:solidFill>
                        <a:srgbClr val="1D1D1A"/>
                      </a:solidFill>
                      <a:prstDash val="solid"/>
                      <a:round/>
                      <a:headEnd type="none" w="med" len="med"/>
                      <a:tailEnd type="none" w="med" len="med"/>
                    </a:lnR>
                    <a:lnT w="3175" cap="flat" cmpd="sng" algn="ctr">
                      <a:solidFill>
                        <a:srgbClr val="1D1D1A"/>
                      </a:solidFill>
                      <a:prstDash val="solid"/>
                      <a:round/>
                      <a:headEnd type="none" w="med" len="med"/>
                      <a:tailEnd type="none" w="med" len="med"/>
                    </a:lnT>
                    <a:lnB w="3175" cap="flat" cmpd="sng" algn="ctr">
                      <a:solidFill>
                        <a:srgbClr val="1D1D1A"/>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rtl="0" fontAlgn="ctr">
                        <a:buNone/>
                      </a:pPr>
                      <a:endParaRPr lang="zh-CN" altLang="en-US" sz="1000" b="0" i="0" u="none" strike="noStrike" dirty="0">
                        <a:solidFill>
                          <a:srgbClr val="C00000"/>
                        </a:solidFill>
                        <a:effectLst/>
                        <a:latin typeface="微软雅黑" charset="0"/>
                        <a:ea typeface="微软雅黑" charset="0"/>
                        <a:cs typeface="微软雅黑" charset="0"/>
                      </a:endParaRPr>
                    </a:p>
                  </a:txBody>
                  <a:tcPr marL="6348" marR="6348" marT="6348" marB="0" anchor="ctr">
                    <a:lnL w="3175" cap="flat" cmpd="sng" algn="ctr">
                      <a:solidFill>
                        <a:srgbClr val="1D1D1A"/>
                      </a:solidFill>
                      <a:prstDash val="solid"/>
                      <a:round/>
                      <a:headEnd type="none" w="med" len="med"/>
                      <a:tailEnd type="none" w="med" len="med"/>
                    </a:lnL>
                    <a:lnR w="3175" cap="flat" cmpd="sng" algn="ctr">
                      <a:solidFill>
                        <a:srgbClr val="1D1D1A"/>
                      </a:solidFill>
                      <a:prstDash val="solid"/>
                      <a:round/>
                      <a:headEnd type="none" w="med" len="med"/>
                      <a:tailEnd type="none" w="med" len="med"/>
                    </a:lnR>
                    <a:lnT w="3175" cap="flat" cmpd="sng" algn="ctr">
                      <a:solidFill>
                        <a:srgbClr val="1D1D1A"/>
                      </a:solidFill>
                      <a:prstDash val="solid"/>
                      <a:round/>
                      <a:headEnd type="none" w="med" len="med"/>
                      <a:tailEnd type="none" w="med" len="med"/>
                    </a:lnT>
                    <a:lnB w="3175" cap="flat" cmpd="sng" algn="ctr">
                      <a:solidFill>
                        <a:srgbClr val="1D1D1A"/>
                      </a:solid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0003"/>
                  </a:ext>
                </a:extLst>
              </a:tr>
              <a:tr h="615950">
                <a:tc>
                  <a:txBody>
                    <a:bodyPr/>
                    <a:lstStyle/>
                    <a:p>
                      <a:pPr algn="ctr" rtl="0" fontAlgn="ctr"/>
                      <a:r>
                        <a:rPr lang="zh-CN" altLang="en-US" sz="1100" b="1" i="0" u="none" strike="noStrike" dirty="0">
                          <a:solidFill>
                            <a:srgbClr val="1D1D1A"/>
                          </a:solidFill>
                          <a:effectLst/>
                          <a:latin typeface="微软雅黑" charset="0"/>
                          <a:ea typeface="微软雅黑" charset="0"/>
                          <a:cs typeface="微软雅黑" charset="0"/>
                        </a:rPr>
                        <a:t>精度对齐</a:t>
                      </a:r>
                      <a:endParaRPr lang="en-US" sz="1100" b="1" i="0" u="none" strike="noStrike" dirty="0">
                        <a:solidFill>
                          <a:srgbClr val="1D1D1A"/>
                        </a:solidFill>
                        <a:effectLst/>
                        <a:latin typeface="微软雅黑" charset="0"/>
                        <a:ea typeface="微软雅黑" charset="0"/>
                        <a:cs typeface="微软雅黑" charset="0"/>
                      </a:endParaRPr>
                    </a:p>
                  </a:txBody>
                  <a:tcPr marL="6348" marR="6348" marT="6348" marB="0" anchor="ctr">
                    <a:lnL w="3175" cap="flat" cmpd="sng" algn="ctr">
                      <a:solidFill>
                        <a:srgbClr val="1D1D1A"/>
                      </a:solidFill>
                      <a:prstDash val="solid"/>
                      <a:round/>
                      <a:headEnd type="none" w="med" len="med"/>
                      <a:tailEnd type="none" w="med" len="med"/>
                    </a:lnL>
                    <a:lnR w="3175" cap="flat" cmpd="sng" algn="ctr">
                      <a:solidFill>
                        <a:srgbClr val="1D1D1A"/>
                      </a:solidFill>
                      <a:prstDash val="solid"/>
                      <a:round/>
                      <a:headEnd type="none" w="med" len="med"/>
                      <a:tailEnd type="none" w="med" len="med"/>
                    </a:lnR>
                    <a:lnT w="3175" cap="flat" cmpd="sng" algn="ctr">
                      <a:solidFill>
                        <a:srgbClr val="1D1D1A"/>
                      </a:solidFill>
                      <a:prstDash val="solid"/>
                      <a:round/>
                      <a:headEnd type="none" w="med" len="med"/>
                      <a:tailEnd type="none" w="med" len="med"/>
                    </a:lnT>
                    <a:lnB w="3175" cap="flat" cmpd="sng" algn="ctr">
                      <a:solidFill>
                        <a:srgbClr val="1D1D1A"/>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rtl="0" fontAlgn="ctr"/>
                      <a:r>
                        <a:rPr lang="zh-CN" altLang="en-US" sz="1100" b="0" i="0" u="none" strike="noStrike" dirty="0">
                          <a:solidFill>
                            <a:srgbClr val="1D1D1A"/>
                          </a:solidFill>
                          <a:effectLst/>
                          <a:latin typeface="微软雅黑" charset="0"/>
                          <a:ea typeface="微软雅黑" charset="0"/>
                          <a:cs typeface="微软雅黑" charset="0"/>
                        </a:rPr>
                        <a:t>周期</a:t>
                      </a:r>
                      <a:r>
                        <a:rPr lang="en-US" altLang="zh-CN" sz="1100" b="0" i="0" u="none" strike="noStrike" dirty="0">
                          <a:solidFill>
                            <a:srgbClr val="1D1D1A"/>
                          </a:solidFill>
                          <a:effectLst/>
                          <a:latin typeface="微软雅黑" charset="0"/>
                          <a:ea typeface="微软雅黑" charset="0"/>
                          <a:cs typeface="微软雅黑" charset="0"/>
                        </a:rPr>
                        <a:t>12</a:t>
                      </a:r>
                      <a:r>
                        <a:rPr lang="zh-CN" altLang="en-US" sz="1100" b="0" i="0" u="none" strike="noStrike" dirty="0">
                          <a:solidFill>
                            <a:srgbClr val="1D1D1A"/>
                          </a:solidFill>
                          <a:effectLst/>
                          <a:latin typeface="微软雅黑" charset="0"/>
                          <a:ea typeface="微软雅黑" charset="0"/>
                          <a:cs typeface="微软雅黑" charset="0"/>
                        </a:rPr>
                        <a:t>天</a:t>
                      </a:r>
                    </a:p>
                  </a:txBody>
                  <a:tcPr marL="6348" marR="6348" marT="6348" marB="0" anchor="ctr">
                    <a:lnL w="3175" cap="flat" cmpd="sng" algn="ctr">
                      <a:solidFill>
                        <a:srgbClr val="1D1D1A"/>
                      </a:solidFill>
                      <a:prstDash val="solid"/>
                      <a:round/>
                      <a:headEnd type="none" w="med" len="med"/>
                      <a:tailEnd type="none" w="med" len="med"/>
                    </a:lnL>
                    <a:lnR w="3175" cap="flat" cmpd="sng" algn="ctr">
                      <a:solidFill>
                        <a:srgbClr val="1D1D1A"/>
                      </a:solidFill>
                      <a:prstDash val="solid"/>
                      <a:round/>
                      <a:headEnd type="none" w="med" len="med"/>
                      <a:tailEnd type="none" w="med" len="med"/>
                    </a:lnR>
                    <a:lnT w="3175" cap="flat" cmpd="sng" algn="ctr">
                      <a:solidFill>
                        <a:srgbClr val="1D1D1A"/>
                      </a:solidFill>
                      <a:prstDash val="solid"/>
                      <a:round/>
                      <a:headEnd type="none" w="med" len="med"/>
                      <a:tailEnd type="none" w="med" len="med"/>
                    </a:lnT>
                    <a:lnB w="3175" cap="flat" cmpd="sng" algn="ctr">
                      <a:solidFill>
                        <a:srgbClr val="1D1D1A"/>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rtl="0" fontAlgn="ctr"/>
                      <a:r>
                        <a:rPr lang="zh-CN" altLang="en-US" sz="1000" b="0" i="0" u="none" strike="noStrike" dirty="0">
                          <a:solidFill>
                            <a:srgbClr val="C00000"/>
                          </a:solidFill>
                          <a:effectLst/>
                          <a:latin typeface="微软雅黑" charset="0"/>
                          <a:ea typeface="微软雅黑" charset="0"/>
                          <a:cs typeface="微软雅黑" charset="0"/>
                        </a:rPr>
                        <a:t>周期</a:t>
                      </a:r>
                      <a:r>
                        <a:rPr lang="en-US" altLang="zh-CN" sz="1000" b="0" i="0" u="none" strike="noStrike" dirty="0">
                          <a:solidFill>
                            <a:srgbClr val="C00000"/>
                          </a:solidFill>
                          <a:effectLst/>
                          <a:latin typeface="微软雅黑" charset="0"/>
                          <a:ea typeface="微软雅黑" charset="0"/>
                          <a:cs typeface="微软雅黑" charset="0"/>
                        </a:rPr>
                        <a:t>4</a:t>
                      </a:r>
                      <a:r>
                        <a:rPr lang="zh-CN" altLang="en-US" sz="1000" b="0" i="0" u="none" strike="noStrike" dirty="0">
                          <a:solidFill>
                            <a:srgbClr val="C00000"/>
                          </a:solidFill>
                          <a:effectLst/>
                          <a:latin typeface="微软雅黑" charset="0"/>
                          <a:ea typeface="微软雅黑" charset="0"/>
                          <a:cs typeface="微软雅黑" charset="0"/>
                        </a:rPr>
                        <a:t>天</a:t>
                      </a:r>
                    </a:p>
                  </a:txBody>
                  <a:tcPr marL="6348" marR="6348" marT="6348" marB="0" anchor="ctr">
                    <a:lnL w="3175" cap="flat" cmpd="sng" algn="ctr">
                      <a:solidFill>
                        <a:srgbClr val="1D1D1A"/>
                      </a:solidFill>
                      <a:prstDash val="solid"/>
                      <a:round/>
                      <a:headEnd type="none" w="med" len="med"/>
                      <a:tailEnd type="none" w="med" len="med"/>
                    </a:lnL>
                    <a:lnR w="3175" cap="flat" cmpd="sng" algn="ctr">
                      <a:solidFill>
                        <a:srgbClr val="1D1D1A"/>
                      </a:solidFill>
                      <a:prstDash val="solid"/>
                      <a:round/>
                      <a:headEnd type="none" w="med" len="med"/>
                      <a:tailEnd type="none" w="med" len="med"/>
                    </a:lnR>
                    <a:lnT w="3175" cap="flat" cmpd="sng" algn="ctr">
                      <a:solidFill>
                        <a:srgbClr val="1D1D1A"/>
                      </a:solidFill>
                      <a:prstDash val="solid"/>
                      <a:round/>
                      <a:headEnd type="none" w="med" len="med"/>
                      <a:tailEnd type="none" w="med" len="med"/>
                    </a:lnT>
                    <a:lnB w="3175" cap="flat" cmpd="sng" algn="ctr">
                      <a:solidFill>
                        <a:srgbClr val="1D1D1A"/>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l" rtl="0" fontAlgn="ctr">
                        <a:buNone/>
                      </a:pPr>
                      <a:r>
                        <a:rPr lang="zh-CN" altLang="en-US" sz="1000" b="1" kern="0" noProof="0" dirty="0">
                          <a:ln>
                            <a:noFill/>
                          </a:ln>
                          <a:solidFill>
                            <a:srgbClr val="00B050"/>
                          </a:solidFill>
                          <a:uLnTx/>
                          <a:uFillTx/>
                          <a:latin typeface="微软雅黑" charset="0"/>
                          <a:ea typeface="微软雅黑" charset="0"/>
                          <a:cs typeface="微软雅黑" charset="0"/>
                        </a:rPr>
                        <a:t>√ 善用</a:t>
                      </a:r>
                      <a:r>
                        <a:rPr lang="en-US" altLang="zh-CN" sz="1000" b="1" kern="0" noProof="0" dirty="0">
                          <a:ln>
                            <a:noFill/>
                          </a:ln>
                          <a:solidFill>
                            <a:srgbClr val="00B050"/>
                          </a:solidFill>
                          <a:uLnTx/>
                          <a:uFillTx/>
                          <a:latin typeface="微软雅黑" charset="0"/>
                          <a:ea typeface="微软雅黑" charset="0"/>
                          <a:cs typeface="微软雅黑" charset="0"/>
                        </a:rPr>
                        <a:t>Agent</a:t>
                      </a:r>
                      <a:r>
                        <a:rPr lang="zh-CN" altLang="en-US" sz="1000" b="1" kern="0" noProof="0" dirty="0">
                          <a:ln>
                            <a:noFill/>
                          </a:ln>
                          <a:solidFill>
                            <a:srgbClr val="00B050"/>
                          </a:solidFill>
                          <a:uLnTx/>
                          <a:uFillTx/>
                          <a:latin typeface="微软雅黑" charset="0"/>
                          <a:ea typeface="微软雅黑" charset="0"/>
                          <a:cs typeface="微软雅黑" charset="0"/>
                        </a:rPr>
                        <a:t>加速问题定位：</a:t>
                      </a:r>
                      <a:r>
                        <a:rPr lang="zh-CN" altLang="en-US" sz="1000" b="0" kern="0" noProof="0" dirty="0">
                          <a:ln>
                            <a:noFill/>
                          </a:ln>
                          <a:solidFill>
                            <a:prstClr val="black"/>
                          </a:solidFill>
                          <a:uLnTx/>
                          <a:uFillTx/>
                          <a:latin typeface="微软雅黑" charset="0"/>
                          <a:ea typeface="微软雅黑" charset="0"/>
                          <a:cs typeface="微软雅黑" charset="0"/>
                        </a:rPr>
                        <a:t>通过</a:t>
                      </a:r>
                      <a:r>
                        <a:rPr lang="en-US" altLang="zh-CN" sz="1000" b="0" kern="0" noProof="0" dirty="0">
                          <a:ln>
                            <a:noFill/>
                          </a:ln>
                          <a:solidFill>
                            <a:prstClr val="black"/>
                          </a:solidFill>
                          <a:uLnTx/>
                          <a:uFillTx/>
                          <a:latin typeface="微软雅黑" charset="0"/>
                          <a:ea typeface="微软雅黑" charset="0"/>
                          <a:cs typeface="微软雅黑" charset="0"/>
                        </a:rPr>
                        <a:t>Agent</a:t>
                      </a:r>
                      <a:r>
                        <a:rPr lang="zh-CN" altLang="en-US" sz="1000" b="0" kern="0" noProof="0" dirty="0">
                          <a:ln>
                            <a:noFill/>
                          </a:ln>
                          <a:solidFill>
                            <a:prstClr val="black"/>
                          </a:solidFill>
                          <a:uLnTx/>
                          <a:uFillTx/>
                          <a:latin typeface="微软雅黑" charset="0"/>
                          <a:ea typeface="微软雅黑" charset="0"/>
                          <a:cs typeface="微软雅黑" charset="0"/>
                        </a:rPr>
                        <a:t>能力，快速定位到问题算子，极大缩减问题定位范围，极大提升问题解决效率</a:t>
                      </a:r>
                    </a:p>
                  </a:txBody>
                  <a:tcPr marL="6348" marR="6348" marT="6348" marB="0" anchor="ctr">
                    <a:lnL w="3175" cap="flat" cmpd="sng" algn="ctr">
                      <a:solidFill>
                        <a:srgbClr val="1D1D1A"/>
                      </a:solidFill>
                      <a:prstDash val="solid"/>
                      <a:round/>
                      <a:headEnd type="none" w="med" len="med"/>
                      <a:tailEnd type="none" w="med" len="med"/>
                    </a:lnL>
                    <a:lnR w="3175" cap="flat" cmpd="sng" algn="ctr">
                      <a:solidFill>
                        <a:srgbClr val="1D1D1A"/>
                      </a:solidFill>
                      <a:prstDash val="solid"/>
                      <a:round/>
                      <a:headEnd type="none" w="med" len="med"/>
                      <a:tailEnd type="none" w="med" len="med"/>
                    </a:lnR>
                    <a:lnT w="3175" cap="flat" cmpd="sng" algn="ctr">
                      <a:solidFill>
                        <a:srgbClr val="1D1D1A"/>
                      </a:solidFill>
                      <a:prstDash val="solid"/>
                      <a:round/>
                      <a:headEnd type="none" w="med" len="med"/>
                      <a:tailEnd type="none" w="med" len="med"/>
                    </a:lnT>
                    <a:lnB w="3175" cap="flat" cmpd="sng" algn="ctr">
                      <a:solidFill>
                        <a:srgbClr val="1D1D1A"/>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l" rtl="0" fontAlgn="ctr">
                        <a:buNone/>
                      </a:pPr>
                      <a:r>
                        <a:rPr lang="zh-CN" altLang="en-US" sz="1000" b="1" kern="0" noProof="0" dirty="0">
                          <a:ln>
                            <a:noFill/>
                          </a:ln>
                          <a:solidFill>
                            <a:prstClr val="black"/>
                          </a:solidFill>
                          <a:effectLst/>
                          <a:uLnTx/>
                          <a:uFillTx/>
                          <a:latin typeface="微软雅黑" charset="0"/>
                          <a:ea typeface="微软雅黑" charset="0"/>
                          <a:cs typeface="微软雅黑" charset="0"/>
                          <a:sym typeface="+mn-ea"/>
                        </a:rPr>
                        <a:t>【优先级高】</a:t>
                      </a:r>
                      <a:r>
                        <a:rPr lang="en-US" altLang="zh-CN" sz="1000" b="1" kern="0" noProof="0" dirty="0">
                          <a:ln>
                            <a:noFill/>
                          </a:ln>
                          <a:solidFill>
                            <a:prstClr val="black"/>
                          </a:solidFill>
                          <a:uLnTx/>
                          <a:uFillTx/>
                          <a:latin typeface="微软雅黑" charset="0"/>
                          <a:ea typeface="微软雅黑" charset="0"/>
                          <a:cs typeface="微软雅黑" charset="0"/>
                        </a:rPr>
                        <a:t>Agent</a:t>
                      </a:r>
                      <a:r>
                        <a:rPr lang="zh-CN" altLang="en-US" sz="1000" b="1" kern="0" noProof="0" dirty="0">
                          <a:ln>
                            <a:noFill/>
                          </a:ln>
                          <a:solidFill>
                            <a:prstClr val="black"/>
                          </a:solidFill>
                          <a:uLnTx/>
                          <a:uFillTx/>
                          <a:latin typeface="微软雅黑" charset="0"/>
                          <a:ea typeface="微软雅黑" charset="0"/>
                          <a:cs typeface="微软雅黑" charset="0"/>
                        </a:rPr>
                        <a:t>场景测评</a:t>
                      </a:r>
                      <a:r>
                        <a:rPr lang="zh-CN" altLang="en-US" sz="1000" kern="0" noProof="0" dirty="0">
                          <a:ln>
                            <a:noFill/>
                          </a:ln>
                          <a:solidFill>
                            <a:prstClr val="black"/>
                          </a:solidFill>
                          <a:uLnTx/>
                          <a:uFillTx/>
                          <a:latin typeface="微软雅黑" charset="0"/>
                          <a:ea typeface="微软雅黑" charset="0"/>
                          <a:cs typeface="微软雅黑" charset="0"/>
                        </a:rPr>
                        <a:t>：算子精度问题定界定位复杂，周期长，多伦对话及长上下文场景复现定位困难；</a:t>
                      </a:r>
                      <a:r>
                        <a:rPr lang="en-US" altLang="zh-CN" sz="1000" kern="0" noProof="0" dirty="0">
                          <a:ln>
                            <a:noFill/>
                          </a:ln>
                          <a:solidFill>
                            <a:prstClr val="black"/>
                          </a:solidFill>
                          <a:uLnTx/>
                          <a:uFillTx/>
                          <a:latin typeface="微软雅黑" charset="0"/>
                          <a:ea typeface="微软雅黑" charset="0"/>
                          <a:cs typeface="微软雅黑" charset="0"/>
                        </a:rPr>
                        <a:t>Agent</a:t>
                      </a:r>
                      <a:r>
                        <a:rPr lang="zh-CN" altLang="en-US" sz="1000" kern="0" noProof="0" dirty="0">
                          <a:ln>
                            <a:noFill/>
                          </a:ln>
                          <a:solidFill>
                            <a:prstClr val="black"/>
                          </a:solidFill>
                          <a:uLnTx/>
                          <a:uFillTx/>
                          <a:latin typeface="微软雅黑" charset="0"/>
                          <a:ea typeface="微软雅黑" charset="0"/>
                          <a:cs typeface="微软雅黑" charset="0"/>
                        </a:rPr>
                        <a:t>数据集评测周期长，</a:t>
                      </a:r>
                      <a:r>
                        <a:rPr lang="en-US" altLang="zh-CN" sz="1000" kern="0" noProof="0" dirty="0">
                          <a:ln>
                            <a:noFill/>
                          </a:ln>
                          <a:solidFill>
                            <a:prstClr val="black"/>
                          </a:solidFill>
                          <a:uLnTx/>
                          <a:uFillTx/>
                          <a:latin typeface="微软雅黑" charset="0"/>
                          <a:ea typeface="微软雅黑" charset="0"/>
                          <a:cs typeface="微软雅黑" charset="0"/>
                        </a:rPr>
                        <a:t>SWE mini</a:t>
                      </a:r>
                      <a:r>
                        <a:rPr lang="zh-CN" altLang="en-US" sz="1000" kern="0" noProof="0" dirty="0">
                          <a:ln>
                            <a:noFill/>
                          </a:ln>
                          <a:solidFill>
                            <a:prstClr val="black"/>
                          </a:solidFill>
                          <a:uLnTx/>
                          <a:uFillTx/>
                          <a:latin typeface="微软雅黑" charset="0"/>
                          <a:ea typeface="微软雅黑" charset="0"/>
                          <a:cs typeface="微软雅黑" charset="0"/>
                        </a:rPr>
                        <a:t>评测时间</a:t>
                      </a:r>
                      <a:r>
                        <a:rPr lang="en-US" altLang="zh-CN" sz="1000" kern="0" noProof="0" dirty="0">
                          <a:ln>
                            <a:noFill/>
                          </a:ln>
                          <a:solidFill>
                            <a:prstClr val="black"/>
                          </a:solidFill>
                          <a:uLnTx/>
                          <a:uFillTx/>
                          <a:latin typeface="微软雅黑" charset="0"/>
                          <a:ea typeface="微软雅黑" charset="0"/>
                          <a:cs typeface="微软雅黑" charset="0"/>
                        </a:rPr>
                        <a:t>10</a:t>
                      </a:r>
                      <a:r>
                        <a:rPr lang="zh-CN" altLang="en-US" sz="1000" kern="0" noProof="0" dirty="0">
                          <a:ln>
                            <a:noFill/>
                          </a:ln>
                          <a:solidFill>
                            <a:prstClr val="black"/>
                          </a:solidFill>
                          <a:uLnTx/>
                          <a:uFillTx/>
                          <a:latin typeface="微软雅黑" charset="0"/>
                          <a:ea typeface="微软雅黑" charset="0"/>
                          <a:cs typeface="微软雅黑" charset="0"/>
                        </a:rPr>
                        <a:t>+</a:t>
                      </a:r>
                      <a:r>
                        <a:rPr lang="en-US" altLang="zh-CN" sz="1000" kern="0" noProof="0" dirty="0">
                          <a:ln>
                            <a:noFill/>
                          </a:ln>
                          <a:solidFill>
                            <a:prstClr val="black"/>
                          </a:solidFill>
                          <a:uLnTx/>
                          <a:uFillTx/>
                          <a:latin typeface="微软雅黑" charset="0"/>
                          <a:ea typeface="微软雅黑" charset="0"/>
                          <a:cs typeface="微软雅黑" charset="0"/>
                        </a:rPr>
                        <a:t>h</a:t>
                      </a:r>
                      <a:endParaRPr lang="zh-CN" altLang="en-US" sz="1000" kern="0" noProof="0" dirty="0">
                        <a:ln>
                          <a:noFill/>
                        </a:ln>
                        <a:solidFill>
                          <a:prstClr val="black"/>
                        </a:solidFill>
                        <a:uLnTx/>
                        <a:uFillTx/>
                        <a:latin typeface="微软雅黑" charset="0"/>
                        <a:ea typeface="微软雅黑" charset="0"/>
                        <a:cs typeface="微软雅黑" charset="0"/>
                      </a:endParaRPr>
                    </a:p>
                    <a:p>
                      <a:pPr algn="l" rtl="0" fontAlgn="ctr">
                        <a:buNone/>
                      </a:pPr>
                      <a:r>
                        <a:rPr lang="zh-CN" altLang="en-US" sz="1000" b="1" kern="0" noProof="0" dirty="0">
                          <a:ln>
                            <a:noFill/>
                          </a:ln>
                          <a:solidFill>
                            <a:srgbClr val="C00000"/>
                          </a:solidFill>
                          <a:uLnTx/>
                          <a:uFillTx/>
                          <a:latin typeface="微软雅黑" charset="0"/>
                          <a:ea typeface="微软雅黑" charset="0"/>
                          <a:cs typeface="微软雅黑" charset="0"/>
                        </a:rPr>
                        <a:t>应对措施：</a:t>
                      </a:r>
                      <a:r>
                        <a:rPr lang="zh-CN" altLang="en-US" sz="1000" kern="0" noProof="0" dirty="0">
                          <a:ln>
                            <a:noFill/>
                          </a:ln>
                          <a:solidFill>
                            <a:prstClr val="black"/>
                          </a:solidFill>
                          <a:uLnTx/>
                          <a:uFillTx/>
                          <a:latin typeface="微软雅黑" charset="0"/>
                          <a:ea typeface="微软雅黑" charset="0"/>
                          <a:cs typeface="微软雅黑" charset="0"/>
                        </a:rPr>
                        <a:t>加强工具dump tensor能力及易用性，提升</a:t>
                      </a:r>
                      <a:r>
                        <a:rPr lang="en-US" altLang="zh-CN" sz="1000" kern="0" noProof="0" dirty="0">
                          <a:ln>
                            <a:noFill/>
                          </a:ln>
                          <a:solidFill>
                            <a:prstClr val="black"/>
                          </a:solidFill>
                          <a:uLnTx/>
                          <a:uFillTx/>
                          <a:latin typeface="微软雅黑" charset="0"/>
                          <a:ea typeface="微软雅黑" charset="0"/>
                          <a:cs typeface="微软雅黑" charset="0"/>
                        </a:rPr>
                        <a:t>Agent</a:t>
                      </a:r>
                      <a:r>
                        <a:rPr lang="zh-CN" altLang="en-US" sz="1000" kern="0" noProof="0" dirty="0">
                          <a:ln>
                            <a:noFill/>
                          </a:ln>
                          <a:solidFill>
                            <a:prstClr val="black"/>
                          </a:solidFill>
                          <a:uLnTx/>
                          <a:uFillTx/>
                          <a:latin typeface="微软雅黑" charset="0"/>
                          <a:ea typeface="微软雅黑" charset="0"/>
                          <a:cs typeface="微软雅黑" charset="0"/>
                        </a:rPr>
                        <a:t>测评工具效率</a:t>
                      </a:r>
                    </a:p>
                  </a:txBody>
                  <a:tcPr marL="6348" marR="6348" marT="6348" marB="0" anchor="ctr">
                    <a:lnL w="3175" cap="flat" cmpd="sng" algn="ctr">
                      <a:solidFill>
                        <a:srgbClr val="1D1D1A"/>
                      </a:solidFill>
                      <a:prstDash val="solid"/>
                      <a:round/>
                      <a:headEnd type="none" w="med" len="med"/>
                      <a:tailEnd type="none" w="med" len="med"/>
                    </a:lnL>
                    <a:lnR w="3175" cap="flat" cmpd="sng" algn="ctr">
                      <a:solidFill>
                        <a:srgbClr val="1D1D1A"/>
                      </a:solidFill>
                      <a:prstDash val="solid"/>
                      <a:round/>
                      <a:headEnd type="none" w="med" len="med"/>
                      <a:tailEnd type="none" w="med" len="med"/>
                    </a:lnR>
                    <a:lnT w="3175" cap="flat" cmpd="sng" algn="ctr">
                      <a:solidFill>
                        <a:srgbClr val="1D1D1A"/>
                      </a:solidFill>
                      <a:prstDash val="solid"/>
                      <a:round/>
                      <a:headEnd type="none" w="med" len="med"/>
                      <a:tailEnd type="none" w="med" len="med"/>
                    </a:lnT>
                    <a:lnB w="3175" cap="flat" cmpd="sng" algn="ctr">
                      <a:solidFill>
                        <a:srgbClr val="1D1D1A"/>
                      </a:solid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0004"/>
                  </a:ext>
                </a:extLst>
              </a:tr>
              <a:tr h="378460">
                <a:tc>
                  <a:txBody>
                    <a:bodyPr/>
                    <a:lstStyle/>
                    <a:p>
                      <a:pPr algn="ctr" rtl="0" fontAlgn="ctr"/>
                      <a:r>
                        <a:rPr lang="zh-CN" altLang="en-US" sz="1100" b="1" i="0" u="none" strike="noStrike" dirty="0">
                          <a:solidFill>
                            <a:srgbClr val="1D1D1A"/>
                          </a:solidFill>
                          <a:effectLst/>
                          <a:latin typeface="微软雅黑" charset="0"/>
                          <a:ea typeface="微软雅黑" charset="0"/>
                          <a:cs typeface="微软雅黑" charset="0"/>
                        </a:rPr>
                        <a:t>特性叠加</a:t>
                      </a:r>
                      <a:endParaRPr lang="en-US" sz="1100" b="1" i="0" u="none" strike="noStrike" dirty="0">
                        <a:solidFill>
                          <a:srgbClr val="1D1D1A"/>
                        </a:solidFill>
                        <a:effectLst/>
                        <a:latin typeface="微软雅黑" charset="0"/>
                        <a:ea typeface="微软雅黑" charset="0"/>
                        <a:cs typeface="微软雅黑" charset="0"/>
                      </a:endParaRPr>
                    </a:p>
                  </a:txBody>
                  <a:tcPr marL="6348" marR="6348" marT="6348" marB="0" anchor="ctr">
                    <a:lnL w="3175" cap="flat" cmpd="sng" algn="ctr">
                      <a:solidFill>
                        <a:srgbClr val="1D1D1A"/>
                      </a:solidFill>
                      <a:prstDash val="solid"/>
                      <a:round/>
                      <a:headEnd type="none" w="med" len="med"/>
                      <a:tailEnd type="none" w="med" len="med"/>
                    </a:lnL>
                    <a:lnR w="3175" cap="flat" cmpd="sng" algn="ctr">
                      <a:solidFill>
                        <a:srgbClr val="1D1D1A"/>
                      </a:solidFill>
                      <a:prstDash val="solid"/>
                      <a:round/>
                      <a:headEnd type="none" w="med" len="med"/>
                      <a:tailEnd type="none" w="med" len="med"/>
                    </a:lnR>
                    <a:lnT w="3175" cap="flat" cmpd="sng" algn="ctr">
                      <a:solidFill>
                        <a:srgbClr val="1D1D1A"/>
                      </a:solidFill>
                      <a:prstDash val="solid"/>
                      <a:round/>
                      <a:headEnd type="none" w="med" len="med"/>
                      <a:tailEnd type="none" w="med" len="med"/>
                    </a:lnT>
                    <a:lnB w="3175" cap="flat" cmpd="sng" algn="ctr">
                      <a:solidFill>
                        <a:srgbClr val="1D1D1A"/>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rtl="0" fontAlgn="ctr"/>
                      <a:r>
                        <a:rPr lang="zh-CN" altLang="en-US" sz="1100" b="1" i="0" u="none" strike="noStrike" dirty="0">
                          <a:solidFill>
                            <a:srgbClr val="1D1D1A"/>
                          </a:solidFill>
                          <a:effectLst/>
                          <a:latin typeface="微软雅黑" charset="0"/>
                          <a:ea typeface="微软雅黑" charset="0"/>
                          <a:cs typeface="微软雅黑" charset="0"/>
                        </a:rPr>
                        <a:t>周期</a:t>
                      </a:r>
                      <a:r>
                        <a:rPr lang="en-US" altLang="zh-CN" sz="1100" b="1" i="0" u="none" strike="noStrike" dirty="0">
                          <a:solidFill>
                            <a:srgbClr val="1D1D1A"/>
                          </a:solidFill>
                          <a:effectLst/>
                          <a:latin typeface="微软雅黑" charset="0"/>
                          <a:ea typeface="微软雅黑" charset="0"/>
                          <a:cs typeface="微软雅黑" charset="0"/>
                        </a:rPr>
                        <a:t>45</a:t>
                      </a:r>
                      <a:r>
                        <a:rPr lang="zh-CN" altLang="en-US" sz="1100" b="1" i="0" u="none" strike="noStrike" dirty="0">
                          <a:solidFill>
                            <a:srgbClr val="1D1D1A"/>
                          </a:solidFill>
                          <a:effectLst/>
                          <a:latin typeface="微软雅黑" charset="0"/>
                          <a:ea typeface="微软雅黑" charset="0"/>
                          <a:cs typeface="微软雅黑" charset="0"/>
                        </a:rPr>
                        <a:t>天</a:t>
                      </a:r>
                    </a:p>
                  </a:txBody>
                  <a:tcPr marL="6348" marR="6348" marT="6348" marB="0" anchor="ctr">
                    <a:lnL w="3175" cap="flat" cmpd="sng" algn="ctr">
                      <a:solidFill>
                        <a:srgbClr val="1D1D1A"/>
                      </a:solidFill>
                      <a:prstDash val="solid"/>
                      <a:round/>
                      <a:headEnd type="none" w="med" len="med"/>
                      <a:tailEnd type="none" w="med" len="med"/>
                    </a:lnL>
                    <a:lnR w="3175" cap="flat" cmpd="sng" algn="ctr">
                      <a:solidFill>
                        <a:srgbClr val="1D1D1A"/>
                      </a:solidFill>
                      <a:prstDash val="solid"/>
                      <a:round/>
                      <a:headEnd type="none" w="med" len="med"/>
                      <a:tailEnd type="none" w="med" len="med"/>
                    </a:lnR>
                    <a:lnT w="3175" cap="flat" cmpd="sng" algn="ctr">
                      <a:solidFill>
                        <a:srgbClr val="1D1D1A"/>
                      </a:solidFill>
                      <a:prstDash val="solid"/>
                      <a:round/>
                      <a:headEnd type="none" w="med" len="med"/>
                      <a:tailEnd type="none" w="med" len="med"/>
                    </a:lnT>
                    <a:lnB w="3175" cap="flat" cmpd="sng" algn="ctr">
                      <a:solidFill>
                        <a:srgbClr val="1D1D1A"/>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rtl="0" fontAlgn="ctr"/>
                      <a:r>
                        <a:rPr lang="zh-CN" altLang="en-US" sz="1000" b="1" i="0" u="none" strike="noStrike" dirty="0">
                          <a:solidFill>
                            <a:srgbClr val="C00000"/>
                          </a:solidFill>
                          <a:effectLst/>
                          <a:latin typeface="微软雅黑" charset="0"/>
                          <a:ea typeface="微软雅黑" charset="0"/>
                          <a:cs typeface="微软雅黑" charset="0"/>
                        </a:rPr>
                        <a:t>周期</a:t>
                      </a:r>
                      <a:r>
                        <a:rPr lang="en-US" altLang="zh-CN" sz="1000" b="1" i="0" u="none" strike="noStrike" dirty="0">
                          <a:solidFill>
                            <a:srgbClr val="C00000"/>
                          </a:solidFill>
                          <a:effectLst/>
                          <a:latin typeface="微软雅黑" charset="0"/>
                          <a:ea typeface="微软雅黑" charset="0"/>
                          <a:cs typeface="微软雅黑" charset="0"/>
                        </a:rPr>
                        <a:t>5</a:t>
                      </a:r>
                      <a:r>
                        <a:rPr lang="zh-CN" altLang="en-US" sz="1000" b="1" i="0" u="none" strike="noStrike" dirty="0">
                          <a:solidFill>
                            <a:srgbClr val="C00000"/>
                          </a:solidFill>
                          <a:effectLst/>
                          <a:latin typeface="微软雅黑" charset="0"/>
                          <a:ea typeface="微软雅黑" charset="0"/>
                          <a:cs typeface="微软雅黑" charset="0"/>
                        </a:rPr>
                        <a:t>天</a:t>
                      </a:r>
                    </a:p>
                  </a:txBody>
                  <a:tcPr marL="6348" marR="6348" marT="6348" marB="0" anchor="ctr">
                    <a:lnL w="3175" cap="flat" cmpd="sng" algn="ctr">
                      <a:solidFill>
                        <a:srgbClr val="1D1D1A"/>
                      </a:solidFill>
                      <a:prstDash val="solid"/>
                      <a:round/>
                      <a:headEnd type="none" w="med" len="med"/>
                      <a:tailEnd type="none" w="med" len="med"/>
                    </a:lnL>
                    <a:lnR w="3175" cap="flat" cmpd="sng" algn="ctr">
                      <a:solidFill>
                        <a:srgbClr val="1D1D1A"/>
                      </a:solidFill>
                      <a:prstDash val="solid"/>
                      <a:round/>
                      <a:headEnd type="none" w="med" len="med"/>
                      <a:tailEnd type="none" w="med" len="med"/>
                    </a:lnR>
                    <a:lnT w="3175" cap="flat" cmpd="sng" algn="ctr">
                      <a:solidFill>
                        <a:srgbClr val="1D1D1A"/>
                      </a:solidFill>
                      <a:prstDash val="solid"/>
                      <a:round/>
                      <a:headEnd type="none" w="med" len="med"/>
                      <a:tailEnd type="none" w="med" len="med"/>
                    </a:lnT>
                    <a:lnB w="3175" cap="flat" cmpd="sng" algn="ctr">
                      <a:solidFill>
                        <a:srgbClr val="1D1D1A"/>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indent="0" algn="l" defTabSz="913130" rtl="0" hangingPunct="0">
                        <a:lnSpc>
                          <a:spcPct val="120000"/>
                        </a:lnSpc>
                        <a:spcBef>
                          <a:spcPts val="0"/>
                        </a:spcBef>
                        <a:spcAft>
                          <a:spcPts val="0"/>
                        </a:spcAft>
                        <a:buClrTx/>
                        <a:buSzTx/>
                        <a:buNone/>
                        <a:defRPr/>
                      </a:pPr>
                      <a:r>
                        <a:rPr lang="zh-CN" altLang="en-US" sz="1000" b="1" kern="0" noProof="0" dirty="0">
                          <a:ln>
                            <a:noFill/>
                          </a:ln>
                          <a:solidFill>
                            <a:srgbClr val="00B050"/>
                          </a:solidFill>
                          <a:effectLst/>
                          <a:uLnTx/>
                          <a:uFillTx/>
                          <a:latin typeface="微软雅黑" charset="0"/>
                          <a:ea typeface="微软雅黑" charset="0"/>
                          <a:cs typeface="微软雅黑" charset="0"/>
                          <a:sym typeface="+mn-ea"/>
                        </a:rPr>
                        <a:t>√ 特性完备度高：</a:t>
                      </a:r>
                      <a:r>
                        <a:rPr lang="zh-CN" altLang="en-US" sz="1000" kern="0" noProof="0" dirty="0">
                          <a:ln>
                            <a:noFill/>
                          </a:ln>
                          <a:solidFill>
                            <a:prstClr val="black"/>
                          </a:solidFill>
                          <a:effectLst/>
                          <a:uLnTx/>
                          <a:uFillTx/>
                          <a:latin typeface="微软雅黑" charset="0"/>
                          <a:ea typeface="微软雅黑" charset="0"/>
                          <a:cs typeface="微软雅黑" charset="0"/>
                          <a:sym typeface="+mn-ea"/>
                        </a:rPr>
                        <a:t>新模型依赖的关键特性基本完备，比如图模式，</a:t>
                      </a:r>
                      <a:r>
                        <a:rPr lang="en-US" altLang="zh-CN" sz="1000" kern="0" dirty="0">
                          <a:solidFill>
                            <a:prstClr val="black"/>
                          </a:solidFill>
                          <a:latin typeface="微软雅黑" charset="0"/>
                          <a:ea typeface="微软雅黑" charset="0"/>
                          <a:cs typeface="微软雅黑" charset="0"/>
                          <a:sym typeface="+mn-ea"/>
                        </a:rPr>
                        <a:t>MTP</a:t>
                      </a:r>
                      <a:r>
                        <a:rPr lang="zh-CN" altLang="en-US" sz="1000" kern="0" dirty="0">
                          <a:solidFill>
                            <a:prstClr val="black"/>
                          </a:solidFill>
                          <a:latin typeface="微软雅黑" charset="0"/>
                          <a:ea typeface="微软雅黑" charset="0"/>
                          <a:cs typeface="微软雅黑" charset="0"/>
                          <a:sym typeface="+mn-ea"/>
                        </a:rPr>
                        <a:t>，异步调度，专家负载均衡，</a:t>
                      </a:r>
                      <a:r>
                        <a:rPr lang="en-US" altLang="zh-CN" sz="1000" kern="0" dirty="0">
                          <a:solidFill>
                            <a:prstClr val="black"/>
                          </a:solidFill>
                          <a:latin typeface="微软雅黑" charset="0"/>
                          <a:ea typeface="微软雅黑" charset="0"/>
                          <a:cs typeface="微软雅黑" charset="0"/>
                          <a:sym typeface="+mn-ea"/>
                        </a:rPr>
                        <a:t>EPLB</a:t>
                      </a:r>
                      <a:r>
                        <a:rPr lang="zh-CN" altLang="en-US" sz="1000" kern="0" dirty="0">
                          <a:solidFill>
                            <a:prstClr val="black"/>
                          </a:solidFill>
                          <a:latin typeface="微软雅黑" charset="0"/>
                          <a:ea typeface="微软雅黑" charset="0"/>
                          <a:cs typeface="微软雅黑" charset="0"/>
                          <a:sym typeface="+mn-ea"/>
                        </a:rPr>
                        <a:t>，</a:t>
                      </a:r>
                      <a:r>
                        <a:rPr lang="en-US" altLang="zh-CN" sz="1000" kern="0" dirty="0">
                          <a:solidFill>
                            <a:prstClr val="black"/>
                          </a:solidFill>
                          <a:latin typeface="微软雅黑" charset="0"/>
                          <a:ea typeface="微软雅黑" charset="0"/>
                          <a:cs typeface="微软雅黑" charset="0"/>
                          <a:sym typeface="+mn-ea"/>
                        </a:rPr>
                        <a:t>DPLB</a:t>
                      </a:r>
                      <a:r>
                        <a:rPr lang="zh-CN" altLang="en-US" sz="1000" kern="0" dirty="0">
                          <a:solidFill>
                            <a:prstClr val="black"/>
                          </a:solidFill>
                          <a:latin typeface="微软雅黑" charset="0"/>
                          <a:ea typeface="微软雅黑" charset="0"/>
                          <a:cs typeface="微软雅黑" charset="0"/>
                          <a:sym typeface="+mn-ea"/>
                        </a:rPr>
                        <a:t>，</a:t>
                      </a:r>
                      <a:r>
                        <a:rPr lang="en-US" altLang="zh-CN" sz="1000" kern="0" dirty="0">
                          <a:solidFill>
                            <a:prstClr val="black"/>
                          </a:solidFill>
                          <a:latin typeface="微软雅黑" charset="0"/>
                          <a:ea typeface="微软雅黑" charset="0"/>
                          <a:cs typeface="微软雅黑" charset="0"/>
                          <a:sym typeface="+mn-ea"/>
                        </a:rPr>
                        <a:t> Flash Comm1</a:t>
                      </a:r>
                      <a:r>
                        <a:rPr lang="zh-CN" altLang="en-US" sz="1000" kern="0" dirty="0">
                          <a:solidFill>
                            <a:prstClr val="black"/>
                          </a:solidFill>
                          <a:latin typeface="微软雅黑" charset="0"/>
                          <a:ea typeface="微软雅黑" charset="0"/>
                          <a:cs typeface="微软雅黑" charset="0"/>
                          <a:sym typeface="+mn-ea"/>
                        </a:rPr>
                        <a:t>等基本满足</a:t>
                      </a:r>
                      <a:endParaRPr lang="zh-CN" altLang="en-US" sz="1000" b="0" i="0" u="none" strike="noStrike" kern="0" dirty="0">
                        <a:solidFill>
                          <a:prstClr val="black"/>
                        </a:solidFill>
                        <a:effectLst/>
                        <a:latin typeface="微软雅黑" charset="0"/>
                        <a:ea typeface="微软雅黑" charset="0"/>
                        <a:cs typeface="微软雅黑" charset="0"/>
                      </a:endParaRPr>
                    </a:p>
                  </a:txBody>
                  <a:tcPr marL="6348" marR="6348" marT="6348" marB="0" anchor="ctr">
                    <a:lnL w="3175" cap="flat" cmpd="sng" algn="ctr">
                      <a:solidFill>
                        <a:srgbClr val="1D1D1A"/>
                      </a:solidFill>
                      <a:prstDash val="solid"/>
                      <a:round/>
                      <a:headEnd type="none" w="med" len="med"/>
                      <a:tailEnd type="none" w="med" len="med"/>
                    </a:lnL>
                    <a:lnR w="3175" cap="flat" cmpd="sng" algn="ctr">
                      <a:solidFill>
                        <a:srgbClr val="1D1D1A"/>
                      </a:solidFill>
                      <a:prstDash val="solid"/>
                      <a:round/>
                      <a:headEnd type="none" w="med" len="med"/>
                      <a:tailEnd type="none" w="med" len="med"/>
                    </a:lnR>
                    <a:lnT w="3175" cap="flat" cmpd="sng" algn="ctr">
                      <a:solidFill>
                        <a:srgbClr val="1D1D1A"/>
                      </a:solidFill>
                      <a:prstDash val="solid"/>
                      <a:round/>
                      <a:headEnd type="none" w="med" len="med"/>
                      <a:tailEnd type="none" w="med" len="med"/>
                    </a:lnT>
                    <a:lnB w="3175" cap="flat" cmpd="sng" algn="ctr">
                      <a:solidFill>
                        <a:srgbClr val="1D1D1A"/>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rtl="0" fontAlgn="ctr">
                        <a:buNone/>
                      </a:pPr>
                      <a:endParaRPr lang="zh-CN" altLang="en-US" sz="1000" b="0" i="0" u="none" strike="noStrike" dirty="0">
                        <a:solidFill>
                          <a:srgbClr val="C00000"/>
                        </a:solidFill>
                        <a:effectLst/>
                        <a:latin typeface="微软雅黑" charset="0"/>
                        <a:ea typeface="微软雅黑" charset="0"/>
                        <a:cs typeface="微软雅黑" charset="0"/>
                      </a:endParaRPr>
                    </a:p>
                  </a:txBody>
                  <a:tcPr marL="6348" marR="6348" marT="6348" marB="0" anchor="ctr">
                    <a:lnL w="3175" cap="flat" cmpd="sng" algn="ctr">
                      <a:solidFill>
                        <a:srgbClr val="1D1D1A"/>
                      </a:solidFill>
                      <a:prstDash val="solid"/>
                      <a:round/>
                      <a:headEnd type="none" w="med" len="med"/>
                      <a:tailEnd type="none" w="med" len="med"/>
                    </a:lnL>
                    <a:lnR w="3175" cap="flat" cmpd="sng" algn="ctr">
                      <a:solidFill>
                        <a:srgbClr val="1D1D1A"/>
                      </a:solidFill>
                      <a:prstDash val="solid"/>
                      <a:round/>
                      <a:headEnd type="none" w="med" len="med"/>
                      <a:tailEnd type="none" w="med" len="med"/>
                    </a:lnR>
                    <a:lnT w="3175" cap="flat" cmpd="sng" algn="ctr">
                      <a:solidFill>
                        <a:srgbClr val="1D1D1A"/>
                      </a:solidFill>
                      <a:prstDash val="solid"/>
                      <a:round/>
                      <a:headEnd type="none" w="med" len="med"/>
                      <a:tailEnd type="none" w="med" len="med"/>
                    </a:lnT>
                    <a:lnB w="3175" cap="flat" cmpd="sng" algn="ctr">
                      <a:solidFill>
                        <a:srgbClr val="1D1D1A"/>
                      </a:solid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0005"/>
                  </a:ext>
                </a:extLst>
              </a:tr>
              <a:tr h="316230">
                <a:tc>
                  <a:txBody>
                    <a:bodyPr/>
                    <a:lstStyle/>
                    <a:p>
                      <a:pPr algn="ctr" rtl="0" fontAlgn="ctr"/>
                      <a:r>
                        <a:rPr lang="zh-CN" altLang="en-US" sz="1100" b="1" i="0" u="none" strike="noStrike" dirty="0">
                          <a:solidFill>
                            <a:srgbClr val="1D1D1A"/>
                          </a:solidFill>
                          <a:effectLst/>
                          <a:latin typeface="微软雅黑" charset="0"/>
                          <a:ea typeface="微软雅黑" charset="0"/>
                          <a:cs typeface="微软雅黑" charset="0"/>
                        </a:rPr>
                        <a:t>场景泛化</a:t>
                      </a:r>
                      <a:endParaRPr lang="en-US" sz="1100" b="1" i="0" u="none" strike="noStrike" dirty="0">
                        <a:solidFill>
                          <a:srgbClr val="1D1D1A"/>
                        </a:solidFill>
                        <a:effectLst/>
                        <a:latin typeface="微软雅黑" charset="0"/>
                        <a:ea typeface="微软雅黑" charset="0"/>
                        <a:cs typeface="微软雅黑" charset="0"/>
                      </a:endParaRPr>
                    </a:p>
                  </a:txBody>
                  <a:tcPr marL="6348" marR="6348" marT="6348" marB="0" anchor="ctr">
                    <a:lnL w="3175" cap="flat" cmpd="sng" algn="ctr">
                      <a:solidFill>
                        <a:srgbClr val="1D1D1A"/>
                      </a:solidFill>
                      <a:prstDash val="solid"/>
                      <a:round/>
                      <a:headEnd type="none" w="med" len="med"/>
                      <a:tailEnd type="none" w="med" len="med"/>
                    </a:lnL>
                    <a:lnR w="3175" cap="flat" cmpd="sng" algn="ctr">
                      <a:solidFill>
                        <a:srgbClr val="1D1D1A"/>
                      </a:solidFill>
                      <a:prstDash val="solid"/>
                      <a:round/>
                      <a:headEnd type="none" w="med" len="med"/>
                      <a:tailEnd type="none" w="med" len="med"/>
                    </a:lnR>
                    <a:lnT w="3175" cap="flat" cmpd="sng" algn="ctr">
                      <a:solidFill>
                        <a:srgbClr val="1D1D1A"/>
                      </a:solidFill>
                      <a:prstDash val="solid"/>
                      <a:round/>
                      <a:headEnd type="none" w="med" len="med"/>
                      <a:tailEnd type="none" w="med" len="med"/>
                    </a:lnT>
                    <a:lnB w="3175" cap="flat" cmpd="sng" algn="ctr">
                      <a:solidFill>
                        <a:srgbClr val="1D1D1A"/>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rtl="0" fontAlgn="ctr"/>
                      <a:r>
                        <a:rPr lang="zh-CN" altLang="en-US" sz="1100" b="0" i="0" u="none" strike="noStrike" dirty="0">
                          <a:solidFill>
                            <a:srgbClr val="1D1D1A"/>
                          </a:solidFill>
                          <a:effectLst/>
                          <a:latin typeface="微软雅黑" charset="0"/>
                          <a:ea typeface="微软雅黑" charset="0"/>
                          <a:cs typeface="微软雅黑" charset="0"/>
                        </a:rPr>
                        <a:t>周期</a:t>
                      </a:r>
                      <a:r>
                        <a:rPr lang="en-US" altLang="zh-CN" sz="1100" b="0" i="0" u="none" strike="noStrike" dirty="0">
                          <a:solidFill>
                            <a:srgbClr val="1D1D1A"/>
                          </a:solidFill>
                          <a:effectLst/>
                          <a:latin typeface="微软雅黑" charset="0"/>
                          <a:ea typeface="微软雅黑" charset="0"/>
                          <a:cs typeface="微软雅黑" charset="0"/>
                        </a:rPr>
                        <a:t>20</a:t>
                      </a:r>
                      <a:r>
                        <a:rPr lang="zh-CN" altLang="en-US" sz="1100" b="0" i="0" u="none" strike="noStrike" dirty="0">
                          <a:solidFill>
                            <a:srgbClr val="1D1D1A"/>
                          </a:solidFill>
                          <a:effectLst/>
                          <a:latin typeface="微软雅黑" charset="0"/>
                          <a:ea typeface="微软雅黑" charset="0"/>
                          <a:cs typeface="微软雅黑" charset="0"/>
                        </a:rPr>
                        <a:t>天</a:t>
                      </a:r>
                    </a:p>
                  </a:txBody>
                  <a:tcPr marL="6348" marR="6348" marT="6348" marB="0" anchor="ctr">
                    <a:lnL w="3175" cap="flat" cmpd="sng" algn="ctr">
                      <a:solidFill>
                        <a:srgbClr val="1D1D1A"/>
                      </a:solidFill>
                      <a:prstDash val="solid"/>
                      <a:round/>
                      <a:headEnd type="none" w="med" len="med"/>
                      <a:tailEnd type="none" w="med" len="med"/>
                    </a:lnL>
                    <a:lnR w="3175" cap="flat" cmpd="sng" algn="ctr">
                      <a:solidFill>
                        <a:srgbClr val="1D1D1A"/>
                      </a:solidFill>
                      <a:prstDash val="solid"/>
                      <a:round/>
                      <a:headEnd type="none" w="med" len="med"/>
                      <a:tailEnd type="none" w="med" len="med"/>
                    </a:lnR>
                    <a:lnT w="3175" cap="flat" cmpd="sng" algn="ctr">
                      <a:solidFill>
                        <a:srgbClr val="1D1D1A"/>
                      </a:solidFill>
                      <a:prstDash val="solid"/>
                      <a:round/>
                      <a:headEnd type="none" w="med" len="med"/>
                      <a:tailEnd type="none" w="med" len="med"/>
                    </a:lnT>
                    <a:lnB w="3175" cap="flat" cmpd="sng" algn="ctr">
                      <a:solidFill>
                        <a:srgbClr val="1D1D1A"/>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rtl="0" fontAlgn="ctr"/>
                      <a:r>
                        <a:rPr lang="zh-CN" altLang="en-US" sz="1000" b="0" i="0" u="none" strike="noStrike" dirty="0">
                          <a:solidFill>
                            <a:srgbClr val="C00000"/>
                          </a:solidFill>
                          <a:effectLst/>
                          <a:latin typeface="微软雅黑" charset="0"/>
                          <a:ea typeface="微软雅黑" charset="0"/>
                          <a:cs typeface="微软雅黑" charset="0"/>
                        </a:rPr>
                        <a:t>周期</a:t>
                      </a:r>
                      <a:r>
                        <a:rPr lang="en-US" altLang="zh-CN" sz="1000" b="0" i="0" u="none" strike="noStrike" dirty="0">
                          <a:solidFill>
                            <a:srgbClr val="C00000"/>
                          </a:solidFill>
                          <a:effectLst/>
                          <a:latin typeface="微软雅黑" charset="0"/>
                          <a:ea typeface="微软雅黑" charset="0"/>
                          <a:cs typeface="微软雅黑" charset="0"/>
                        </a:rPr>
                        <a:t>4</a:t>
                      </a:r>
                      <a:r>
                        <a:rPr lang="zh-CN" altLang="en-US" sz="1000" b="0" i="0" u="none" strike="noStrike" dirty="0">
                          <a:solidFill>
                            <a:srgbClr val="C00000"/>
                          </a:solidFill>
                          <a:effectLst/>
                          <a:latin typeface="微软雅黑" charset="0"/>
                          <a:ea typeface="微软雅黑" charset="0"/>
                          <a:cs typeface="微软雅黑" charset="0"/>
                        </a:rPr>
                        <a:t>天</a:t>
                      </a:r>
                    </a:p>
                  </a:txBody>
                  <a:tcPr marL="6348" marR="6348" marT="6348" marB="0" anchor="ctr">
                    <a:lnL w="3175" cap="flat" cmpd="sng" algn="ctr">
                      <a:solidFill>
                        <a:srgbClr val="1D1D1A"/>
                      </a:solidFill>
                      <a:prstDash val="solid"/>
                      <a:round/>
                      <a:headEnd type="none" w="med" len="med"/>
                      <a:tailEnd type="none" w="med" len="med"/>
                    </a:lnL>
                    <a:lnR w="3175" cap="flat" cmpd="sng" algn="ctr">
                      <a:solidFill>
                        <a:srgbClr val="1D1D1A"/>
                      </a:solidFill>
                      <a:prstDash val="solid"/>
                      <a:round/>
                      <a:headEnd type="none" w="med" len="med"/>
                      <a:tailEnd type="none" w="med" len="med"/>
                    </a:lnR>
                    <a:lnT w="3175" cap="flat" cmpd="sng" algn="ctr">
                      <a:solidFill>
                        <a:srgbClr val="1D1D1A"/>
                      </a:solidFill>
                      <a:prstDash val="solid"/>
                      <a:round/>
                      <a:headEnd type="none" w="med" len="med"/>
                      <a:tailEnd type="none" w="med" len="med"/>
                    </a:lnT>
                    <a:lnB w="3175" cap="flat" cmpd="sng" algn="ctr">
                      <a:solidFill>
                        <a:srgbClr val="1D1D1A"/>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l" rtl="0" fontAlgn="ctr">
                        <a:buNone/>
                      </a:pPr>
                      <a:r>
                        <a:rPr lang="zh-CN" altLang="en-US" sz="1000" b="1" kern="0" noProof="0" dirty="0">
                          <a:ln>
                            <a:noFill/>
                          </a:ln>
                          <a:solidFill>
                            <a:srgbClr val="00B050"/>
                          </a:solidFill>
                          <a:effectLst/>
                          <a:uLnTx/>
                          <a:uFillTx/>
                          <a:latin typeface="微软雅黑" charset="0"/>
                          <a:ea typeface="微软雅黑" charset="0"/>
                          <a:cs typeface="微软雅黑" charset="0"/>
                        </a:rPr>
                        <a:t>√ CI工程提前介入：</a:t>
                      </a:r>
                      <a:r>
                        <a:rPr lang="zh-CN" altLang="en-US" sz="1000" kern="0" noProof="0" dirty="0">
                          <a:ln>
                            <a:noFill/>
                          </a:ln>
                          <a:solidFill>
                            <a:prstClr val="black"/>
                          </a:solidFill>
                          <a:effectLst/>
                          <a:uLnTx/>
                          <a:uFillTx/>
                          <a:latin typeface="微软雅黑" charset="0"/>
                          <a:ea typeface="微软雅黑" charset="0"/>
                          <a:cs typeface="微软雅黑" charset="0"/>
                        </a:rPr>
                        <a:t>新模型在私仓开发态提前接入vllm-ascend主仓CI，识别隔离场景，开发与场景泛化同步进行，极大缩短代码合入和场景泛化时间</a:t>
                      </a:r>
                    </a:p>
                  </a:txBody>
                  <a:tcPr marL="6348" marR="6348" marT="6348" marB="0" anchor="ctr">
                    <a:lnL w="3175" cap="flat" cmpd="sng" algn="ctr">
                      <a:solidFill>
                        <a:srgbClr val="1D1D1A"/>
                      </a:solidFill>
                      <a:prstDash val="solid"/>
                      <a:round/>
                      <a:headEnd type="none" w="med" len="med"/>
                      <a:tailEnd type="none" w="med" len="med"/>
                    </a:lnL>
                    <a:lnR w="3175" cap="flat" cmpd="sng" algn="ctr">
                      <a:solidFill>
                        <a:srgbClr val="1D1D1A"/>
                      </a:solidFill>
                      <a:prstDash val="solid"/>
                      <a:round/>
                      <a:headEnd type="none" w="med" len="med"/>
                      <a:tailEnd type="none" w="med" len="med"/>
                    </a:lnR>
                    <a:lnT w="3175" cap="flat" cmpd="sng" algn="ctr">
                      <a:solidFill>
                        <a:srgbClr val="1D1D1A"/>
                      </a:solidFill>
                      <a:prstDash val="solid"/>
                      <a:round/>
                      <a:headEnd type="none" w="med" len="med"/>
                      <a:tailEnd type="none" w="med" len="med"/>
                    </a:lnT>
                    <a:lnB w="3175" cap="flat" cmpd="sng" algn="ctr">
                      <a:solidFill>
                        <a:srgbClr val="1D1D1A"/>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rtl="0" fontAlgn="ctr">
                        <a:buNone/>
                      </a:pPr>
                      <a:endParaRPr lang="zh-CN" altLang="en-US" sz="1000" b="0" i="0" u="none" strike="noStrike" dirty="0">
                        <a:solidFill>
                          <a:srgbClr val="C00000"/>
                        </a:solidFill>
                        <a:effectLst/>
                        <a:latin typeface="微软雅黑" charset="0"/>
                        <a:ea typeface="微软雅黑" charset="0"/>
                        <a:cs typeface="微软雅黑" charset="0"/>
                      </a:endParaRPr>
                    </a:p>
                  </a:txBody>
                  <a:tcPr marL="6348" marR="6348" marT="6348" marB="0" anchor="ctr">
                    <a:lnL w="3175" cap="flat" cmpd="sng" algn="ctr">
                      <a:solidFill>
                        <a:srgbClr val="1D1D1A"/>
                      </a:solidFill>
                      <a:prstDash val="solid"/>
                      <a:round/>
                      <a:headEnd type="none" w="med" len="med"/>
                      <a:tailEnd type="none" w="med" len="med"/>
                    </a:lnL>
                    <a:lnR w="3175" cap="flat" cmpd="sng" algn="ctr">
                      <a:solidFill>
                        <a:srgbClr val="1D1D1A"/>
                      </a:solidFill>
                      <a:prstDash val="solid"/>
                      <a:round/>
                      <a:headEnd type="none" w="med" len="med"/>
                      <a:tailEnd type="none" w="med" len="med"/>
                    </a:lnR>
                    <a:lnT w="3175" cap="flat" cmpd="sng" algn="ctr">
                      <a:solidFill>
                        <a:srgbClr val="1D1D1A"/>
                      </a:solidFill>
                      <a:prstDash val="solid"/>
                      <a:round/>
                      <a:headEnd type="none" w="med" len="med"/>
                      <a:tailEnd type="none" w="med" len="med"/>
                    </a:lnT>
                    <a:lnB w="3175" cap="flat" cmpd="sng" algn="ctr">
                      <a:solidFill>
                        <a:srgbClr val="1D1D1A"/>
                      </a:solid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0006"/>
                  </a:ext>
                </a:extLst>
              </a:tr>
              <a:tr h="314960">
                <a:tc>
                  <a:txBody>
                    <a:bodyPr/>
                    <a:lstStyle/>
                    <a:p>
                      <a:pPr algn="ctr" rtl="0" fontAlgn="ctr"/>
                      <a:r>
                        <a:rPr lang="zh-CN" altLang="en-US" sz="1100" b="1" i="0" u="none" strike="noStrike" dirty="0">
                          <a:solidFill>
                            <a:srgbClr val="1D1D1A"/>
                          </a:solidFill>
                          <a:effectLst/>
                          <a:latin typeface="微软雅黑" charset="0"/>
                          <a:ea typeface="微软雅黑" charset="0"/>
                          <a:cs typeface="微软雅黑" charset="0"/>
                        </a:rPr>
                        <a:t>版本发布</a:t>
                      </a:r>
                      <a:endParaRPr lang="en-US" sz="1100" b="1" i="0" u="none" strike="noStrike" dirty="0">
                        <a:solidFill>
                          <a:srgbClr val="1D1D1A"/>
                        </a:solidFill>
                        <a:effectLst/>
                        <a:latin typeface="微软雅黑" charset="0"/>
                        <a:ea typeface="微软雅黑" charset="0"/>
                        <a:cs typeface="微软雅黑" charset="0"/>
                      </a:endParaRPr>
                    </a:p>
                  </a:txBody>
                  <a:tcPr marL="6348" marR="6348" marT="6348" marB="0" anchor="ctr">
                    <a:lnL w="3175" cap="flat" cmpd="sng" algn="ctr">
                      <a:solidFill>
                        <a:srgbClr val="1D1D1A"/>
                      </a:solidFill>
                      <a:prstDash val="solid"/>
                      <a:round/>
                      <a:headEnd type="none" w="med" len="med"/>
                      <a:tailEnd type="none" w="med" len="med"/>
                    </a:lnL>
                    <a:lnR w="3175" cap="flat" cmpd="sng" algn="ctr">
                      <a:solidFill>
                        <a:srgbClr val="1D1D1A"/>
                      </a:solidFill>
                      <a:prstDash val="solid"/>
                      <a:round/>
                      <a:headEnd type="none" w="med" len="med"/>
                      <a:tailEnd type="none" w="med" len="med"/>
                    </a:lnR>
                    <a:lnT w="3175" cap="flat" cmpd="sng" algn="ctr">
                      <a:solidFill>
                        <a:srgbClr val="1D1D1A"/>
                      </a:solidFill>
                      <a:prstDash val="solid"/>
                      <a:round/>
                      <a:headEnd type="none" w="med" len="med"/>
                      <a:tailEnd type="none" w="med" len="med"/>
                    </a:lnT>
                    <a:lnB w="3175" cap="flat" cmpd="sng" algn="ctr">
                      <a:solidFill>
                        <a:srgbClr val="1D1D1A"/>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rtl="0" fontAlgn="ctr"/>
                      <a:r>
                        <a:rPr lang="zh-CN" altLang="en-US" sz="1100" b="0" i="0" u="none" strike="noStrike" dirty="0">
                          <a:solidFill>
                            <a:srgbClr val="1D1D1A"/>
                          </a:solidFill>
                          <a:effectLst/>
                          <a:latin typeface="微软雅黑" charset="0"/>
                          <a:ea typeface="微软雅黑" charset="0"/>
                          <a:cs typeface="微软雅黑" charset="0"/>
                        </a:rPr>
                        <a:t>周期</a:t>
                      </a:r>
                      <a:r>
                        <a:rPr lang="en-US" altLang="zh-CN" sz="1100" b="0" i="0" u="none" strike="noStrike" dirty="0">
                          <a:solidFill>
                            <a:srgbClr val="1D1D1A"/>
                          </a:solidFill>
                          <a:effectLst/>
                          <a:latin typeface="微软雅黑" charset="0"/>
                          <a:ea typeface="微软雅黑" charset="0"/>
                          <a:cs typeface="微软雅黑" charset="0"/>
                        </a:rPr>
                        <a:t>7</a:t>
                      </a:r>
                      <a:r>
                        <a:rPr lang="zh-CN" altLang="en-US" sz="1100" b="0" i="0" u="none" strike="noStrike" dirty="0">
                          <a:solidFill>
                            <a:srgbClr val="1D1D1A"/>
                          </a:solidFill>
                          <a:effectLst/>
                          <a:latin typeface="微软雅黑" charset="0"/>
                          <a:ea typeface="微软雅黑" charset="0"/>
                          <a:cs typeface="微软雅黑" charset="0"/>
                        </a:rPr>
                        <a:t>天</a:t>
                      </a:r>
                    </a:p>
                  </a:txBody>
                  <a:tcPr marL="6348" marR="6348" marT="6348" marB="0" anchor="ctr">
                    <a:lnL w="3175" cap="flat" cmpd="sng" algn="ctr">
                      <a:solidFill>
                        <a:srgbClr val="1D1D1A"/>
                      </a:solidFill>
                      <a:prstDash val="solid"/>
                      <a:round/>
                      <a:headEnd type="none" w="med" len="med"/>
                      <a:tailEnd type="none" w="med" len="med"/>
                    </a:lnL>
                    <a:lnR w="3175" cap="flat" cmpd="sng" algn="ctr">
                      <a:solidFill>
                        <a:srgbClr val="1D1D1A"/>
                      </a:solidFill>
                      <a:prstDash val="solid"/>
                      <a:round/>
                      <a:headEnd type="none" w="med" len="med"/>
                      <a:tailEnd type="none" w="med" len="med"/>
                    </a:lnR>
                    <a:lnT w="3175" cap="flat" cmpd="sng" algn="ctr">
                      <a:solidFill>
                        <a:srgbClr val="1D1D1A"/>
                      </a:solidFill>
                      <a:prstDash val="solid"/>
                      <a:round/>
                      <a:headEnd type="none" w="med" len="med"/>
                      <a:tailEnd type="none" w="med" len="med"/>
                    </a:lnT>
                    <a:lnB w="3175" cap="flat" cmpd="sng" algn="ctr">
                      <a:solidFill>
                        <a:srgbClr val="1D1D1A"/>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rtl="0" fontAlgn="ctr"/>
                      <a:r>
                        <a:rPr lang="zh-CN" altLang="en-US" sz="1000" b="0" i="0" u="none" strike="noStrike" dirty="0">
                          <a:solidFill>
                            <a:srgbClr val="C00000"/>
                          </a:solidFill>
                          <a:effectLst/>
                          <a:latin typeface="微软雅黑" charset="0"/>
                          <a:ea typeface="微软雅黑" charset="0"/>
                          <a:cs typeface="微软雅黑" charset="0"/>
                        </a:rPr>
                        <a:t>周期</a:t>
                      </a:r>
                      <a:r>
                        <a:rPr lang="en-US" altLang="zh-CN" sz="1000" b="0" i="0" u="none" strike="noStrike" dirty="0">
                          <a:solidFill>
                            <a:srgbClr val="C00000"/>
                          </a:solidFill>
                          <a:effectLst/>
                          <a:latin typeface="微软雅黑" charset="0"/>
                          <a:ea typeface="微软雅黑" charset="0"/>
                          <a:cs typeface="微软雅黑" charset="0"/>
                        </a:rPr>
                        <a:t>2</a:t>
                      </a:r>
                      <a:r>
                        <a:rPr lang="zh-CN" altLang="en-US" sz="1000" b="0" i="0" u="none" strike="noStrike" dirty="0">
                          <a:solidFill>
                            <a:srgbClr val="C00000"/>
                          </a:solidFill>
                          <a:effectLst/>
                          <a:latin typeface="微软雅黑" charset="0"/>
                          <a:ea typeface="微软雅黑" charset="0"/>
                          <a:cs typeface="微软雅黑" charset="0"/>
                        </a:rPr>
                        <a:t>天</a:t>
                      </a:r>
                    </a:p>
                  </a:txBody>
                  <a:tcPr marL="6348" marR="6348" marT="6348" marB="0" anchor="ctr">
                    <a:lnL w="3175" cap="flat" cmpd="sng" algn="ctr">
                      <a:solidFill>
                        <a:srgbClr val="1D1D1A"/>
                      </a:solidFill>
                      <a:prstDash val="solid"/>
                      <a:round/>
                      <a:headEnd type="none" w="med" len="med"/>
                      <a:tailEnd type="none" w="med" len="med"/>
                    </a:lnL>
                    <a:lnR w="3175" cap="flat" cmpd="sng" algn="ctr">
                      <a:solidFill>
                        <a:srgbClr val="1D1D1A"/>
                      </a:solidFill>
                      <a:prstDash val="solid"/>
                      <a:round/>
                      <a:headEnd type="none" w="med" len="med"/>
                      <a:tailEnd type="none" w="med" len="med"/>
                    </a:lnR>
                    <a:lnT w="3175" cap="flat" cmpd="sng" algn="ctr">
                      <a:solidFill>
                        <a:srgbClr val="1D1D1A"/>
                      </a:solidFill>
                      <a:prstDash val="solid"/>
                      <a:round/>
                      <a:headEnd type="none" w="med" len="med"/>
                      <a:tailEnd type="none" w="med" len="med"/>
                    </a:lnT>
                    <a:lnB w="3175" cap="flat" cmpd="sng" algn="ctr">
                      <a:solidFill>
                        <a:srgbClr val="1D1D1A"/>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rtl="0" fontAlgn="ctr">
                        <a:buNone/>
                      </a:pPr>
                      <a:endParaRPr lang="zh-CN" altLang="en-US" sz="1000" b="0" i="0" u="none" strike="noStrike" dirty="0">
                        <a:solidFill>
                          <a:srgbClr val="C00000"/>
                        </a:solidFill>
                        <a:effectLst/>
                        <a:latin typeface="微软雅黑" charset="0"/>
                        <a:ea typeface="微软雅黑" charset="0"/>
                        <a:cs typeface="微软雅黑" charset="0"/>
                      </a:endParaRPr>
                    </a:p>
                  </a:txBody>
                  <a:tcPr marL="6348" marR="6348" marT="6348" marB="0" anchor="ctr">
                    <a:lnL w="3175" cap="flat" cmpd="sng" algn="ctr">
                      <a:solidFill>
                        <a:srgbClr val="1D1D1A"/>
                      </a:solidFill>
                      <a:prstDash val="solid"/>
                      <a:round/>
                      <a:headEnd type="none" w="med" len="med"/>
                      <a:tailEnd type="none" w="med" len="med"/>
                    </a:lnL>
                    <a:lnR w="3175" cap="flat" cmpd="sng" algn="ctr">
                      <a:solidFill>
                        <a:srgbClr val="1D1D1A"/>
                      </a:solidFill>
                      <a:prstDash val="solid"/>
                      <a:round/>
                      <a:headEnd type="none" w="med" len="med"/>
                      <a:tailEnd type="none" w="med" len="med"/>
                    </a:lnR>
                    <a:lnT w="3175" cap="flat" cmpd="sng" algn="ctr">
                      <a:solidFill>
                        <a:srgbClr val="1D1D1A"/>
                      </a:solidFill>
                      <a:prstDash val="solid"/>
                      <a:round/>
                      <a:headEnd type="none" w="med" len="med"/>
                      <a:tailEnd type="none" w="med" len="med"/>
                    </a:lnT>
                    <a:lnB w="3175" cap="flat" cmpd="sng" algn="ctr">
                      <a:solidFill>
                        <a:srgbClr val="1D1D1A"/>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l" rtl="0" fontAlgn="ctr">
                        <a:buNone/>
                      </a:pPr>
                      <a:r>
                        <a:rPr lang="zh-CN" altLang="en-US" sz="1000" kern="0" noProof="0" dirty="0">
                          <a:ln>
                            <a:noFill/>
                          </a:ln>
                          <a:solidFill>
                            <a:prstClr val="black"/>
                          </a:solidFill>
                          <a:effectLst/>
                          <a:uLnTx/>
                          <a:uFillTx/>
                          <a:latin typeface="微软雅黑" charset="0"/>
                          <a:ea typeface="微软雅黑" charset="0"/>
                          <a:cs typeface="微软雅黑" charset="0"/>
                          <a:sym typeface="+mn-ea"/>
                        </a:rPr>
                        <a:t>【优先级中】</a:t>
                      </a:r>
                      <a:r>
                        <a:rPr lang="en-US" altLang="zh-CN" sz="1000" b="0" i="0" u="none" strike="noStrike" dirty="0">
                          <a:solidFill>
                            <a:srgbClr val="000000"/>
                          </a:solidFill>
                          <a:effectLst/>
                          <a:latin typeface="微软雅黑" charset="0"/>
                          <a:ea typeface="微软雅黑" charset="0"/>
                          <a:cs typeface="微软雅黑" charset="0"/>
                        </a:rPr>
                        <a:t>main to main</a:t>
                      </a:r>
                      <a:r>
                        <a:rPr lang="zh-CN" altLang="en-US" sz="1000" b="0" i="0" u="none" strike="noStrike" dirty="0">
                          <a:solidFill>
                            <a:srgbClr val="000000"/>
                          </a:solidFill>
                          <a:effectLst/>
                          <a:latin typeface="微软雅黑" charset="0"/>
                          <a:ea typeface="微软雅黑" charset="0"/>
                          <a:cs typeface="微软雅黑" charset="0"/>
                        </a:rPr>
                        <a:t>效率仍存在不足，版本发布时采用非社区最新版本</a:t>
                      </a:r>
                    </a:p>
                    <a:p>
                      <a:pPr algn="l" rtl="0" fontAlgn="ctr">
                        <a:buNone/>
                      </a:pPr>
                      <a:r>
                        <a:rPr lang="zh-CN" altLang="en-US" sz="1000" b="1" dirty="0">
                          <a:solidFill>
                            <a:srgbClr val="C00000"/>
                          </a:solidFill>
                          <a:effectLst/>
                          <a:latin typeface="微软雅黑" charset="0"/>
                          <a:ea typeface="微软雅黑" charset="0"/>
                          <a:cs typeface="微软雅黑" charset="0"/>
                        </a:rPr>
                        <a:t>应对措施：</a:t>
                      </a:r>
                      <a:r>
                        <a:rPr lang="zh-CN" altLang="en-US" sz="1000" b="0" dirty="0">
                          <a:solidFill>
                            <a:srgbClr val="000000"/>
                          </a:solidFill>
                          <a:effectLst/>
                          <a:latin typeface="微软雅黑" charset="0"/>
                          <a:ea typeface="微软雅黑" charset="0"/>
                          <a:cs typeface="微软雅黑" charset="0"/>
                        </a:rPr>
                        <a:t>加强社区跟随度，对社区</a:t>
                      </a:r>
                      <a:r>
                        <a:rPr lang="en-US" altLang="zh-CN" sz="1000" b="0" dirty="0">
                          <a:solidFill>
                            <a:srgbClr val="000000"/>
                          </a:solidFill>
                          <a:effectLst/>
                          <a:latin typeface="微软雅黑" charset="0"/>
                          <a:ea typeface="微软雅黑" charset="0"/>
                          <a:cs typeface="微软雅黑" charset="0"/>
                        </a:rPr>
                        <a:t>pr</a:t>
                      </a:r>
                      <a:r>
                        <a:rPr lang="zh-CN" altLang="en-US" sz="1000" b="0" dirty="0">
                          <a:solidFill>
                            <a:srgbClr val="000000"/>
                          </a:solidFill>
                          <a:effectLst/>
                          <a:latin typeface="微软雅黑" charset="0"/>
                          <a:ea typeface="微软雅黑" charset="0"/>
                          <a:cs typeface="微软雅黑" charset="0"/>
                        </a:rPr>
                        <a:t>进行提前分析，加速兼容适配效率</a:t>
                      </a:r>
                      <a:endParaRPr lang="zh-CN" altLang="en-US" sz="1000" b="0" i="0" u="none" strike="noStrike" dirty="0">
                        <a:solidFill>
                          <a:srgbClr val="000000"/>
                        </a:solidFill>
                        <a:effectLst/>
                        <a:latin typeface="微软雅黑" charset="0"/>
                        <a:ea typeface="微软雅黑" charset="0"/>
                        <a:cs typeface="微软雅黑" charset="0"/>
                      </a:endParaRPr>
                    </a:p>
                  </a:txBody>
                  <a:tcPr marL="6348" marR="6348" marT="6348" marB="0" anchor="ctr">
                    <a:lnL w="3175" cap="flat" cmpd="sng" algn="ctr">
                      <a:solidFill>
                        <a:srgbClr val="1D1D1A"/>
                      </a:solidFill>
                      <a:prstDash val="solid"/>
                      <a:round/>
                      <a:headEnd type="none" w="med" len="med"/>
                      <a:tailEnd type="none" w="med" len="med"/>
                    </a:lnL>
                    <a:lnR w="3175" cap="flat" cmpd="sng" algn="ctr">
                      <a:solidFill>
                        <a:srgbClr val="1D1D1A"/>
                      </a:solidFill>
                      <a:prstDash val="solid"/>
                      <a:round/>
                      <a:headEnd type="none" w="med" len="med"/>
                      <a:tailEnd type="none" w="med" len="med"/>
                    </a:lnR>
                    <a:lnT w="3175" cap="flat" cmpd="sng" algn="ctr">
                      <a:solidFill>
                        <a:srgbClr val="1D1D1A"/>
                      </a:solidFill>
                      <a:prstDash val="solid"/>
                      <a:round/>
                      <a:headEnd type="none" w="med" len="med"/>
                      <a:tailEnd type="none" w="med" len="med"/>
                    </a:lnT>
                    <a:lnB w="3175" cap="flat" cmpd="sng" algn="ctr">
                      <a:solidFill>
                        <a:srgbClr val="1D1D1A"/>
                      </a:solid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0007"/>
                  </a:ext>
                </a:extLst>
              </a:tr>
              <a:tr h="311150">
                <a:tc>
                  <a:txBody>
                    <a:bodyPr/>
                    <a:lstStyle/>
                    <a:p>
                      <a:pPr algn="ctr" rtl="0" fontAlgn="ctr">
                        <a:buNone/>
                      </a:pPr>
                      <a:r>
                        <a:rPr lang="zh-CN" altLang="en-US" sz="1100" b="1" i="0" u="none" strike="noStrike" dirty="0">
                          <a:solidFill>
                            <a:srgbClr val="1D1D1A"/>
                          </a:solidFill>
                          <a:effectLst/>
                          <a:latin typeface="微软雅黑" charset="0"/>
                          <a:ea typeface="微软雅黑" charset="0"/>
                          <a:cs typeface="微软雅黑" charset="0"/>
                        </a:rPr>
                        <a:t>安装部署</a:t>
                      </a:r>
                      <a:endParaRPr lang="en-US" altLang="en-US" sz="1100" b="1" i="0" u="none" strike="noStrike" dirty="0">
                        <a:solidFill>
                          <a:srgbClr val="1D1D1A"/>
                        </a:solidFill>
                        <a:effectLst/>
                        <a:latin typeface="微软雅黑" charset="0"/>
                        <a:ea typeface="微软雅黑" charset="0"/>
                        <a:cs typeface="微软雅黑" charset="0"/>
                      </a:endParaRPr>
                    </a:p>
                  </a:txBody>
                  <a:tcPr marL="6348" marR="6348" marT="6348" marB="0" anchor="ctr">
                    <a:lnL w="3175" cap="flat" cmpd="sng" algn="ctr">
                      <a:solidFill>
                        <a:srgbClr val="1D1D1A"/>
                      </a:solidFill>
                      <a:prstDash val="solid"/>
                      <a:round/>
                      <a:headEnd type="none" w="med" len="med"/>
                      <a:tailEnd type="none" w="med" len="med"/>
                    </a:lnL>
                    <a:lnR w="3175" cap="flat" cmpd="sng" algn="ctr">
                      <a:solidFill>
                        <a:srgbClr val="1D1D1A"/>
                      </a:solidFill>
                      <a:prstDash val="solid"/>
                      <a:round/>
                      <a:headEnd type="none" w="med" len="med"/>
                      <a:tailEnd type="none" w="med" len="med"/>
                    </a:lnR>
                    <a:lnT w="3175" cap="flat" cmpd="sng" algn="ctr">
                      <a:solidFill>
                        <a:srgbClr val="1D1D1A"/>
                      </a:solidFill>
                      <a:prstDash val="solid"/>
                      <a:round/>
                      <a:headEnd type="none" w="med" len="med"/>
                      <a:tailEnd type="none" w="med" len="med"/>
                    </a:lnT>
                    <a:lnB w="3175" cap="flat" cmpd="sng" algn="ctr">
                      <a:solidFill>
                        <a:srgbClr val="1D1D1A"/>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rtl="0" fontAlgn="ctr">
                        <a:buNone/>
                      </a:pPr>
                      <a:r>
                        <a:rPr lang="zh-CN" altLang="en-US" sz="1100" b="0" i="0" u="none" strike="noStrike" dirty="0">
                          <a:solidFill>
                            <a:srgbClr val="1D1D1A"/>
                          </a:solidFill>
                          <a:effectLst/>
                          <a:latin typeface="微软雅黑" charset="0"/>
                          <a:ea typeface="微软雅黑" charset="0"/>
                          <a:cs typeface="微软雅黑" charset="0"/>
                        </a:rPr>
                        <a:t>周期</a:t>
                      </a:r>
                      <a:r>
                        <a:rPr lang="en-US" altLang="zh-CN" sz="1100" b="0" i="0" u="none" strike="noStrike" dirty="0">
                          <a:solidFill>
                            <a:srgbClr val="1D1D1A"/>
                          </a:solidFill>
                          <a:effectLst/>
                          <a:latin typeface="微软雅黑" charset="0"/>
                          <a:ea typeface="微软雅黑" charset="0"/>
                          <a:cs typeface="微软雅黑" charset="0"/>
                        </a:rPr>
                        <a:t>3</a:t>
                      </a:r>
                      <a:r>
                        <a:rPr lang="zh-CN" altLang="en-US" sz="1100" b="0" i="0" u="none" strike="noStrike" dirty="0">
                          <a:solidFill>
                            <a:srgbClr val="1D1D1A"/>
                          </a:solidFill>
                          <a:effectLst/>
                          <a:latin typeface="微软雅黑" charset="0"/>
                          <a:ea typeface="微软雅黑" charset="0"/>
                          <a:cs typeface="微软雅黑" charset="0"/>
                        </a:rPr>
                        <a:t>天</a:t>
                      </a:r>
                    </a:p>
                  </a:txBody>
                  <a:tcPr marL="6348" marR="6348" marT="6348" marB="0" anchor="ctr">
                    <a:lnL w="3175" cap="flat" cmpd="sng" algn="ctr">
                      <a:solidFill>
                        <a:srgbClr val="1D1D1A"/>
                      </a:solidFill>
                      <a:prstDash val="solid"/>
                      <a:round/>
                      <a:headEnd type="none" w="med" len="med"/>
                      <a:tailEnd type="none" w="med" len="med"/>
                    </a:lnL>
                    <a:lnR w="3175" cap="flat" cmpd="sng" algn="ctr">
                      <a:solidFill>
                        <a:srgbClr val="1D1D1A"/>
                      </a:solidFill>
                      <a:prstDash val="solid"/>
                      <a:round/>
                      <a:headEnd type="none" w="med" len="med"/>
                      <a:tailEnd type="none" w="med" len="med"/>
                    </a:lnR>
                    <a:lnT w="3175" cap="flat" cmpd="sng" algn="ctr">
                      <a:solidFill>
                        <a:srgbClr val="1D1D1A"/>
                      </a:solidFill>
                      <a:prstDash val="solid"/>
                      <a:round/>
                      <a:headEnd type="none" w="med" len="med"/>
                      <a:tailEnd type="none" w="med" len="med"/>
                    </a:lnT>
                    <a:lnB w="3175" cap="flat" cmpd="sng" algn="ctr">
                      <a:solidFill>
                        <a:srgbClr val="1D1D1A"/>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rtl="0" fontAlgn="ctr">
                        <a:buNone/>
                      </a:pPr>
                      <a:r>
                        <a:rPr lang="zh-CN" altLang="en-US" sz="1000" dirty="0">
                          <a:solidFill>
                            <a:srgbClr val="C00000"/>
                          </a:solidFill>
                          <a:effectLst/>
                          <a:latin typeface="微软雅黑" charset="0"/>
                          <a:ea typeface="微软雅黑" charset="0"/>
                          <a:cs typeface="微软雅黑" charset="0"/>
                          <a:sym typeface="+mn-ea"/>
                        </a:rPr>
                        <a:t>周期</a:t>
                      </a:r>
                      <a:r>
                        <a:rPr lang="en-US" altLang="zh-CN" sz="1000" dirty="0">
                          <a:solidFill>
                            <a:srgbClr val="C00000"/>
                          </a:solidFill>
                          <a:effectLst/>
                          <a:latin typeface="微软雅黑" charset="0"/>
                          <a:ea typeface="微软雅黑" charset="0"/>
                          <a:cs typeface="微软雅黑" charset="0"/>
                          <a:sym typeface="+mn-ea"/>
                        </a:rPr>
                        <a:t>1</a:t>
                      </a:r>
                      <a:r>
                        <a:rPr lang="zh-CN" altLang="en-US" sz="1000" dirty="0">
                          <a:solidFill>
                            <a:srgbClr val="C00000"/>
                          </a:solidFill>
                          <a:effectLst/>
                          <a:latin typeface="微软雅黑" charset="0"/>
                          <a:ea typeface="微软雅黑" charset="0"/>
                          <a:cs typeface="微软雅黑" charset="0"/>
                          <a:sym typeface="+mn-ea"/>
                        </a:rPr>
                        <a:t>天</a:t>
                      </a:r>
                      <a:endParaRPr lang="zh-CN" altLang="en-US" sz="1000" b="0" i="0" u="none" strike="noStrike" dirty="0">
                        <a:solidFill>
                          <a:srgbClr val="C00000"/>
                        </a:solidFill>
                        <a:effectLst/>
                        <a:latin typeface="微软雅黑" charset="0"/>
                        <a:ea typeface="微软雅黑" charset="0"/>
                        <a:cs typeface="微软雅黑" charset="0"/>
                        <a:sym typeface="+mn-ea"/>
                      </a:endParaRPr>
                    </a:p>
                  </a:txBody>
                  <a:tcPr marL="6348" marR="6348" marT="6348" marB="0" anchor="ctr">
                    <a:lnL w="3175" cap="flat" cmpd="sng" algn="ctr">
                      <a:solidFill>
                        <a:srgbClr val="1D1D1A"/>
                      </a:solidFill>
                      <a:prstDash val="solid"/>
                      <a:round/>
                      <a:headEnd type="none" w="med" len="med"/>
                      <a:tailEnd type="none" w="med" len="med"/>
                    </a:lnL>
                    <a:lnR w="3175" cap="flat" cmpd="sng" algn="ctr">
                      <a:solidFill>
                        <a:srgbClr val="1D1D1A"/>
                      </a:solidFill>
                      <a:prstDash val="solid"/>
                      <a:round/>
                      <a:headEnd type="none" w="med" len="med"/>
                      <a:tailEnd type="none" w="med" len="med"/>
                    </a:lnR>
                    <a:lnT w="3175" cap="flat" cmpd="sng" algn="ctr">
                      <a:solidFill>
                        <a:srgbClr val="1D1D1A"/>
                      </a:solidFill>
                      <a:prstDash val="solid"/>
                      <a:round/>
                      <a:headEnd type="none" w="med" len="med"/>
                      <a:tailEnd type="none" w="med" len="med"/>
                    </a:lnT>
                    <a:lnB w="3175" cap="flat" cmpd="sng" algn="ctr">
                      <a:solidFill>
                        <a:srgbClr val="1D1D1A"/>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rtl="0" fontAlgn="ctr">
                        <a:buNone/>
                      </a:pPr>
                      <a:endParaRPr lang="zh-CN" altLang="en-US" sz="1000" b="0" i="0" u="none" strike="noStrike" dirty="0">
                        <a:solidFill>
                          <a:srgbClr val="C00000"/>
                        </a:solidFill>
                        <a:effectLst/>
                        <a:latin typeface="微软雅黑" charset="0"/>
                        <a:ea typeface="微软雅黑" charset="0"/>
                        <a:cs typeface="微软雅黑" charset="0"/>
                      </a:endParaRPr>
                    </a:p>
                  </a:txBody>
                  <a:tcPr marL="6348" marR="6348" marT="6348" marB="0" anchor="ctr">
                    <a:lnL w="3175" cap="flat" cmpd="sng" algn="ctr">
                      <a:solidFill>
                        <a:srgbClr val="1D1D1A"/>
                      </a:solidFill>
                      <a:prstDash val="solid"/>
                      <a:round/>
                      <a:headEnd type="none" w="med" len="med"/>
                      <a:tailEnd type="none" w="med" len="med"/>
                    </a:lnL>
                    <a:lnR w="3175" cap="flat" cmpd="sng" algn="ctr">
                      <a:solidFill>
                        <a:srgbClr val="1D1D1A"/>
                      </a:solidFill>
                      <a:prstDash val="solid"/>
                      <a:round/>
                      <a:headEnd type="none" w="med" len="med"/>
                      <a:tailEnd type="none" w="med" len="med"/>
                    </a:lnR>
                    <a:lnT w="3175" cap="flat" cmpd="sng" algn="ctr">
                      <a:solidFill>
                        <a:srgbClr val="1D1D1A"/>
                      </a:solidFill>
                      <a:prstDash val="solid"/>
                      <a:round/>
                      <a:headEnd type="none" w="med" len="med"/>
                      <a:tailEnd type="none" w="med" len="med"/>
                    </a:lnT>
                    <a:lnB w="3175" cap="flat" cmpd="sng" algn="ctr">
                      <a:solidFill>
                        <a:srgbClr val="1D1D1A"/>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l" rtl="0" fontAlgn="ctr">
                        <a:buNone/>
                      </a:pPr>
                      <a:r>
                        <a:rPr lang="zh-CN" altLang="en-US" sz="1000" b="1" kern="0" noProof="0" dirty="0">
                          <a:ln>
                            <a:noFill/>
                          </a:ln>
                          <a:solidFill>
                            <a:prstClr val="black"/>
                          </a:solidFill>
                          <a:effectLst/>
                          <a:uLnTx/>
                          <a:uFillTx/>
                          <a:latin typeface="微软雅黑" charset="0"/>
                          <a:ea typeface="微软雅黑" charset="0"/>
                          <a:cs typeface="微软雅黑" charset="0"/>
                          <a:sym typeface="+mn-ea"/>
                        </a:rPr>
                        <a:t>【优先级高】</a:t>
                      </a:r>
                      <a:r>
                        <a:rPr lang="zh-CN" altLang="en-US" sz="1000" b="1" dirty="0">
                          <a:solidFill>
                            <a:srgbClr val="000000"/>
                          </a:solidFill>
                          <a:effectLst/>
                          <a:latin typeface="微软雅黑" charset="0"/>
                          <a:ea typeface="微软雅黑" charset="0"/>
                          <a:cs typeface="微软雅黑" charset="0"/>
                        </a:rPr>
                        <a:t>开局安装部署：</a:t>
                      </a:r>
                      <a:r>
                        <a:rPr lang="zh-CN" altLang="en-US" sz="1000" b="0" dirty="0">
                          <a:solidFill>
                            <a:srgbClr val="000000"/>
                          </a:solidFill>
                          <a:effectLst/>
                          <a:latin typeface="微软雅黑" charset="0"/>
                          <a:ea typeface="微软雅黑" charset="0"/>
                          <a:cs typeface="微软雅黑" charset="0"/>
                        </a:rPr>
                        <a:t>存在维护配置参数易用性的不足 </a:t>
                      </a:r>
                    </a:p>
                    <a:p>
                      <a:pPr algn="l" rtl="0" fontAlgn="ctr">
                        <a:buNone/>
                      </a:pPr>
                      <a:r>
                        <a:rPr lang="zh-CN" altLang="en-US" sz="1000" b="1" dirty="0">
                          <a:solidFill>
                            <a:srgbClr val="C00000"/>
                          </a:solidFill>
                          <a:effectLst/>
                          <a:latin typeface="微软雅黑" charset="0"/>
                          <a:ea typeface="微软雅黑" charset="0"/>
                          <a:cs typeface="微软雅黑" charset="0"/>
                        </a:rPr>
                        <a:t>应对措施：</a:t>
                      </a:r>
                      <a:r>
                        <a:rPr lang="zh-CN" altLang="en-US" sz="1000" b="0" dirty="0">
                          <a:solidFill>
                            <a:srgbClr val="000000"/>
                          </a:solidFill>
                          <a:effectLst/>
                          <a:latin typeface="微软雅黑" charset="0"/>
                          <a:ea typeface="微软雅黑" charset="0"/>
                          <a:cs typeface="微软雅黑" charset="0"/>
                        </a:rPr>
                        <a:t>安装部署配置参数优化 &amp; 一键式拉起 等改进</a:t>
                      </a:r>
                      <a:endParaRPr lang="zh-CN" altLang="en-US" sz="1000" b="0" i="0" u="none" strike="noStrike" dirty="0">
                        <a:solidFill>
                          <a:srgbClr val="000000"/>
                        </a:solidFill>
                        <a:effectLst/>
                        <a:latin typeface="微软雅黑" charset="0"/>
                        <a:ea typeface="微软雅黑" charset="0"/>
                        <a:cs typeface="微软雅黑" charset="0"/>
                      </a:endParaRPr>
                    </a:p>
                  </a:txBody>
                  <a:tcPr marL="6348" marR="6348" marT="6348" marB="0" anchor="ctr">
                    <a:lnL w="3175" cap="flat" cmpd="sng" algn="ctr">
                      <a:solidFill>
                        <a:srgbClr val="1D1D1A"/>
                      </a:solidFill>
                      <a:prstDash val="solid"/>
                      <a:round/>
                      <a:headEnd type="none" w="med" len="med"/>
                      <a:tailEnd type="none" w="med" len="med"/>
                    </a:lnL>
                    <a:lnR w="3175" cap="flat" cmpd="sng" algn="ctr">
                      <a:solidFill>
                        <a:srgbClr val="1D1D1A"/>
                      </a:solidFill>
                      <a:prstDash val="solid"/>
                      <a:round/>
                      <a:headEnd type="none" w="med" len="med"/>
                      <a:tailEnd type="none" w="med" len="med"/>
                    </a:lnR>
                    <a:lnT w="3175" cap="flat" cmpd="sng" algn="ctr">
                      <a:solidFill>
                        <a:srgbClr val="1D1D1A"/>
                      </a:solidFill>
                      <a:prstDash val="solid"/>
                      <a:round/>
                      <a:headEnd type="none" w="med" len="med"/>
                      <a:tailEnd type="none" w="med" len="med"/>
                    </a:lnT>
                    <a:lnB w="3175" cap="flat" cmpd="sng" algn="ctr">
                      <a:solidFill>
                        <a:srgbClr val="1D1D1A"/>
                      </a:solid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0008"/>
                  </a:ext>
                </a:extLst>
              </a:tr>
              <a:tr h="193040">
                <a:tc>
                  <a:txBody>
                    <a:bodyPr/>
                    <a:lstStyle/>
                    <a:p>
                      <a:pPr algn="ctr" rtl="0" fontAlgn="ctr">
                        <a:buNone/>
                      </a:pPr>
                      <a:r>
                        <a:rPr lang="zh-CN" altLang="en-US" sz="1100" b="1" i="0" u="none" strike="noStrike" dirty="0">
                          <a:solidFill>
                            <a:srgbClr val="1D1D1A"/>
                          </a:solidFill>
                          <a:effectLst/>
                          <a:latin typeface="微软雅黑" charset="0"/>
                          <a:ea typeface="微软雅黑" charset="0"/>
                          <a:cs typeface="微软雅黑" charset="0"/>
                        </a:rPr>
                        <a:t>总计耗时</a:t>
                      </a:r>
                      <a:endParaRPr lang="en-US" altLang="en-US" sz="1100" b="1" i="0" u="none" strike="noStrike" dirty="0">
                        <a:solidFill>
                          <a:srgbClr val="1D1D1A"/>
                        </a:solidFill>
                        <a:effectLst/>
                        <a:latin typeface="微软雅黑" charset="0"/>
                        <a:ea typeface="微软雅黑" charset="0"/>
                        <a:cs typeface="微软雅黑" charset="0"/>
                      </a:endParaRPr>
                    </a:p>
                  </a:txBody>
                  <a:tcPr marL="6348" marR="6348" marT="6348" marB="0" anchor="ctr">
                    <a:lnL w="3175" cap="flat" cmpd="sng" algn="ctr">
                      <a:solidFill>
                        <a:srgbClr val="1D1D1A"/>
                      </a:solidFill>
                      <a:prstDash val="solid"/>
                      <a:round/>
                      <a:headEnd type="none" w="med" len="med"/>
                      <a:tailEnd type="none" w="med" len="med"/>
                    </a:lnL>
                    <a:lnR w="3175" cap="flat" cmpd="sng" algn="ctr">
                      <a:solidFill>
                        <a:srgbClr val="1D1D1A"/>
                      </a:solidFill>
                      <a:prstDash val="solid"/>
                      <a:round/>
                      <a:headEnd type="none" w="med" len="med"/>
                      <a:tailEnd type="none" w="med" len="med"/>
                    </a:lnR>
                    <a:lnT w="3175" cap="flat" cmpd="sng" algn="ctr">
                      <a:solidFill>
                        <a:srgbClr val="1D1D1A"/>
                      </a:solidFill>
                      <a:prstDash val="solid"/>
                      <a:round/>
                      <a:headEnd type="none" w="med" len="med"/>
                      <a:tailEnd type="none" w="med" len="med"/>
                    </a:lnT>
                    <a:lnB w="3175" cap="flat" cmpd="sng" algn="ctr">
                      <a:solidFill>
                        <a:srgbClr val="1D1D1A"/>
                      </a:solidFill>
                      <a:prstDash val="solid"/>
                      <a:round/>
                      <a:headEnd type="none" w="med" len="med"/>
                      <a:tailEnd type="none" w="med" len="med"/>
                    </a:lnB>
                    <a:lnTlToBr w="12700" cmpd="sng">
                      <a:noFill/>
                      <a:prstDash val="solid"/>
                    </a:lnTlToBr>
                    <a:lnBlToTr w="12700" cmpd="sng">
                      <a:noFill/>
                      <a:prstDash val="solid"/>
                    </a:lnBlToTr>
                    <a:solidFill>
                      <a:srgbClr val="FFF2CC">
                        <a:alpha val="100000"/>
                      </a:srgbClr>
                    </a:solidFill>
                  </a:tcPr>
                </a:tc>
                <a:tc>
                  <a:txBody>
                    <a:bodyPr/>
                    <a:lstStyle/>
                    <a:p>
                      <a:pPr algn="ctr" rtl="0" fontAlgn="ctr">
                        <a:buNone/>
                      </a:pPr>
                      <a:r>
                        <a:rPr lang="en-US" altLang="zh-CN" sz="1000" b="0" i="0" u="none" strike="noStrike" dirty="0">
                          <a:solidFill>
                            <a:srgbClr val="1D1D1A"/>
                          </a:solidFill>
                          <a:effectLst/>
                          <a:latin typeface="微软雅黑" charset="0"/>
                          <a:ea typeface="微软雅黑" charset="0"/>
                          <a:cs typeface="微软雅黑" charset="0"/>
                        </a:rPr>
                        <a:t>171</a:t>
                      </a:r>
                      <a:r>
                        <a:rPr lang="zh-CN" altLang="en-US" sz="1000" b="0" i="0" u="none" strike="noStrike" dirty="0">
                          <a:solidFill>
                            <a:srgbClr val="1D1D1A"/>
                          </a:solidFill>
                          <a:effectLst/>
                          <a:latin typeface="微软雅黑" charset="0"/>
                          <a:ea typeface="微软雅黑" charset="0"/>
                          <a:cs typeface="微软雅黑" charset="0"/>
                        </a:rPr>
                        <a:t>天</a:t>
                      </a:r>
                    </a:p>
                  </a:txBody>
                  <a:tcPr marL="6348" marR="6348" marT="6348" marB="0" anchor="ctr">
                    <a:lnL w="3175" cap="flat" cmpd="sng" algn="ctr">
                      <a:solidFill>
                        <a:srgbClr val="1D1D1A"/>
                      </a:solidFill>
                      <a:prstDash val="solid"/>
                      <a:round/>
                      <a:headEnd type="none" w="med" len="med"/>
                      <a:tailEnd type="none" w="med" len="med"/>
                    </a:lnL>
                    <a:lnR w="3175" cap="flat" cmpd="sng" algn="ctr">
                      <a:solidFill>
                        <a:srgbClr val="1D1D1A"/>
                      </a:solidFill>
                      <a:prstDash val="solid"/>
                      <a:round/>
                      <a:headEnd type="none" w="med" len="med"/>
                      <a:tailEnd type="none" w="med" len="med"/>
                    </a:lnR>
                    <a:lnT w="3175" cap="flat" cmpd="sng" algn="ctr">
                      <a:solidFill>
                        <a:srgbClr val="1D1D1A"/>
                      </a:solidFill>
                      <a:prstDash val="solid"/>
                      <a:round/>
                      <a:headEnd type="none" w="med" len="med"/>
                      <a:tailEnd type="none" w="med" len="med"/>
                    </a:lnT>
                    <a:lnB w="3175" cap="flat" cmpd="sng" algn="ctr">
                      <a:solidFill>
                        <a:srgbClr val="1D1D1A"/>
                      </a:solidFill>
                      <a:prstDash val="solid"/>
                      <a:round/>
                      <a:headEnd type="none" w="med" len="med"/>
                      <a:tailEnd type="none" w="med" len="med"/>
                    </a:lnB>
                    <a:lnTlToBr w="12700" cmpd="sng">
                      <a:noFill/>
                      <a:prstDash val="solid"/>
                    </a:lnTlToBr>
                    <a:lnBlToTr w="12700" cmpd="sng">
                      <a:noFill/>
                      <a:prstDash val="solid"/>
                    </a:lnBlToTr>
                    <a:solidFill>
                      <a:srgbClr val="FFF2CC">
                        <a:alpha val="100000"/>
                      </a:srgbClr>
                    </a:solidFill>
                  </a:tcPr>
                </a:tc>
                <a:tc>
                  <a:txBody>
                    <a:bodyPr/>
                    <a:lstStyle/>
                    <a:p>
                      <a:pPr algn="ctr" rtl="0" fontAlgn="ctr">
                        <a:buNone/>
                      </a:pPr>
                      <a:r>
                        <a:rPr lang="en-US" altLang="zh-CN" sz="1000" b="0" i="0" u="none" strike="noStrike" dirty="0">
                          <a:solidFill>
                            <a:srgbClr val="C00000"/>
                          </a:solidFill>
                          <a:effectLst/>
                          <a:latin typeface="微软雅黑" charset="0"/>
                          <a:ea typeface="微软雅黑" charset="0"/>
                          <a:cs typeface="微软雅黑" charset="0"/>
                        </a:rPr>
                        <a:t>54</a:t>
                      </a:r>
                      <a:r>
                        <a:rPr lang="zh-CN" altLang="en-US" sz="1000" b="0" i="0" u="none" strike="noStrike" dirty="0">
                          <a:solidFill>
                            <a:srgbClr val="C00000"/>
                          </a:solidFill>
                          <a:effectLst/>
                          <a:latin typeface="微软雅黑" charset="0"/>
                          <a:ea typeface="微软雅黑" charset="0"/>
                          <a:cs typeface="微软雅黑" charset="0"/>
                        </a:rPr>
                        <a:t>天</a:t>
                      </a:r>
                    </a:p>
                  </a:txBody>
                  <a:tcPr marL="6348" marR="6348" marT="6348" marB="0" anchor="ctr">
                    <a:lnL w="3175" cap="flat" cmpd="sng" algn="ctr">
                      <a:solidFill>
                        <a:srgbClr val="1D1D1A"/>
                      </a:solidFill>
                      <a:prstDash val="solid"/>
                      <a:round/>
                      <a:headEnd type="none" w="med" len="med"/>
                      <a:tailEnd type="none" w="med" len="med"/>
                    </a:lnL>
                    <a:lnR w="3175" cap="flat" cmpd="sng" algn="ctr">
                      <a:solidFill>
                        <a:srgbClr val="1D1D1A"/>
                      </a:solidFill>
                      <a:prstDash val="solid"/>
                      <a:round/>
                      <a:headEnd type="none" w="med" len="med"/>
                      <a:tailEnd type="none" w="med" len="med"/>
                    </a:lnR>
                    <a:lnT w="3175" cap="flat" cmpd="sng" algn="ctr">
                      <a:solidFill>
                        <a:srgbClr val="1D1D1A"/>
                      </a:solidFill>
                      <a:prstDash val="solid"/>
                      <a:round/>
                      <a:headEnd type="none" w="med" len="med"/>
                      <a:tailEnd type="none" w="med" len="med"/>
                    </a:lnT>
                    <a:lnB w="3175" cap="flat" cmpd="sng" algn="ctr">
                      <a:solidFill>
                        <a:srgbClr val="1D1D1A"/>
                      </a:solidFill>
                      <a:prstDash val="solid"/>
                      <a:round/>
                      <a:headEnd type="none" w="med" len="med"/>
                      <a:tailEnd type="none" w="med" len="med"/>
                    </a:lnB>
                    <a:lnTlToBr w="12700" cmpd="sng">
                      <a:noFill/>
                      <a:prstDash val="solid"/>
                    </a:lnTlToBr>
                    <a:lnBlToTr w="12700" cmpd="sng">
                      <a:noFill/>
                      <a:prstDash val="solid"/>
                    </a:lnBlToTr>
                    <a:solidFill>
                      <a:srgbClr val="FFF2CC">
                        <a:alpha val="100000"/>
                      </a:srgbClr>
                    </a:solidFill>
                  </a:tcPr>
                </a:tc>
                <a:tc gridSpan="2">
                  <a:txBody>
                    <a:bodyPr/>
                    <a:lstStyle/>
                    <a:p>
                      <a:pPr algn="ctr" rtl="0" fontAlgn="ctr">
                        <a:buNone/>
                      </a:pPr>
                      <a:r>
                        <a:rPr lang="zh-CN" altLang="en-US" sz="1200" b="1" dirty="0">
                          <a:solidFill>
                            <a:srgbClr val="000000"/>
                          </a:solidFill>
                          <a:latin typeface="微软雅黑" panose="020B0503020204020204" pitchFamily="34" charset="-122"/>
                          <a:ea typeface="微软雅黑" panose="020B0503020204020204" pitchFamily="34" charset="-122"/>
                          <a:sym typeface="Arial" panose="020B0604020202020204"/>
                        </a:rPr>
                        <a:t>相比</a:t>
                      </a:r>
                      <a:r>
                        <a:rPr lang="en-US" altLang="zh-CN" sz="1200" b="1" dirty="0">
                          <a:solidFill>
                            <a:srgbClr val="000000"/>
                          </a:solidFill>
                          <a:latin typeface="微软雅黑" panose="020B0503020204020204" pitchFamily="34" charset="-122"/>
                          <a:ea typeface="微软雅黑" panose="020B0503020204020204" pitchFamily="34" charset="-122"/>
                          <a:sym typeface="Arial" panose="020B0604020202020204"/>
                        </a:rPr>
                        <a:t>DS  V3</a:t>
                      </a:r>
                      <a:r>
                        <a:rPr lang="zh-CN" altLang="en-US" sz="1200" b="1" dirty="0">
                          <a:solidFill>
                            <a:srgbClr val="000000"/>
                          </a:solidFill>
                          <a:latin typeface="微软雅黑" panose="020B0503020204020204" pitchFamily="34" charset="-122"/>
                          <a:ea typeface="微软雅黑" panose="020B0503020204020204" pitchFamily="34" charset="-122"/>
                          <a:sym typeface="Arial" panose="020B0604020202020204"/>
                        </a:rPr>
                        <a:t>由</a:t>
                      </a:r>
                      <a:r>
                        <a:rPr lang="en-US" altLang="zh-CN" sz="1200" b="1" dirty="0">
                          <a:solidFill>
                            <a:srgbClr val="000000"/>
                          </a:solidFill>
                          <a:latin typeface="微软雅黑" panose="020B0503020204020204" pitchFamily="34" charset="-122"/>
                          <a:ea typeface="微软雅黑" panose="020B0503020204020204" pitchFamily="34" charset="-122"/>
                          <a:sym typeface="Arial" panose="020B0604020202020204"/>
                        </a:rPr>
                        <a:t>3-4</a:t>
                      </a:r>
                      <a:r>
                        <a:rPr lang="zh-CN" altLang="en-US" sz="1200" b="1" dirty="0">
                          <a:solidFill>
                            <a:srgbClr val="000000"/>
                          </a:solidFill>
                          <a:latin typeface="微软雅黑" panose="020B0503020204020204" pitchFamily="34" charset="-122"/>
                          <a:ea typeface="微软雅黑" panose="020B0503020204020204" pitchFamily="34" charset="-122"/>
                          <a:sym typeface="Arial" panose="020B0604020202020204"/>
                        </a:rPr>
                        <a:t>月缩短到</a:t>
                      </a:r>
                      <a:r>
                        <a:rPr lang="en-US" altLang="zh-CN" sz="1200" b="1" dirty="0">
                          <a:solidFill>
                            <a:srgbClr val="000000"/>
                          </a:solidFill>
                          <a:latin typeface="微软雅黑" panose="020B0503020204020204" pitchFamily="34" charset="-122"/>
                          <a:ea typeface="微软雅黑" panose="020B0503020204020204" pitchFamily="34" charset="-122"/>
                          <a:sym typeface="Arial" panose="020B0604020202020204"/>
                        </a:rPr>
                        <a:t>4-5</a:t>
                      </a:r>
                      <a:r>
                        <a:rPr lang="zh-CN" altLang="en-US" sz="1200" b="1" dirty="0">
                          <a:solidFill>
                            <a:srgbClr val="000000"/>
                          </a:solidFill>
                          <a:latin typeface="微软雅黑" panose="020B0503020204020204" pitchFamily="34" charset="-122"/>
                          <a:ea typeface="微软雅黑" panose="020B0503020204020204" pitchFamily="34" charset="-122"/>
                          <a:sym typeface="Arial" panose="020B0604020202020204"/>
                        </a:rPr>
                        <a:t>周，适配周期显著缩短</a:t>
                      </a:r>
                      <a:endParaRPr lang="zh-CN" altLang="en-US" sz="1200" b="1" i="0" u="none" strike="noStrike" dirty="0">
                        <a:solidFill>
                          <a:srgbClr val="000000"/>
                        </a:solidFill>
                        <a:effectLst/>
                        <a:latin typeface="微软雅黑" panose="020B0503020204020204" pitchFamily="34" charset="-122"/>
                        <a:ea typeface="微软雅黑" panose="020B0503020204020204" pitchFamily="34" charset="-122"/>
                        <a:cs typeface="微软雅黑" charset="0"/>
                        <a:sym typeface="Arial" panose="020B0604020202020204"/>
                      </a:endParaRPr>
                    </a:p>
                  </a:txBody>
                  <a:tcPr marL="6348" marR="6348" marT="6348" marB="0" anchor="ctr">
                    <a:lnL w="3175" cap="flat" cmpd="sng" algn="ctr">
                      <a:solidFill>
                        <a:srgbClr val="1D1D1A"/>
                      </a:solidFill>
                      <a:prstDash val="solid"/>
                      <a:round/>
                      <a:headEnd type="none" w="med" len="med"/>
                      <a:tailEnd type="none" w="med" len="med"/>
                    </a:lnL>
                    <a:lnR w="3175" cap="flat" cmpd="sng" algn="ctr">
                      <a:solidFill>
                        <a:srgbClr val="1D1D1A"/>
                      </a:solidFill>
                      <a:prstDash val="solid"/>
                      <a:round/>
                      <a:headEnd type="none" w="med" len="med"/>
                      <a:tailEnd type="none" w="med" len="med"/>
                    </a:lnR>
                    <a:lnT w="3175" cap="flat" cmpd="sng" algn="ctr">
                      <a:solidFill>
                        <a:srgbClr val="1D1D1A"/>
                      </a:solidFill>
                      <a:prstDash val="solid"/>
                      <a:round/>
                      <a:headEnd type="none" w="med" len="med"/>
                      <a:tailEnd type="none" w="med" len="med"/>
                    </a:lnT>
                    <a:lnB w="3175" cap="flat" cmpd="sng" algn="ctr">
                      <a:solidFill>
                        <a:srgbClr val="1D1D1A"/>
                      </a:solidFill>
                      <a:prstDash val="solid"/>
                      <a:round/>
                      <a:headEnd type="none" w="med" len="med"/>
                      <a:tailEnd type="none" w="med" len="med"/>
                    </a:lnB>
                    <a:lnTlToBr w="12700" cmpd="sng">
                      <a:noFill/>
                      <a:prstDash val="solid"/>
                    </a:lnTlToBr>
                    <a:lnBlToTr w="12700" cmpd="sng">
                      <a:noFill/>
                      <a:prstDash val="solid"/>
                    </a:lnBlToTr>
                    <a:solidFill>
                      <a:srgbClr val="FFF2CC">
                        <a:alpha val="100000"/>
                      </a:srgbClr>
                    </a:solidFill>
                  </a:tcPr>
                </a:tc>
                <a:tc hMerge="1">
                  <a:txBody>
                    <a:bodyPr/>
                    <a:lstStyle/>
                    <a:p>
                      <a:endParaRPr lang="zh-CN"/>
                    </a:p>
                  </a:txBody>
                  <a:tcPr marL="6348" marR="6348" marT="6348" marB="0" anchor="ctr">
                    <a:lnL w="3175" cap="flat" cmpd="sng" algn="ctr">
                      <a:solidFill>
                        <a:srgbClr val="1D1D1A"/>
                      </a:solidFill>
                      <a:prstDash val="solid"/>
                      <a:round/>
                      <a:headEnd type="none" w="med" len="med"/>
                      <a:tailEnd type="none" w="med" len="med"/>
                    </a:lnL>
                    <a:lnR w="3175" cap="flat" cmpd="sng" algn="ctr">
                      <a:solidFill>
                        <a:srgbClr val="1D1D1A"/>
                      </a:solidFill>
                      <a:prstDash val="solid"/>
                      <a:round/>
                      <a:headEnd type="none" w="med" len="med"/>
                      <a:tailEnd type="none" w="med" len="med"/>
                    </a:lnR>
                    <a:lnT w="3175" cap="flat" cmpd="sng" algn="ctr">
                      <a:solidFill>
                        <a:srgbClr val="1D1D1A"/>
                      </a:solidFill>
                      <a:prstDash val="solid"/>
                      <a:round/>
                      <a:headEnd type="none" w="med" len="med"/>
                      <a:tailEnd type="none" w="med" len="med"/>
                    </a:lnT>
                    <a:lnB w="3175" cap="flat" cmpd="sng" algn="ctr">
                      <a:solidFill>
                        <a:srgbClr val="1D1D1A"/>
                      </a:solidFill>
                      <a:prstDash val="solid"/>
                      <a:round/>
                      <a:headEnd type="none" w="med" len="med"/>
                      <a:tailEnd type="none" w="med" len="med"/>
                    </a:lnB>
                    <a:lnTlToBr w="12700" cmpd="sng">
                      <a:noFill/>
                      <a:prstDash val="solid"/>
                    </a:lnTlToBr>
                    <a:lnBlToTr w="12700" cmpd="sng">
                      <a:noFill/>
                      <a:prstDash val="solid"/>
                    </a:lnBlToTr>
                    <a:solidFill>
                      <a:srgbClr val="FFF2CC">
                        <a:alpha val="100000"/>
                      </a:srgbClr>
                    </a:solidFill>
                  </a:tcPr>
                </a:tc>
                <a:extLst>
                  <a:ext uri="{0D108BD9-81ED-4DB2-BD59-A6C34878D82A}">
                    <a16:rowId xmlns:a16="http://schemas.microsoft.com/office/drawing/2014/main" val="10009"/>
                  </a:ext>
                </a:extLst>
              </a:tr>
            </a:tbl>
          </a:graphicData>
        </a:graphic>
      </p:graphicFrame>
      <p:sp>
        <p:nvSpPr>
          <p:cNvPr id="59" name="文本框 58"/>
          <p:cNvSpPr txBox="1"/>
          <p:nvPr/>
        </p:nvSpPr>
        <p:spPr>
          <a:xfrm>
            <a:off x="135824" y="588645"/>
            <a:ext cx="681013" cy="816837"/>
          </a:xfrm>
          <a:prstGeom prst="rect">
            <a:avLst/>
          </a:prstGeom>
          <a:solidFill>
            <a:srgbClr val="C00000"/>
          </a:solidFill>
        </p:spPr>
        <p:txBody>
          <a:bodyPr wrap="square" anchor="ctr" anchorCtr="0">
            <a:noAutofit/>
          </a:bodyPr>
          <a:lstStyle/>
          <a:p>
            <a:pPr marL="0" marR="0" lvl="0" indent="0" algn="ctr" defTabSz="1187450" rtl="0" eaLnBrk="1" fontAlgn="auto" latinLnBrk="0" hangingPunct="1">
              <a:lnSpc>
                <a:spcPts val="2200"/>
              </a:lnSpc>
              <a:spcBef>
                <a:spcPts val="0"/>
              </a:spcBef>
              <a:spcAft>
                <a:spcPts val="0"/>
              </a:spcAft>
              <a:buClrTx/>
              <a:buSzTx/>
              <a:buFontTx/>
              <a:buNone/>
              <a:defRPr/>
            </a:pPr>
            <a:r>
              <a:rPr lang="zh-CN" altLang="en-US" sz="1600" b="1" kern="0" dirty="0">
                <a:solidFill>
                  <a:srgbClr val="FFFFFF"/>
                </a:solidFill>
                <a:latin typeface="微软雅黑" panose="020B0503020204020204" pitchFamily="34" charset="-122"/>
                <a:ea typeface="微软雅黑" panose="020B0503020204020204" pitchFamily="34" charset="-122"/>
              </a:rPr>
              <a:t>关键进展</a:t>
            </a:r>
            <a:endParaRPr kumimoji="0" lang="zh-CN" altLang="en-US" sz="16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80" name="矩形 79"/>
          <p:cNvSpPr/>
          <p:nvPr/>
        </p:nvSpPr>
        <p:spPr>
          <a:xfrm>
            <a:off x="852030" y="588645"/>
            <a:ext cx="11202523" cy="816610"/>
          </a:xfrm>
          <a:prstGeom prst="rect">
            <a:avLst/>
          </a:prstGeom>
          <a:solidFill>
            <a:srgbClr val="F2F2F2">
              <a:alpha val="100000"/>
            </a:srgbClr>
          </a:solidFill>
          <a:ln w="6350" cmpd="sng">
            <a:noFill/>
            <a:prstDash val="solid"/>
            <a:miter lim="800000"/>
          </a:ln>
          <a:effectLst/>
        </p:spPr>
        <p:txBody>
          <a:bodyPr rtlCol="0" anchor="ctr"/>
          <a:lstStyle/>
          <a:p>
            <a:pPr marL="0" marR="0" lvl="0" indent="0" algn="l" defTabSz="913765" rtl="0" eaLnBrk="1" fontAlgn="auto" latinLnBrk="0" hangingPunct="1">
              <a:lnSpc>
                <a:spcPct val="100000"/>
              </a:lnSpc>
              <a:spcBef>
                <a:spcPts val="0"/>
              </a:spcBef>
              <a:spcAft>
                <a:spcPts val="0"/>
              </a:spcAft>
              <a:buClrTx/>
              <a:buSzTx/>
              <a:buFontTx/>
              <a:buNone/>
              <a:defRPr/>
            </a:pPr>
            <a:r>
              <a:rPr lang="zh-CN" altLang="en-US" sz="1200" dirty="0">
                <a:latin typeface="微软雅黑" panose="020B0503020204020204" pitchFamily="34" charset="-122"/>
                <a:ea typeface="微软雅黑" panose="020B0503020204020204" pitchFamily="34" charset="-122"/>
                <a:sym typeface="+mn-ea"/>
              </a:rPr>
              <a:t>1、DS V4 Flash模型在</a:t>
            </a:r>
            <a:r>
              <a:rPr lang="en-US" altLang="zh-CN" sz="1200" dirty="0">
                <a:latin typeface="微软雅黑" panose="020B0503020204020204" pitchFamily="34" charset="-122"/>
                <a:ea typeface="微软雅黑" panose="020B0503020204020204" pitchFamily="34" charset="-122"/>
                <a:sym typeface="Arial" panose="020B0604020202020204"/>
              </a:rPr>
              <a:t>A5 A3 A2 0Day</a:t>
            </a:r>
            <a:r>
              <a:rPr lang="zh-CN" altLang="en-US" sz="1200" dirty="0">
                <a:latin typeface="微软雅黑" panose="020B0503020204020204" pitchFamily="34" charset="-122"/>
                <a:ea typeface="微软雅黑" panose="020B0503020204020204" pitchFamily="34" charset="-122"/>
                <a:sym typeface="Arial" panose="020B0604020202020204"/>
              </a:rPr>
              <a:t>开箱，尤其</a:t>
            </a:r>
            <a:r>
              <a:rPr lang="en-US" altLang="zh-CN" sz="1200" dirty="0">
                <a:solidFill>
                  <a:srgbClr val="C00000"/>
                </a:solidFill>
                <a:latin typeface="微软雅黑" panose="020B0503020204020204" pitchFamily="34" charset="-122"/>
                <a:ea typeface="微软雅黑" panose="020B0503020204020204" pitchFamily="34" charset="-122"/>
                <a:sym typeface="Arial" panose="020B0604020202020204"/>
              </a:rPr>
              <a:t>A3 </a:t>
            </a:r>
            <a:r>
              <a:rPr lang="zh-CN" altLang="en-US" sz="1200" dirty="0">
                <a:solidFill>
                  <a:srgbClr val="C00000"/>
                </a:solidFill>
                <a:latin typeface="微软雅黑" panose="020B0503020204020204" pitchFamily="34" charset="-122"/>
                <a:ea typeface="微软雅黑" panose="020B0503020204020204" pitchFamily="34" charset="-122"/>
                <a:sym typeface="+mn-ea"/>
              </a:rPr>
              <a:t>PD分离场景0Day开箱即优，达到</a:t>
            </a:r>
            <a:r>
              <a:rPr lang="en-US" altLang="zh-CN" sz="1200" dirty="0">
                <a:solidFill>
                  <a:srgbClr val="C00000"/>
                </a:solidFill>
                <a:latin typeface="微软雅黑" panose="020B0503020204020204" pitchFamily="34" charset="-122"/>
                <a:ea typeface="微软雅黑" panose="020B0503020204020204" pitchFamily="34" charset="-122"/>
                <a:sym typeface="+mn-ea"/>
              </a:rPr>
              <a:t>0.8</a:t>
            </a:r>
            <a:r>
              <a:rPr lang="zh-CN" altLang="en-US" sz="1200" dirty="0">
                <a:solidFill>
                  <a:srgbClr val="C00000"/>
                </a:solidFill>
                <a:latin typeface="微软雅黑" panose="020B0503020204020204" pitchFamily="34" charset="-122"/>
                <a:ea typeface="微软雅黑" panose="020B0503020204020204" pitchFamily="34" charset="-122"/>
                <a:sym typeface="+mn-ea"/>
              </a:rPr>
              <a:t>倍理论性能</a:t>
            </a:r>
            <a:r>
              <a:rPr lang="zh-CN" altLang="en-US" sz="1200" dirty="0">
                <a:latin typeface="微软雅黑" panose="020B0503020204020204" pitchFamily="34" charset="-122"/>
                <a:ea typeface="微软雅黑" panose="020B0503020204020204" pitchFamily="34" charset="-122"/>
                <a:sym typeface="+mn-ea"/>
              </a:rPr>
              <a:t>，优于已获取竞品数据；DS V4 Flash模型在</a:t>
            </a:r>
            <a:r>
              <a:rPr lang="zh-CN" altLang="en-US" sz="1200" dirty="0">
                <a:solidFill>
                  <a:srgbClr val="C00000"/>
                </a:solidFill>
                <a:latin typeface="微软雅黑" panose="020B0503020204020204" pitchFamily="34" charset="-122"/>
                <a:ea typeface="微软雅黑" panose="020B0503020204020204" pitchFamily="34" charset="-122"/>
                <a:sym typeface="+mn-ea"/>
              </a:rPr>
              <a:t>A5 DT POD上8K/1K低时延10MS</a:t>
            </a:r>
            <a:endParaRPr lang="en-US" altLang="zh-CN" sz="1200" dirty="0">
              <a:solidFill>
                <a:srgbClr val="C00000"/>
              </a:solidFill>
              <a:latin typeface="微软雅黑" panose="020B0503020204020204" pitchFamily="34" charset="-122"/>
              <a:ea typeface="微软雅黑" panose="020B0503020204020204" pitchFamily="34" charset="-122"/>
            </a:endParaRPr>
          </a:p>
          <a:p>
            <a:pPr marL="0" marR="0" lvl="0" indent="0" algn="l" defTabSz="913765" rtl="0" eaLnBrk="1" fontAlgn="auto" latinLnBrk="0" hangingPunct="1">
              <a:lnSpc>
                <a:spcPct val="100000"/>
              </a:lnSpc>
              <a:spcBef>
                <a:spcPts val="0"/>
              </a:spcBef>
              <a:spcAft>
                <a:spcPts val="0"/>
              </a:spcAft>
              <a:buClrTx/>
              <a:buSzTx/>
              <a:buFontTx/>
              <a:buNone/>
              <a:defRPr/>
            </a:pPr>
            <a:r>
              <a:rPr lang="en-US" altLang="zh-CN" sz="1200" dirty="0">
                <a:latin typeface="微软雅黑" panose="020B0503020204020204" pitchFamily="34" charset="-122"/>
                <a:ea typeface="微软雅黑" panose="020B0503020204020204" pitchFamily="34" charset="-122"/>
                <a:sym typeface="+mn-ea"/>
              </a:rPr>
              <a:t>2</a:t>
            </a:r>
            <a:r>
              <a:rPr lang="zh-CN" altLang="en-US" sz="1200" dirty="0">
                <a:latin typeface="微软雅黑" panose="020B0503020204020204" pitchFamily="34" charset="-122"/>
                <a:ea typeface="微软雅黑" panose="020B0503020204020204" pitchFamily="34" charset="-122"/>
                <a:sym typeface="+mn-ea"/>
              </a:rPr>
              <a:t>、</a:t>
            </a:r>
            <a:r>
              <a:rPr lang="en-US" altLang="zh-CN" sz="1200" dirty="0">
                <a:latin typeface="微软雅黑" panose="020B0503020204020204" pitchFamily="34" charset="-122"/>
                <a:ea typeface="微软雅黑" panose="020B0503020204020204" pitchFamily="34" charset="-122"/>
                <a:sym typeface="Arial" panose="020B0604020202020204"/>
              </a:rPr>
              <a:t>2</a:t>
            </a:r>
            <a:r>
              <a:rPr lang="zh-CN" altLang="en-US" sz="1200" dirty="0">
                <a:latin typeface="微软雅黑" panose="020B0503020204020204" pitchFamily="34" charset="-122"/>
                <a:ea typeface="微软雅黑" panose="020B0503020204020204" pitchFamily="34" charset="-122"/>
                <a:sym typeface="Arial" panose="020B0604020202020204"/>
              </a:rPr>
              <a:t>周内完成版本迭代更新，已支持</a:t>
            </a:r>
            <a:r>
              <a:rPr lang="en-US" altLang="zh-CN" sz="1200" dirty="0">
                <a:latin typeface="微软雅黑" panose="020B0503020204020204" pitchFamily="34" charset="-122"/>
                <a:ea typeface="微软雅黑" panose="020B0503020204020204" pitchFamily="34" charset="-122"/>
                <a:sym typeface="Arial" panose="020B0604020202020204"/>
              </a:rPr>
              <a:t>DS V4 Pro</a:t>
            </a:r>
            <a:r>
              <a:rPr lang="zh-CN" altLang="en-US" sz="1200" dirty="0">
                <a:latin typeface="微软雅黑" panose="020B0503020204020204" pitchFamily="34" charset="-122"/>
                <a:ea typeface="微软雅黑" panose="020B0503020204020204" pitchFamily="34" charset="-122"/>
                <a:sym typeface="Arial" panose="020B0604020202020204"/>
              </a:rPr>
              <a:t>，已完善</a:t>
            </a:r>
            <a:r>
              <a:rPr lang="en-US" altLang="zh-CN" sz="1200" dirty="0">
                <a:latin typeface="微软雅黑" panose="020B0503020204020204" pitchFamily="34" charset="-122"/>
                <a:ea typeface="微软雅黑" panose="020B0503020204020204" pitchFamily="34" charset="-122"/>
                <a:sym typeface="Arial" panose="020B0604020202020204"/>
              </a:rPr>
              <a:t>Prefix Cache</a:t>
            </a:r>
            <a:r>
              <a:rPr lang="zh-CN" altLang="en-US" sz="1200" dirty="0">
                <a:latin typeface="微软雅黑" panose="020B0503020204020204" pitchFamily="34" charset="-122"/>
                <a:ea typeface="微软雅黑" panose="020B0503020204020204" pitchFamily="34" charset="-122"/>
                <a:sym typeface="Arial" panose="020B0604020202020204"/>
              </a:rPr>
              <a:t>及</a:t>
            </a:r>
            <a:r>
              <a:rPr lang="en-US" altLang="zh-CN" sz="1200" dirty="0">
                <a:latin typeface="微软雅黑" panose="020B0503020204020204" pitchFamily="34" charset="-122"/>
                <a:ea typeface="微软雅黑" panose="020B0503020204020204" pitchFamily="34" charset="-122"/>
                <a:sym typeface="Arial" panose="020B0604020202020204"/>
              </a:rPr>
              <a:t>Function Call</a:t>
            </a:r>
            <a:r>
              <a:rPr lang="zh-CN" altLang="en-US" sz="1200" dirty="0">
                <a:latin typeface="微软雅黑" panose="020B0503020204020204" pitchFamily="34" charset="-122"/>
                <a:ea typeface="微软雅黑" panose="020B0503020204020204" pitchFamily="34" charset="-122"/>
                <a:sym typeface="Arial" panose="020B0604020202020204"/>
              </a:rPr>
              <a:t>等能力</a:t>
            </a:r>
          </a:p>
          <a:p>
            <a:pPr marL="0" marR="0" lvl="0" indent="0" algn="l" defTabSz="913765" rtl="0" eaLnBrk="1" fontAlgn="auto" latinLnBrk="0" hangingPunct="1">
              <a:lnSpc>
                <a:spcPct val="100000"/>
              </a:lnSpc>
              <a:spcBef>
                <a:spcPts val="0"/>
              </a:spcBef>
              <a:spcAft>
                <a:spcPts val="0"/>
              </a:spcAft>
              <a:buClrTx/>
              <a:buSzTx/>
              <a:buFontTx/>
              <a:buNone/>
              <a:defRPr/>
            </a:pPr>
            <a:r>
              <a:rPr lang="en-US" altLang="zh-CN" sz="1200" dirty="0">
                <a:latin typeface="微软雅黑" panose="020B0503020204020204" pitchFamily="34" charset="-122"/>
                <a:ea typeface="微软雅黑" panose="020B0503020204020204" pitchFamily="34" charset="-122"/>
                <a:sym typeface="+mn-ea"/>
              </a:rPr>
              <a:t>3</a:t>
            </a:r>
            <a:r>
              <a:rPr lang="zh-CN" altLang="en-US" sz="1200" dirty="0">
                <a:latin typeface="微软雅黑" panose="020B0503020204020204" pitchFamily="34" charset="-122"/>
                <a:ea typeface="微软雅黑" panose="020B0503020204020204" pitchFamily="34" charset="-122"/>
                <a:sym typeface="+mn-ea"/>
              </a:rPr>
              <a:t>、开箱效率</a:t>
            </a:r>
            <a:r>
              <a:rPr lang="zh-CN" altLang="en-US" sz="1200" dirty="0">
                <a:solidFill>
                  <a:srgbClr val="C00000"/>
                </a:solidFill>
                <a:latin typeface="微软雅黑" panose="020B0503020204020204" pitchFamily="34" charset="-122"/>
                <a:ea typeface="微软雅黑" panose="020B0503020204020204" pitchFamily="34" charset="-122"/>
                <a:sym typeface="+mn-ea"/>
              </a:rPr>
              <a:t>相比</a:t>
            </a:r>
            <a:r>
              <a:rPr lang="en-US" altLang="zh-CN" sz="1200" dirty="0">
                <a:solidFill>
                  <a:srgbClr val="C00000"/>
                </a:solidFill>
                <a:latin typeface="微软雅黑" panose="020B0503020204020204" pitchFamily="34" charset="-122"/>
                <a:ea typeface="微软雅黑" panose="020B0503020204020204" pitchFamily="34" charset="-122"/>
                <a:sym typeface="Arial" panose="020B0604020202020204"/>
              </a:rPr>
              <a:t>DS  V3</a:t>
            </a:r>
            <a:r>
              <a:rPr lang="zh-CN" altLang="en-US" sz="1200" dirty="0">
                <a:solidFill>
                  <a:srgbClr val="C00000"/>
                </a:solidFill>
                <a:latin typeface="微软雅黑" panose="020B0503020204020204" pitchFamily="34" charset="-122"/>
                <a:ea typeface="微软雅黑" panose="020B0503020204020204" pitchFamily="34" charset="-122"/>
                <a:sym typeface="Arial" panose="020B0604020202020204"/>
              </a:rPr>
              <a:t>由</a:t>
            </a:r>
            <a:r>
              <a:rPr lang="en-US" altLang="zh-CN" sz="1200" dirty="0">
                <a:solidFill>
                  <a:srgbClr val="C00000"/>
                </a:solidFill>
                <a:latin typeface="微软雅黑" panose="020B0503020204020204" pitchFamily="34" charset="-122"/>
                <a:ea typeface="微软雅黑" panose="020B0503020204020204" pitchFamily="34" charset="-122"/>
                <a:sym typeface="Arial" panose="020B0604020202020204"/>
              </a:rPr>
              <a:t>3-4</a:t>
            </a:r>
            <a:r>
              <a:rPr lang="zh-CN" altLang="en-US" sz="1200" dirty="0">
                <a:solidFill>
                  <a:srgbClr val="C00000"/>
                </a:solidFill>
                <a:latin typeface="微软雅黑" panose="020B0503020204020204" pitchFamily="34" charset="-122"/>
                <a:ea typeface="微软雅黑" panose="020B0503020204020204" pitchFamily="34" charset="-122"/>
                <a:sym typeface="Arial" panose="020B0604020202020204"/>
              </a:rPr>
              <a:t>月</a:t>
            </a:r>
            <a:r>
              <a:rPr lang="en-US" altLang="zh-CN" sz="1200" dirty="0">
                <a:solidFill>
                  <a:srgbClr val="C00000"/>
                </a:solidFill>
                <a:latin typeface="微软雅黑" panose="020B0503020204020204" pitchFamily="34" charset="-122"/>
                <a:ea typeface="微软雅黑" panose="020B0503020204020204" pitchFamily="34" charset="-122"/>
                <a:sym typeface="Arial" panose="020B0604020202020204"/>
              </a:rPr>
              <a:t>(1000+</a:t>
            </a:r>
            <a:r>
              <a:rPr lang="zh-CN" altLang="en-US" sz="1200" dirty="0">
                <a:solidFill>
                  <a:srgbClr val="C00000"/>
                </a:solidFill>
                <a:latin typeface="微软雅黑" panose="020B0503020204020204" pitchFamily="34" charset="-122"/>
                <a:ea typeface="微软雅黑" panose="020B0503020204020204" pitchFamily="34" charset="-122"/>
                <a:sym typeface="Arial" panose="020B0604020202020204"/>
              </a:rPr>
              <a:t>人月</a:t>
            </a:r>
            <a:r>
              <a:rPr lang="en-US" altLang="zh-CN" sz="1200" dirty="0">
                <a:solidFill>
                  <a:srgbClr val="C00000"/>
                </a:solidFill>
                <a:latin typeface="微软雅黑" panose="020B0503020204020204" pitchFamily="34" charset="-122"/>
                <a:ea typeface="微软雅黑" panose="020B0503020204020204" pitchFamily="34" charset="-122"/>
                <a:sym typeface="Arial" panose="020B0604020202020204"/>
              </a:rPr>
              <a:t>)</a:t>
            </a:r>
            <a:r>
              <a:rPr lang="zh-CN" altLang="en-US" sz="1200" dirty="0">
                <a:solidFill>
                  <a:srgbClr val="C00000"/>
                </a:solidFill>
                <a:latin typeface="微软雅黑" panose="020B0503020204020204" pitchFamily="34" charset="-122"/>
                <a:ea typeface="微软雅黑" panose="020B0503020204020204" pitchFamily="34" charset="-122"/>
                <a:sym typeface="Arial" panose="020B0604020202020204"/>
              </a:rPr>
              <a:t>缩短到</a:t>
            </a:r>
            <a:r>
              <a:rPr lang="en-US" altLang="zh-CN" sz="1200" dirty="0">
                <a:solidFill>
                  <a:srgbClr val="C00000"/>
                </a:solidFill>
                <a:latin typeface="微软雅黑" panose="020B0503020204020204" pitchFamily="34" charset="-122"/>
                <a:ea typeface="微软雅黑" panose="020B0503020204020204" pitchFamily="34" charset="-122"/>
                <a:sym typeface="Arial" panose="020B0604020202020204"/>
              </a:rPr>
              <a:t>4-5</a:t>
            </a:r>
            <a:r>
              <a:rPr lang="zh-CN" altLang="en-US" sz="1200" dirty="0">
                <a:solidFill>
                  <a:srgbClr val="C00000"/>
                </a:solidFill>
                <a:latin typeface="微软雅黑" panose="020B0503020204020204" pitchFamily="34" charset="-122"/>
                <a:ea typeface="微软雅黑" panose="020B0503020204020204" pitchFamily="34" charset="-122"/>
                <a:sym typeface="Arial" panose="020B0604020202020204"/>
              </a:rPr>
              <a:t>周（</a:t>
            </a:r>
            <a:r>
              <a:rPr lang="en-US" altLang="zh-CN" sz="1200" dirty="0">
                <a:solidFill>
                  <a:srgbClr val="C00000"/>
                </a:solidFill>
                <a:latin typeface="微软雅黑" panose="020B0503020204020204" pitchFamily="34" charset="-122"/>
                <a:ea typeface="微软雅黑" panose="020B0503020204020204" pitchFamily="34" charset="-122"/>
                <a:sym typeface="Arial" panose="020B0604020202020204"/>
              </a:rPr>
              <a:t>40+</a:t>
            </a:r>
            <a:r>
              <a:rPr lang="zh-CN" altLang="en-US" sz="1200" dirty="0">
                <a:solidFill>
                  <a:srgbClr val="C00000"/>
                </a:solidFill>
                <a:latin typeface="微软雅黑" panose="020B0503020204020204" pitchFamily="34" charset="-122"/>
                <a:ea typeface="微软雅黑" panose="020B0503020204020204" pitchFamily="34" charset="-122"/>
                <a:sym typeface="Arial" panose="020B0604020202020204"/>
              </a:rPr>
              <a:t>人月）</a:t>
            </a:r>
            <a:r>
              <a:rPr lang="zh-CN" altLang="en-US" sz="1200" dirty="0">
                <a:latin typeface="微软雅黑" panose="020B0503020204020204" pitchFamily="34" charset="-122"/>
                <a:ea typeface="微软雅黑" panose="020B0503020204020204" pitchFamily="34" charset="-122"/>
                <a:sym typeface="Arial" panose="020B0604020202020204"/>
              </a:rPr>
              <a:t>，关键特性从被动追随适配到与社区首发共建，同时构筑</a:t>
            </a:r>
            <a:r>
              <a:rPr lang="en-US" altLang="zh-CN" sz="1200" dirty="0">
                <a:latin typeface="微软雅黑" panose="020B0503020204020204" pitchFamily="34" charset="-122"/>
                <a:ea typeface="微软雅黑" panose="020B0503020204020204" pitchFamily="34" charset="-122"/>
                <a:sym typeface="Arial" panose="020B0604020202020204"/>
              </a:rPr>
              <a:t>20+</a:t>
            </a:r>
            <a:r>
              <a:rPr lang="zh-CN" altLang="en-US" sz="1200" dirty="0">
                <a:latin typeface="微软雅黑" panose="020B0503020204020204" pitchFamily="34" charset="-122"/>
                <a:ea typeface="微软雅黑" panose="020B0503020204020204" pitchFamily="34" charset="-122"/>
                <a:sym typeface="Arial" panose="020B0604020202020204"/>
              </a:rPr>
              <a:t>融合算子释放硬件算力</a:t>
            </a:r>
            <a:endParaRPr kumimoji="0" lang="zh-CN" altLang="en-US" sz="1200" b="0" i="0" u="none" strike="noStrike" kern="0" cap="none" spc="0" normalizeH="0" baseline="0" noProof="0" dirty="0">
              <a:ln>
                <a:noFill/>
              </a:ln>
              <a:solidFill>
                <a:srgbClr val="666666"/>
              </a:solidFill>
              <a:effectLst/>
              <a:uLnTx/>
              <a:uFillTx/>
              <a:latin typeface="微软雅黑" panose="020B0503020204020204" pitchFamily="34" charset="-122"/>
              <a:ea typeface="微软雅黑" panose="020B0503020204020204" pitchFamily="34" charset="-122"/>
              <a:cs typeface="+mn-cs"/>
            </a:endParaRPr>
          </a:p>
        </p:txBody>
      </p:sp>
      <p:cxnSp>
        <p:nvCxnSpPr>
          <p:cNvPr id="13" name="直接箭头连接符 12"/>
          <p:cNvCxnSpPr/>
          <p:nvPr userDrawn="1"/>
        </p:nvCxnSpPr>
        <p:spPr>
          <a:xfrm>
            <a:off x="950595" y="1755775"/>
            <a:ext cx="10990580" cy="0"/>
          </a:xfrm>
          <a:prstGeom prst="straightConnector1">
            <a:avLst/>
          </a:prstGeom>
          <a:ln w="19050" cap="flat" cmpd="sng" algn="ctr">
            <a:solidFill>
              <a:srgbClr val="000000">
                <a:alpha val="100000"/>
              </a:srgbClr>
            </a:solidFill>
            <a:prstDash val="solid"/>
            <a:miter lim="800000"/>
            <a:tailEnd type="triangle"/>
          </a:ln>
        </p:spPr>
        <p:style>
          <a:lnRef idx="1">
            <a:schemeClr val="accent1"/>
          </a:lnRef>
          <a:fillRef idx="0">
            <a:schemeClr val="accent1"/>
          </a:fillRef>
          <a:effectRef idx="0">
            <a:schemeClr val="accent1"/>
          </a:effectRef>
          <a:fontRef idx="minor">
            <a:schemeClr val="tx1"/>
          </a:fontRef>
        </p:style>
      </p:cxnSp>
      <p:sp>
        <p:nvSpPr>
          <p:cNvPr id="2" name="等腰三角形 1"/>
          <p:cNvSpPr/>
          <p:nvPr/>
        </p:nvSpPr>
        <p:spPr>
          <a:xfrm>
            <a:off x="1344930" y="1652905"/>
            <a:ext cx="236855" cy="196850"/>
          </a:xfrm>
          <a:prstGeom prst="triangle">
            <a:avLst/>
          </a:prstGeom>
          <a:solidFill>
            <a:srgbClr val="C00000"/>
          </a:solid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nchorCtr="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44" name="等腰三角形 43"/>
          <p:cNvSpPr/>
          <p:nvPr/>
        </p:nvSpPr>
        <p:spPr>
          <a:xfrm>
            <a:off x="2822575" y="1652905"/>
            <a:ext cx="236855" cy="196850"/>
          </a:xfrm>
          <a:prstGeom prst="triangle">
            <a:avLst/>
          </a:prstGeom>
          <a:solidFill>
            <a:srgbClr val="C00000"/>
          </a:solid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nchorCtr="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3" name="等腰三角形 2"/>
          <p:cNvSpPr/>
          <p:nvPr/>
        </p:nvSpPr>
        <p:spPr>
          <a:xfrm>
            <a:off x="4343400" y="1652905"/>
            <a:ext cx="236220" cy="196850"/>
          </a:xfrm>
          <a:prstGeom prst="triangle">
            <a:avLst/>
          </a:prstGeom>
          <a:solidFill>
            <a:srgbClr val="C00000"/>
          </a:solid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nchorCtr="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4" name="等腰三角形 3"/>
          <p:cNvSpPr/>
          <p:nvPr/>
        </p:nvSpPr>
        <p:spPr>
          <a:xfrm>
            <a:off x="5888355" y="1652905"/>
            <a:ext cx="236855" cy="196850"/>
          </a:xfrm>
          <a:prstGeom prst="triangle">
            <a:avLst/>
          </a:prstGeom>
          <a:solidFill>
            <a:srgbClr val="C00000"/>
          </a:solid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nchorCtr="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5" name="文本框 4"/>
          <p:cNvSpPr txBox="1"/>
          <p:nvPr/>
        </p:nvSpPr>
        <p:spPr>
          <a:xfrm>
            <a:off x="1133475" y="1854835"/>
            <a:ext cx="659765" cy="263525"/>
          </a:xfrm>
          <a:prstGeom prst="rect">
            <a:avLst/>
          </a:prstGeom>
          <a:noFill/>
        </p:spPr>
        <p:txBody>
          <a:bodyPr wrap="square" rtlCol="0">
            <a:noAutofit/>
          </a:bodyPr>
          <a:lstStyle/>
          <a:p>
            <a:pPr marL="0" marR="0" lvl="0" indent="0" algn="ctr" defTabSz="1187450" rtl="0" eaLnBrk="1" fontAlgn="ctr" latinLnBrk="0" hangingPunct="1">
              <a:lnSpc>
                <a:spcPct val="100000"/>
              </a:lnSpc>
              <a:spcBef>
                <a:spcPts val="0"/>
              </a:spcBef>
              <a:spcAft>
                <a:spcPts val="0"/>
              </a:spcAft>
              <a:buClrTx/>
              <a:buSzTx/>
              <a:buFontTx/>
              <a:buNone/>
              <a:defRPr/>
            </a:pPr>
            <a:r>
              <a:rPr kumimoji="0" lang="en-US" altLang="zh-CN" sz="1200" b="1" i="0" u="none" strike="noStrike" kern="1200" cap="none" spc="0" normalizeH="0" baseline="0" noProof="0" dirty="0">
                <a:ln>
                  <a:noFill/>
                </a:ln>
                <a:effectLst/>
                <a:uLnTx/>
                <a:uFillTx/>
                <a:latin typeface="微软雅黑" charset="0"/>
                <a:ea typeface="微软雅黑" charset="0"/>
                <a:cs typeface="+mn-cs"/>
                <a:sym typeface="+mn-ea"/>
              </a:rPr>
              <a:t>3.22</a:t>
            </a:r>
          </a:p>
        </p:txBody>
      </p:sp>
      <p:sp>
        <p:nvSpPr>
          <p:cNvPr id="48" name="文本框 47"/>
          <p:cNvSpPr txBox="1"/>
          <p:nvPr/>
        </p:nvSpPr>
        <p:spPr>
          <a:xfrm>
            <a:off x="10480675" y="1854835"/>
            <a:ext cx="659765" cy="263525"/>
          </a:xfrm>
          <a:prstGeom prst="rect">
            <a:avLst/>
          </a:prstGeom>
          <a:noFill/>
        </p:spPr>
        <p:txBody>
          <a:bodyPr wrap="square" rtlCol="0">
            <a:noAutofit/>
          </a:bodyPr>
          <a:lstStyle/>
          <a:p>
            <a:pPr marL="0" marR="0" lvl="0" indent="0" algn="ctr" defTabSz="1187450" rtl="0" eaLnBrk="1" fontAlgn="ctr" latinLnBrk="0" hangingPunct="1">
              <a:lnSpc>
                <a:spcPct val="100000"/>
              </a:lnSpc>
              <a:spcBef>
                <a:spcPts val="0"/>
              </a:spcBef>
              <a:spcAft>
                <a:spcPts val="0"/>
              </a:spcAft>
              <a:buClrTx/>
              <a:buSzTx/>
              <a:buFontTx/>
              <a:buNone/>
              <a:defRPr/>
            </a:pPr>
            <a:r>
              <a:rPr lang="en-US" altLang="zh-CN" sz="1200" b="1" i="0" u="none" strike="noStrike" noProof="0" dirty="0">
                <a:ln>
                  <a:noFill/>
                </a:ln>
                <a:effectLst/>
                <a:uLnTx/>
                <a:uFillTx/>
                <a:latin typeface="微软雅黑" charset="0"/>
                <a:ea typeface="微软雅黑" charset="0"/>
                <a:cs typeface="+mn-cs"/>
                <a:sym typeface="+mn-ea"/>
              </a:rPr>
              <a:t>4.24</a:t>
            </a:r>
            <a:endParaRPr kumimoji="0" lang="zh-CN" altLang="en-US" sz="1200" b="0" i="0" u="none" strike="noStrike" kern="1200" cap="none" spc="0" normalizeH="0" baseline="0" noProof="0" dirty="0">
              <a:ln>
                <a:noFill/>
              </a:ln>
              <a:effectLst/>
              <a:uLnTx/>
              <a:uFillTx/>
              <a:latin typeface="微软雅黑" charset="0"/>
              <a:ea typeface="微软雅黑" charset="0"/>
              <a:cs typeface="+mn-cs"/>
              <a:sym typeface="+mn-ea"/>
            </a:endParaRPr>
          </a:p>
        </p:txBody>
      </p:sp>
      <p:sp>
        <p:nvSpPr>
          <p:cNvPr id="6" name="文本框 5"/>
          <p:cNvSpPr txBox="1"/>
          <p:nvPr/>
        </p:nvSpPr>
        <p:spPr>
          <a:xfrm>
            <a:off x="2611755" y="1854835"/>
            <a:ext cx="659765" cy="263525"/>
          </a:xfrm>
          <a:prstGeom prst="rect">
            <a:avLst/>
          </a:prstGeom>
          <a:noFill/>
        </p:spPr>
        <p:txBody>
          <a:bodyPr wrap="square" rtlCol="0">
            <a:noAutofit/>
          </a:bodyPr>
          <a:lstStyle/>
          <a:p>
            <a:pPr marL="0" marR="0" lvl="0" indent="0" algn="ctr" defTabSz="1187450" rtl="0" eaLnBrk="1" fontAlgn="ctr" latinLnBrk="0" hangingPunct="1">
              <a:lnSpc>
                <a:spcPct val="100000"/>
              </a:lnSpc>
              <a:spcBef>
                <a:spcPts val="0"/>
              </a:spcBef>
              <a:spcAft>
                <a:spcPts val="0"/>
              </a:spcAft>
              <a:buClrTx/>
              <a:buSzTx/>
              <a:buFontTx/>
              <a:buNone/>
              <a:defRPr/>
            </a:pPr>
            <a:r>
              <a:rPr lang="en-US" altLang="zh-CN" sz="1200" b="1" noProof="0" dirty="0">
                <a:ln>
                  <a:noFill/>
                </a:ln>
                <a:effectLst/>
                <a:uLnTx/>
                <a:uFillTx/>
                <a:latin typeface="微软雅黑" charset="0"/>
                <a:ea typeface="微软雅黑" charset="0"/>
                <a:cs typeface="+mn-cs"/>
                <a:sym typeface="+mn-ea"/>
              </a:rPr>
              <a:t>3.26</a:t>
            </a:r>
            <a:endParaRPr kumimoji="0" lang="en-US" altLang="zh-CN" sz="1200" b="1" i="0" u="none" strike="noStrike" kern="1200" cap="none" spc="0" normalizeH="0" baseline="0" noProof="0" dirty="0">
              <a:ln>
                <a:noFill/>
              </a:ln>
              <a:effectLst/>
              <a:uLnTx/>
              <a:uFillTx/>
              <a:latin typeface="微软雅黑" charset="0"/>
              <a:ea typeface="微软雅黑" charset="0"/>
              <a:cs typeface="+mn-cs"/>
              <a:sym typeface="+mn-ea"/>
            </a:endParaRPr>
          </a:p>
        </p:txBody>
      </p:sp>
      <p:sp>
        <p:nvSpPr>
          <p:cNvPr id="7" name="文本框 6"/>
          <p:cNvSpPr txBox="1"/>
          <p:nvPr/>
        </p:nvSpPr>
        <p:spPr>
          <a:xfrm>
            <a:off x="5676900" y="1854835"/>
            <a:ext cx="659765" cy="263525"/>
          </a:xfrm>
          <a:prstGeom prst="rect">
            <a:avLst/>
          </a:prstGeom>
          <a:noFill/>
        </p:spPr>
        <p:txBody>
          <a:bodyPr wrap="square" rtlCol="0">
            <a:noAutofit/>
          </a:bodyPr>
          <a:lstStyle/>
          <a:p>
            <a:pPr marL="0" marR="0" lvl="0" indent="0" algn="ctr" defTabSz="1187450" rtl="0" eaLnBrk="1" fontAlgn="ctr" latinLnBrk="0" hangingPunct="1">
              <a:lnSpc>
                <a:spcPct val="100000"/>
              </a:lnSpc>
              <a:spcBef>
                <a:spcPts val="0"/>
              </a:spcBef>
              <a:spcAft>
                <a:spcPts val="0"/>
              </a:spcAft>
              <a:buClrTx/>
              <a:buSzTx/>
              <a:buFontTx/>
              <a:buNone/>
              <a:defRPr/>
            </a:pPr>
            <a:r>
              <a:rPr kumimoji="0" lang="en-US" altLang="zh-CN" sz="1200" b="1" i="0" u="none" strike="noStrike" kern="1200" cap="none" spc="0" normalizeH="0" baseline="0" noProof="0" dirty="0">
                <a:ln>
                  <a:noFill/>
                </a:ln>
                <a:effectLst/>
                <a:uLnTx/>
                <a:uFillTx/>
                <a:latin typeface="微软雅黑" charset="0"/>
                <a:ea typeface="微软雅黑" charset="0"/>
                <a:cs typeface="+mn-cs"/>
                <a:sym typeface="+mn-ea"/>
              </a:rPr>
              <a:t>4.15</a:t>
            </a:r>
          </a:p>
        </p:txBody>
      </p:sp>
      <p:sp>
        <p:nvSpPr>
          <p:cNvPr id="51" name="文本框 50"/>
          <p:cNvSpPr txBox="1"/>
          <p:nvPr/>
        </p:nvSpPr>
        <p:spPr>
          <a:xfrm>
            <a:off x="984885" y="1426845"/>
            <a:ext cx="957580" cy="264160"/>
          </a:xfrm>
          <a:prstGeom prst="rect">
            <a:avLst/>
          </a:prstGeom>
          <a:noFill/>
        </p:spPr>
        <p:txBody>
          <a:bodyPr wrap="square" rtlCol="0">
            <a:noAutofit/>
          </a:bodyPr>
          <a:lstStyle/>
          <a:p>
            <a:pPr marL="0" marR="0" lvl="0" indent="0" algn="ctr" defTabSz="1187450" rtl="0" eaLnBrk="1" fontAlgn="ctr" latinLnBrk="0" hangingPunct="1">
              <a:lnSpc>
                <a:spcPct val="100000"/>
              </a:lnSpc>
              <a:spcBef>
                <a:spcPts val="0"/>
              </a:spcBef>
              <a:spcAft>
                <a:spcPts val="0"/>
              </a:spcAft>
              <a:buClrTx/>
              <a:buSzTx/>
              <a:buFontTx/>
              <a:buNone/>
              <a:defRPr/>
            </a:pPr>
            <a:r>
              <a:rPr lang="zh-CN" altLang="en-US" sz="1000" dirty="0">
                <a:solidFill>
                  <a:srgbClr val="1D1D1A"/>
                </a:solidFill>
                <a:effectLst/>
                <a:latin typeface="微软雅黑" panose="020B0503020204020204" pitchFamily="34" charset="-122"/>
                <a:ea typeface="微软雅黑" panose="020B0503020204020204" pitchFamily="34" charset="-122"/>
                <a:sym typeface="+mn-ea"/>
              </a:rPr>
              <a:t>算子开发</a:t>
            </a:r>
            <a:endParaRPr kumimoji="0" lang="zh-CN" altLang="en-US" sz="100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sym typeface="+mn-ea"/>
            </a:endParaRPr>
          </a:p>
        </p:txBody>
      </p:sp>
      <p:sp>
        <p:nvSpPr>
          <p:cNvPr id="8" name="文本框 7"/>
          <p:cNvSpPr txBox="1"/>
          <p:nvPr/>
        </p:nvSpPr>
        <p:spPr>
          <a:xfrm>
            <a:off x="2462530" y="1426845"/>
            <a:ext cx="957580" cy="264160"/>
          </a:xfrm>
          <a:prstGeom prst="rect">
            <a:avLst/>
          </a:prstGeom>
          <a:noFill/>
        </p:spPr>
        <p:txBody>
          <a:bodyPr wrap="square" rtlCol="0">
            <a:noAutofit/>
          </a:bodyPr>
          <a:lstStyle/>
          <a:p>
            <a:pPr marL="0" marR="0" lvl="0" indent="0" algn="ctr" defTabSz="1187450" rtl="0" eaLnBrk="1" fontAlgn="ctr" latinLnBrk="0" hangingPunct="1">
              <a:lnSpc>
                <a:spcPct val="100000"/>
              </a:lnSpc>
              <a:spcBef>
                <a:spcPts val="0"/>
              </a:spcBef>
              <a:spcAft>
                <a:spcPts val="0"/>
              </a:spcAft>
              <a:buClrTx/>
              <a:buSzTx/>
              <a:buFontTx/>
              <a:buNone/>
              <a:defRPr/>
            </a:pPr>
            <a:r>
              <a:rPr lang="zh-CN" altLang="en-US" sz="1000" dirty="0">
                <a:solidFill>
                  <a:srgbClr val="1D1D1A"/>
                </a:solidFill>
                <a:effectLst/>
                <a:latin typeface="微软雅黑" panose="020B0503020204020204" pitchFamily="34" charset="-122"/>
                <a:ea typeface="微软雅黑" panose="020B0503020204020204" pitchFamily="34" charset="-122"/>
                <a:sym typeface="+mn-ea"/>
              </a:rPr>
              <a:t>权重量化</a:t>
            </a:r>
            <a:endParaRPr kumimoji="0" lang="zh-CN" altLang="en-US" sz="100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sym typeface="+mn-ea"/>
            </a:endParaRPr>
          </a:p>
        </p:txBody>
      </p:sp>
      <p:sp>
        <p:nvSpPr>
          <p:cNvPr id="9" name="文本框 8"/>
          <p:cNvSpPr txBox="1"/>
          <p:nvPr/>
        </p:nvSpPr>
        <p:spPr>
          <a:xfrm>
            <a:off x="10206355" y="1426845"/>
            <a:ext cx="1208405" cy="264160"/>
          </a:xfrm>
          <a:prstGeom prst="rect">
            <a:avLst/>
          </a:prstGeom>
          <a:noFill/>
        </p:spPr>
        <p:txBody>
          <a:bodyPr wrap="square" rtlCol="0">
            <a:noAutofit/>
          </a:bodyPr>
          <a:lstStyle/>
          <a:p>
            <a:pPr marL="0" marR="0" lvl="0" indent="0" algn="ctr" defTabSz="1187450" rtl="0" eaLnBrk="1" fontAlgn="ctr" latinLnBrk="0" hangingPunct="1">
              <a:lnSpc>
                <a:spcPct val="100000"/>
              </a:lnSpc>
              <a:spcBef>
                <a:spcPts val="0"/>
              </a:spcBef>
              <a:spcAft>
                <a:spcPts val="0"/>
              </a:spcAft>
              <a:buClrTx/>
              <a:buSzTx/>
              <a:buFontTx/>
              <a:buNone/>
              <a:defRPr/>
            </a:pPr>
            <a:r>
              <a:rPr lang="zh-CN" altLang="en-US" sz="1000" dirty="0">
                <a:solidFill>
                  <a:srgbClr val="1D1D1A"/>
                </a:solidFill>
                <a:effectLst/>
                <a:latin typeface="微软雅黑" panose="020B0503020204020204" pitchFamily="34" charset="-122"/>
                <a:ea typeface="微软雅黑" panose="020B0503020204020204" pitchFamily="34" charset="-122"/>
                <a:sym typeface="+mn-ea"/>
              </a:rPr>
              <a:t>版本发布</a:t>
            </a:r>
            <a:endParaRPr kumimoji="0" lang="zh-CN" altLang="en-US" sz="100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sym typeface="+mn-ea"/>
            </a:endParaRPr>
          </a:p>
        </p:txBody>
      </p:sp>
      <p:sp>
        <p:nvSpPr>
          <p:cNvPr id="10" name="文本框 9"/>
          <p:cNvSpPr txBox="1"/>
          <p:nvPr/>
        </p:nvSpPr>
        <p:spPr>
          <a:xfrm>
            <a:off x="7023100" y="1426845"/>
            <a:ext cx="957580" cy="243840"/>
          </a:xfrm>
          <a:prstGeom prst="rect">
            <a:avLst/>
          </a:prstGeom>
          <a:noFill/>
        </p:spPr>
        <p:txBody>
          <a:bodyPr wrap="square" rtlCol="0">
            <a:noAutofit/>
          </a:bodyPr>
          <a:lstStyle/>
          <a:p>
            <a:pPr marL="0" marR="0" lvl="0" indent="0" algn="ctr" defTabSz="1187450" rtl="0" eaLnBrk="1" fontAlgn="ctr" latinLnBrk="0" hangingPunct="1">
              <a:lnSpc>
                <a:spcPct val="100000"/>
              </a:lnSpc>
              <a:spcBef>
                <a:spcPts val="0"/>
              </a:spcBef>
              <a:spcAft>
                <a:spcPts val="0"/>
              </a:spcAft>
              <a:buClrTx/>
              <a:buSzTx/>
              <a:buFontTx/>
              <a:buNone/>
              <a:defRPr/>
            </a:pPr>
            <a:r>
              <a:rPr lang="zh-CN" altLang="en-US" sz="1000" dirty="0">
                <a:solidFill>
                  <a:srgbClr val="1D1D1A"/>
                </a:solidFill>
                <a:effectLst/>
                <a:latin typeface="微软雅黑" panose="020B0503020204020204" pitchFamily="34" charset="-122"/>
                <a:ea typeface="微软雅黑" panose="020B0503020204020204" pitchFamily="34" charset="-122"/>
                <a:sym typeface="+mn-ea"/>
              </a:rPr>
              <a:t>特性叠加</a:t>
            </a:r>
            <a:endParaRPr kumimoji="0" lang="zh-CN" altLang="en-US" sz="100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sym typeface="+mn-ea"/>
            </a:endParaRPr>
          </a:p>
        </p:txBody>
      </p:sp>
      <p:sp>
        <p:nvSpPr>
          <p:cNvPr id="11" name="等腰三角形 10"/>
          <p:cNvSpPr/>
          <p:nvPr/>
        </p:nvSpPr>
        <p:spPr>
          <a:xfrm>
            <a:off x="7383780" y="1652905"/>
            <a:ext cx="236855" cy="196850"/>
          </a:xfrm>
          <a:prstGeom prst="triangle">
            <a:avLst/>
          </a:prstGeom>
          <a:solidFill>
            <a:srgbClr val="C00000"/>
          </a:solid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nchorCtr="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2" name="文本框 11"/>
          <p:cNvSpPr txBox="1"/>
          <p:nvPr/>
        </p:nvSpPr>
        <p:spPr>
          <a:xfrm>
            <a:off x="4131310" y="1854835"/>
            <a:ext cx="660400" cy="263525"/>
          </a:xfrm>
          <a:prstGeom prst="rect">
            <a:avLst/>
          </a:prstGeom>
          <a:noFill/>
        </p:spPr>
        <p:txBody>
          <a:bodyPr wrap="square" rtlCol="0">
            <a:noAutofit/>
          </a:bodyPr>
          <a:lstStyle/>
          <a:p>
            <a:pPr marL="0" marR="0" lvl="0" indent="0" algn="ctr" defTabSz="1187450" rtl="0" eaLnBrk="1" fontAlgn="ctr" latinLnBrk="0" hangingPunct="1">
              <a:lnSpc>
                <a:spcPct val="100000"/>
              </a:lnSpc>
              <a:spcBef>
                <a:spcPts val="0"/>
              </a:spcBef>
              <a:spcAft>
                <a:spcPts val="0"/>
              </a:spcAft>
              <a:buClrTx/>
              <a:buSzTx/>
              <a:buFontTx/>
              <a:buNone/>
              <a:defRPr/>
            </a:pPr>
            <a:r>
              <a:rPr kumimoji="0" lang="en-US" altLang="zh-CN" sz="1200" b="1" i="0" u="none" strike="noStrike" kern="1200" cap="none" spc="0" normalizeH="0" baseline="0" noProof="0" dirty="0">
                <a:ln>
                  <a:noFill/>
                </a:ln>
                <a:effectLst/>
                <a:uLnTx/>
                <a:uFillTx/>
                <a:latin typeface="微软雅黑" charset="0"/>
                <a:ea typeface="微软雅黑" charset="0"/>
                <a:cs typeface="+mn-cs"/>
                <a:sym typeface="+mn-ea"/>
              </a:rPr>
              <a:t>4.7</a:t>
            </a:r>
          </a:p>
        </p:txBody>
      </p:sp>
      <p:sp>
        <p:nvSpPr>
          <p:cNvPr id="14" name="文本框 13"/>
          <p:cNvSpPr txBox="1"/>
          <p:nvPr/>
        </p:nvSpPr>
        <p:spPr>
          <a:xfrm>
            <a:off x="8794115" y="1426845"/>
            <a:ext cx="957580" cy="243840"/>
          </a:xfrm>
          <a:prstGeom prst="rect">
            <a:avLst/>
          </a:prstGeom>
          <a:noFill/>
        </p:spPr>
        <p:txBody>
          <a:bodyPr wrap="square" rtlCol="0">
            <a:noAutofit/>
          </a:bodyPr>
          <a:lstStyle/>
          <a:p>
            <a:pPr marL="0" marR="0" lvl="0" indent="0" algn="ctr" defTabSz="1187450" rtl="0" eaLnBrk="1" fontAlgn="ctr" latinLnBrk="0" hangingPunct="1">
              <a:lnSpc>
                <a:spcPct val="100000"/>
              </a:lnSpc>
              <a:spcBef>
                <a:spcPts val="0"/>
              </a:spcBef>
              <a:spcAft>
                <a:spcPts val="0"/>
              </a:spcAft>
              <a:buClrTx/>
              <a:buSzTx/>
              <a:buFontTx/>
              <a:buNone/>
              <a:defRPr/>
            </a:pPr>
            <a:r>
              <a:rPr lang="zh-CN" altLang="en-US" sz="1000" dirty="0">
                <a:solidFill>
                  <a:srgbClr val="1D1D1A"/>
                </a:solidFill>
                <a:effectLst/>
                <a:latin typeface="微软雅黑" panose="020B0503020204020204" pitchFamily="34" charset="-122"/>
                <a:ea typeface="微软雅黑" panose="020B0503020204020204" pitchFamily="34" charset="-122"/>
                <a:sym typeface="+mn-ea"/>
              </a:rPr>
              <a:t>场景泛化</a:t>
            </a:r>
            <a:endParaRPr kumimoji="0" lang="zh-CN" altLang="en-US" sz="100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sym typeface="+mn-ea"/>
            </a:endParaRPr>
          </a:p>
        </p:txBody>
      </p:sp>
      <p:sp>
        <p:nvSpPr>
          <p:cNvPr id="15" name="等腰三角形 14"/>
          <p:cNvSpPr/>
          <p:nvPr/>
        </p:nvSpPr>
        <p:spPr>
          <a:xfrm>
            <a:off x="10692130" y="1652905"/>
            <a:ext cx="236855" cy="196850"/>
          </a:xfrm>
          <a:prstGeom prst="triangle">
            <a:avLst/>
          </a:prstGeom>
          <a:solidFill>
            <a:srgbClr val="C00000"/>
          </a:solid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nchorCtr="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7" name="等腰三角形 16"/>
          <p:cNvSpPr/>
          <p:nvPr/>
        </p:nvSpPr>
        <p:spPr>
          <a:xfrm>
            <a:off x="9154160" y="1652905"/>
            <a:ext cx="236855" cy="196850"/>
          </a:xfrm>
          <a:prstGeom prst="triangle">
            <a:avLst/>
          </a:prstGeom>
          <a:solidFill>
            <a:srgbClr val="C00000"/>
          </a:solid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nchorCtr="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8" name="文本框 17"/>
          <p:cNvSpPr txBox="1"/>
          <p:nvPr/>
        </p:nvSpPr>
        <p:spPr>
          <a:xfrm>
            <a:off x="3982720" y="1426845"/>
            <a:ext cx="958215" cy="264160"/>
          </a:xfrm>
          <a:prstGeom prst="rect">
            <a:avLst/>
          </a:prstGeom>
          <a:noFill/>
        </p:spPr>
        <p:txBody>
          <a:bodyPr wrap="square" rtlCol="0">
            <a:noAutofit/>
          </a:bodyPr>
          <a:lstStyle/>
          <a:p>
            <a:pPr marL="0" marR="0" lvl="0" indent="0" algn="ctr" defTabSz="1187450" rtl="0" eaLnBrk="1" fontAlgn="ctr" latinLnBrk="0" hangingPunct="1">
              <a:lnSpc>
                <a:spcPct val="100000"/>
              </a:lnSpc>
              <a:spcBef>
                <a:spcPts val="0"/>
              </a:spcBef>
              <a:spcAft>
                <a:spcPts val="0"/>
              </a:spcAft>
              <a:buClrTx/>
              <a:buSzTx/>
              <a:buFontTx/>
              <a:buNone/>
              <a:defRPr/>
            </a:pPr>
            <a:r>
              <a:rPr lang="zh-CN" altLang="en-US" sz="1000" dirty="0">
                <a:solidFill>
                  <a:srgbClr val="1D1D1A"/>
                </a:solidFill>
                <a:effectLst/>
                <a:latin typeface="微软雅黑" panose="020B0503020204020204" pitchFamily="34" charset="-122"/>
                <a:ea typeface="微软雅黑" panose="020B0503020204020204" pitchFamily="34" charset="-122"/>
                <a:sym typeface="+mn-ea"/>
              </a:rPr>
              <a:t>功能打通</a:t>
            </a:r>
            <a:endParaRPr kumimoji="0" lang="zh-CN" altLang="en-US" sz="100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sym typeface="+mn-ea"/>
            </a:endParaRPr>
          </a:p>
        </p:txBody>
      </p:sp>
      <p:sp>
        <p:nvSpPr>
          <p:cNvPr id="20" name="文本框 19"/>
          <p:cNvSpPr txBox="1"/>
          <p:nvPr/>
        </p:nvSpPr>
        <p:spPr>
          <a:xfrm>
            <a:off x="5527675" y="1426845"/>
            <a:ext cx="957580" cy="264160"/>
          </a:xfrm>
          <a:prstGeom prst="rect">
            <a:avLst/>
          </a:prstGeom>
          <a:noFill/>
        </p:spPr>
        <p:txBody>
          <a:bodyPr wrap="square" rtlCol="0">
            <a:noAutofit/>
          </a:bodyPr>
          <a:lstStyle/>
          <a:p>
            <a:pPr marL="0" marR="0" lvl="0" indent="0" algn="ctr" defTabSz="1187450" rtl="0" eaLnBrk="1" fontAlgn="ctr" latinLnBrk="0" hangingPunct="1">
              <a:lnSpc>
                <a:spcPct val="100000"/>
              </a:lnSpc>
              <a:spcBef>
                <a:spcPts val="0"/>
              </a:spcBef>
              <a:spcAft>
                <a:spcPts val="0"/>
              </a:spcAft>
              <a:buClrTx/>
              <a:buSzTx/>
              <a:buFontTx/>
              <a:buNone/>
              <a:defRPr/>
            </a:pPr>
            <a:r>
              <a:rPr lang="zh-CN" altLang="en-US" sz="1000" dirty="0">
                <a:solidFill>
                  <a:srgbClr val="1D1D1A"/>
                </a:solidFill>
                <a:effectLst/>
                <a:latin typeface="微软雅黑" panose="020B0503020204020204" pitchFamily="34" charset="-122"/>
                <a:ea typeface="微软雅黑" panose="020B0503020204020204" pitchFamily="34" charset="-122"/>
                <a:sym typeface="+mn-ea"/>
              </a:rPr>
              <a:t>精度对齐</a:t>
            </a:r>
            <a:endParaRPr kumimoji="0" lang="zh-CN" altLang="en-US" sz="100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sym typeface="+mn-ea"/>
            </a:endParaRPr>
          </a:p>
        </p:txBody>
      </p:sp>
      <p:sp>
        <p:nvSpPr>
          <p:cNvPr id="23" name="文本框 22"/>
          <p:cNvSpPr txBox="1"/>
          <p:nvPr/>
        </p:nvSpPr>
        <p:spPr>
          <a:xfrm>
            <a:off x="7172325" y="1854835"/>
            <a:ext cx="659765" cy="263525"/>
          </a:xfrm>
          <a:prstGeom prst="rect">
            <a:avLst/>
          </a:prstGeom>
          <a:noFill/>
        </p:spPr>
        <p:txBody>
          <a:bodyPr wrap="square" rtlCol="0">
            <a:noAutofit/>
          </a:bodyPr>
          <a:lstStyle/>
          <a:p>
            <a:pPr marL="0" marR="0" lvl="0" indent="0" algn="ctr" defTabSz="1187450" rtl="0" eaLnBrk="1" fontAlgn="ctr" latinLnBrk="0" hangingPunct="1">
              <a:lnSpc>
                <a:spcPct val="100000"/>
              </a:lnSpc>
              <a:spcBef>
                <a:spcPts val="0"/>
              </a:spcBef>
              <a:spcAft>
                <a:spcPts val="0"/>
              </a:spcAft>
              <a:buClrTx/>
              <a:buSzTx/>
              <a:buFontTx/>
              <a:buNone/>
              <a:defRPr/>
            </a:pPr>
            <a:r>
              <a:rPr kumimoji="0" lang="en-US" altLang="zh-CN" sz="1200" b="1" i="0" u="none" strike="noStrike" kern="1200" cap="none" spc="0" normalizeH="0" baseline="0" noProof="0" dirty="0">
                <a:ln>
                  <a:noFill/>
                </a:ln>
                <a:effectLst/>
                <a:uLnTx/>
                <a:uFillTx/>
                <a:latin typeface="微软雅黑" charset="0"/>
                <a:ea typeface="微软雅黑" charset="0"/>
                <a:cs typeface="+mn-cs"/>
                <a:sym typeface="+mn-ea"/>
              </a:rPr>
              <a:t>4.18</a:t>
            </a:r>
          </a:p>
        </p:txBody>
      </p:sp>
      <p:sp>
        <p:nvSpPr>
          <p:cNvPr id="25" name="文本框 24"/>
          <p:cNvSpPr txBox="1"/>
          <p:nvPr/>
        </p:nvSpPr>
        <p:spPr>
          <a:xfrm>
            <a:off x="8943340" y="1854835"/>
            <a:ext cx="659765" cy="263525"/>
          </a:xfrm>
          <a:prstGeom prst="rect">
            <a:avLst/>
          </a:prstGeom>
          <a:noFill/>
        </p:spPr>
        <p:txBody>
          <a:bodyPr wrap="square" rtlCol="0">
            <a:noAutofit/>
          </a:bodyPr>
          <a:lstStyle/>
          <a:p>
            <a:pPr marL="0" marR="0" lvl="0" indent="0" algn="ctr" defTabSz="1187450" rtl="0" eaLnBrk="1" fontAlgn="ctr" latinLnBrk="0" hangingPunct="1">
              <a:lnSpc>
                <a:spcPct val="100000"/>
              </a:lnSpc>
              <a:spcBef>
                <a:spcPts val="0"/>
              </a:spcBef>
              <a:spcAft>
                <a:spcPts val="0"/>
              </a:spcAft>
              <a:buClrTx/>
              <a:buSzTx/>
              <a:buFontTx/>
              <a:buNone/>
              <a:defRPr/>
            </a:pPr>
            <a:r>
              <a:rPr lang="en-US" altLang="zh-CN" sz="1200" b="1" noProof="0" dirty="0">
                <a:ln>
                  <a:noFill/>
                </a:ln>
                <a:effectLst/>
                <a:uLnTx/>
                <a:uFillTx/>
                <a:latin typeface="微软雅黑" charset="0"/>
                <a:ea typeface="微软雅黑" charset="0"/>
                <a:cs typeface="+mn-cs"/>
                <a:sym typeface="+mn-ea"/>
              </a:rPr>
              <a:t>4.21</a:t>
            </a:r>
            <a:endParaRPr kumimoji="0" lang="zh-CN" altLang="en-US" sz="1200" b="0" i="0" u="none" strike="noStrike" kern="1200" cap="none" spc="0" normalizeH="0" baseline="0" noProof="0" dirty="0">
              <a:ln>
                <a:noFill/>
              </a:ln>
              <a:effectLst/>
              <a:uLnTx/>
              <a:uFillTx/>
              <a:latin typeface="微软雅黑" charset="0"/>
              <a:ea typeface="微软雅黑" charset="0"/>
              <a:cs typeface="+mn-cs"/>
              <a:sym typeface="+mn-ea"/>
            </a:endParaRPr>
          </a:p>
        </p:txBody>
      </p:sp>
      <p:sp>
        <p:nvSpPr>
          <p:cNvPr id="16" name="文本框 15"/>
          <p:cNvSpPr txBox="1"/>
          <p:nvPr/>
        </p:nvSpPr>
        <p:spPr>
          <a:xfrm>
            <a:off x="53975" y="1489075"/>
            <a:ext cx="1031875" cy="532765"/>
          </a:xfrm>
          <a:prstGeom prst="rect">
            <a:avLst/>
          </a:prstGeom>
          <a:noFill/>
        </p:spPr>
        <p:txBody>
          <a:bodyPr wrap="square" rtlCol="0">
            <a:noAutofit/>
          </a:bodyPr>
          <a:lstStyle/>
          <a:p>
            <a:pPr marL="0" marR="0" lvl="0" indent="0" algn="ctr" defTabSz="1187450" rtl="0" eaLnBrk="1" fontAlgn="ctr" latinLnBrk="0" hangingPunct="1">
              <a:lnSpc>
                <a:spcPct val="100000"/>
              </a:lnSpc>
              <a:spcBef>
                <a:spcPts val="0"/>
              </a:spcBef>
              <a:spcAft>
                <a:spcPts val="0"/>
              </a:spcAft>
              <a:buClrTx/>
              <a:buSzTx/>
              <a:buFontTx/>
              <a:buNone/>
              <a:defRPr/>
            </a:pPr>
            <a:r>
              <a:rPr lang="en-US" altLang="zh-CN" sz="1200" b="1" noProof="0" dirty="0">
                <a:ln>
                  <a:noFill/>
                </a:ln>
                <a:effectLst/>
                <a:uLnTx/>
                <a:uFillTx/>
                <a:latin typeface="微软雅黑" charset="0"/>
                <a:ea typeface="微软雅黑" charset="0"/>
                <a:cs typeface="+mn-cs"/>
                <a:sym typeface="+mn-ea"/>
              </a:rPr>
              <a:t>DeepSeekV4</a:t>
            </a:r>
            <a:r>
              <a:rPr lang="zh-CN" altLang="en-US" sz="1200" b="1" noProof="0" dirty="0">
                <a:ln>
                  <a:noFill/>
                </a:ln>
                <a:effectLst/>
                <a:uLnTx/>
                <a:uFillTx/>
                <a:latin typeface="微软雅黑" charset="0"/>
                <a:ea typeface="微软雅黑" charset="0"/>
                <a:cs typeface="+mn-cs"/>
                <a:sym typeface="+mn-ea"/>
              </a:rPr>
              <a:t>-</a:t>
            </a:r>
            <a:r>
              <a:rPr lang="en-US" altLang="zh-CN" sz="1200" b="1" noProof="0" dirty="0">
                <a:ln>
                  <a:noFill/>
                </a:ln>
                <a:effectLst/>
                <a:uLnTx/>
                <a:uFillTx/>
                <a:latin typeface="微软雅黑" charset="0"/>
                <a:ea typeface="微软雅黑" charset="0"/>
                <a:cs typeface="+mn-cs"/>
                <a:sym typeface="+mn-ea"/>
              </a:rPr>
              <a:t>Flash</a:t>
            </a:r>
            <a:endParaRPr kumimoji="0" lang="en-US" altLang="zh-CN" sz="1200" b="1" i="0" u="none" strike="noStrike" kern="1200" cap="none" spc="0" normalizeH="0" baseline="0" noProof="0" dirty="0">
              <a:ln>
                <a:noFill/>
              </a:ln>
              <a:effectLst/>
              <a:uLnTx/>
              <a:uFillTx/>
              <a:latin typeface="微软雅黑" charset="0"/>
              <a:ea typeface="微软雅黑" charset="0"/>
              <a:cs typeface="+mn-cs"/>
              <a:sym typeface="+mn-ea"/>
            </a:endParaRPr>
          </a:p>
        </p:txBody>
      </p:sp>
      <p:cxnSp>
        <p:nvCxnSpPr>
          <p:cNvPr id="66" name="直接箭头连接符 65"/>
          <p:cNvCxnSpPr/>
          <p:nvPr userDrawn="1"/>
        </p:nvCxnSpPr>
        <p:spPr>
          <a:xfrm>
            <a:off x="4982075" y="2221823"/>
            <a:ext cx="6990080" cy="0"/>
          </a:xfrm>
          <a:prstGeom prst="straightConnector1">
            <a:avLst/>
          </a:prstGeom>
          <a:ln w="19050" cap="flat" cmpd="sng" algn="ctr">
            <a:solidFill>
              <a:srgbClr val="000000">
                <a:alpha val="100000"/>
              </a:srgbClr>
            </a:solidFill>
            <a:prstDash val="solid"/>
            <a:miter lim="800000"/>
            <a:tailEnd type="triangle"/>
          </a:ln>
        </p:spPr>
        <p:style>
          <a:lnRef idx="1">
            <a:schemeClr val="accent1"/>
          </a:lnRef>
          <a:fillRef idx="0">
            <a:schemeClr val="accent1"/>
          </a:fillRef>
          <a:effectRef idx="0">
            <a:schemeClr val="accent1"/>
          </a:effectRef>
          <a:fontRef idx="minor">
            <a:schemeClr val="tx1"/>
          </a:fontRef>
        </p:style>
      </p:cxnSp>
      <p:sp>
        <p:nvSpPr>
          <p:cNvPr id="70" name="等腰三角形 69"/>
          <p:cNvSpPr/>
          <p:nvPr/>
        </p:nvSpPr>
        <p:spPr>
          <a:xfrm>
            <a:off x="5919335" y="2118318"/>
            <a:ext cx="236855" cy="196850"/>
          </a:xfrm>
          <a:prstGeom prst="triangle">
            <a:avLst/>
          </a:prstGeom>
          <a:solidFill>
            <a:srgbClr val="C00000"/>
          </a:solid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nchorCtr="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72" name="文本框 71"/>
          <p:cNvSpPr txBox="1"/>
          <p:nvPr/>
        </p:nvSpPr>
        <p:spPr>
          <a:xfrm>
            <a:off x="10511655" y="2320883"/>
            <a:ext cx="659765" cy="263525"/>
          </a:xfrm>
          <a:prstGeom prst="rect">
            <a:avLst/>
          </a:prstGeom>
          <a:noFill/>
        </p:spPr>
        <p:txBody>
          <a:bodyPr wrap="square" rtlCol="0">
            <a:noAutofit/>
          </a:bodyPr>
          <a:lstStyle/>
          <a:p>
            <a:pPr marL="0" marR="0" lvl="0" indent="0" algn="ctr" defTabSz="1187450" rtl="0" eaLnBrk="1" fontAlgn="ctr" latinLnBrk="0" hangingPunct="1">
              <a:lnSpc>
                <a:spcPct val="100000"/>
              </a:lnSpc>
              <a:spcBef>
                <a:spcPts val="0"/>
              </a:spcBef>
              <a:spcAft>
                <a:spcPts val="0"/>
              </a:spcAft>
              <a:buClrTx/>
              <a:buSzTx/>
              <a:buFontTx/>
              <a:buNone/>
              <a:defRPr/>
            </a:pPr>
            <a:r>
              <a:rPr lang="en-US" altLang="zh-CN" sz="1200" b="1" i="0" u="none" strike="noStrike" noProof="0" dirty="0">
                <a:ln>
                  <a:noFill/>
                </a:ln>
                <a:effectLst/>
                <a:uLnTx/>
                <a:uFillTx/>
                <a:latin typeface="微软雅黑" charset="0"/>
                <a:ea typeface="微软雅黑" charset="0"/>
                <a:cs typeface="+mn-cs"/>
                <a:sym typeface="+mn-ea"/>
              </a:rPr>
              <a:t>5.5</a:t>
            </a:r>
            <a:endParaRPr kumimoji="0" lang="zh-CN" altLang="en-US" sz="1200" b="0" i="0" u="none" strike="noStrike" kern="1200" cap="none" spc="0" normalizeH="0" baseline="0" noProof="0" dirty="0">
              <a:ln>
                <a:noFill/>
              </a:ln>
              <a:effectLst/>
              <a:uLnTx/>
              <a:uFillTx/>
              <a:latin typeface="微软雅黑" charset="0"/>
              <a:ea typeface="微软雅黑" charset="0"/>
              <a:cs typeface="+mn-cs"/>
              <a:sym typeface="+mn-ea"/>
            </a:endParaRPr>
          </a:p>
        </p:txBody>
      </p:sp>
      <p:sp>
        <p:nvSpPr>
          <p:cNvPr id="74" name="文本框 73"/>
          <p:cNvSpPr txBox="1"/>
          <p:nvPr/>
        </p:nvSpPr>
        <p:spPr>
          <a:xfrm>
            <a:off x="5707880" y="2320883"/>
            <a:ext cx="659765" cy="263525"/>
          </a:xfrm>
          <a:prstGeom prst="rect">
            <a:avLst/>
          </a:prstGeom>
          <a:noFill/>
        </p:spPr>
        <p:txBody>
          <a:bodyPr wrap="square" rtlCol="0">
            <a:noAutofit/>
          </a:bodyPr>
          <a:lstStyle/>
          <a:p>
            <a:pPr marL="0" marR="0" lvl="0" indent="0" algn="ctr" defTabSz="1187450" rtl="0" eaLnBrk="1" fontAlgn="ctr" latinLnBrk="0" hangingPunct="1">
              <a:lnSpc>
                <a:spcPct val="100000"/>
              </a:lnSpc>
              <a:spcBef>
                <a:spcPts val="0"/>
              </a:spcBef>
              <a:spcAft>
                <a:spcPts val="0"/>
              </a:spcAft>
              <a:buClrTx/>
              <a:buSzTx/>
              <a:buFontTx/>
              <a:buNone/>
              <a:defRPr/>
            </a:pPr>
            <a:r>
              <a:rPr kumimoji="0" lang="en-US" altLang="zh-CN" sz="1200" b="1" i="0" u="none" strike="noStrike" kern="1200" cap="none" spc="0" normalizeH="0" baseline="0" noProof="0" dirty="0">
                <a:ln>
                  <a:noFill/>
                </a:ln>
                <a:effectLst/>
                <a:uLnTx/>
                <a:uFillTx/>
                <a:latin typeface="微软雅黑" charset="0"/>
                <a:ea typeface="微软雅黑" charset="0"/>
                <a:cs typeface="+mn-cs"/>
                <a:sym typeface="+mn-ea"/>
              </a:rPr>
              <a:t>4.2</a:t>
            </a:r>
            <a:r>
              <a:rPr lang="en-US" altLang="zh-CN" sz="1200" b="1" noProof="0" dirty="0">
                <a:ln>
                  <a:noFill/>
                </a:ln>
                <a:effectLst/>
                <a:uLnTx/>
                <a:uFillTx/>
                <a:latin typeface="微软雅黑" charset="0"/>
                <a:ea typeface="微软雅黑" charset="0"/>
                <a:cs typeface="+mn-cs"/>
                <a:sym typeface="+mn-ea"/>
              </a:rPr>
              <a:t>4</a:t>
            </a:r>
            <a:endParaRPr kumimoji="0" lang="en-US" altLang="zh-CN" sz="1200" b="1" i="0" u="none" strike="noStrike" kern="1200" cap="none" spc="0" normalizeH="0" baseline="0" noProof="0" dirty="0">
              <a:ln>
                <a:noFill/>
              </a:ln>
              <a:effectLst/>
              <a:uLnTx/>
              <a:uFillTx/>
              <a:latin typeface="微软雅黑" charset="0"/>
              <a:ea typeface="微软雅黑" charset="0"/>
              <a:cs typeface="+mn-cs"/>
              <a:sym typeface="+mn-ea"/>
            </a:endParaRPr>
          </a:p>
        </p:txBody>
      </p:sp>
      <p:sp>
        <p:nvSpPr>
          <p:cNvPr id="75" name="等腰三角形 74"/>
          <p:cNvSpPr/>
          <p:nvPr/>
        </p:nvSpPr>
        <p:spPr>
          <a:xfrm>
            <a:off x="7414760" y="2118318"/>
            <a:ext cx="236855" cy="196850"/>
          </a:xfrm>
          <a:prstGeom prst="triangle">
            <a:avLst/>
          </a:prstGeom>
          <a:solidFill>
            <a:srgbClr val="C00000"/>
          </a:solid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nchorCtr="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77" name="等腰三角形 76"/>
          <p:cNvSpPr/>
          <p:nvPr/>
        </p:nvSpPr>
        <p:spPr>
          <a:xfrm>
            <a:off x="10723110" y="2118318"/>
            <a:ext cx="236855" cy="196850"/>
          </a:xfrm>
          <a:prstGeom prst="triangle">
            <a:avLst/>
          </a:prstGeom>
          <a:solidFill>
            <a:srgbClr val="C00000"/>
          </a:solid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nchorCtr="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78" name="等腰三角形 77"/>
          <p:cNvSpPr/>
          <p:nvPr/>
        </p:nvSpPr>
        <p:spPr>
          <a:xfrm>
            <a:off x="9185140" y="2118318"/>
            <a:ext cx="236855" cy="196850"/>
          </a:xfrm>
          <a:prstGeom prst="triangle">
            <a:avLst/>
          </a:prstGeom>
          <a:solidFill>
            <a:srgbClr val="C00000"/>
          </a:solid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nchorCtr="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79" name="文本框 78"/>
          <p:cNvSpPr txBox="1"/>
          <p:nvPr/>
        </p:nvSpPr>
        <p:spPr>
          <a:xfrm>
            <a:off x="7203305" y="2320883"/>
            <a:ext cx="659765" cy="263525"/>
          </a:xfrm>
          <a:prstGeom prst="rect">
            <a:avLst/>
          </a:prstGeom>
          <a:noFill/>
        </p:spPr>
        <p:txBody>
          <a:bodyPr wrap="square" rtlCol="0">
            <a:noAutofit/>
          </a:bodyPr>
          <a:lstStyle/>
          <a:p>
            <a:pPr marL="0" marR="0" lvl="0" indent="0" algn="ctr" defTabSz="1187450" rtl="0" eaLnBrk="1" fontAlgn="ctr" latinLnBrk="0" hangingPunct="1">
              <a:lnSpc>
                <a:spcPct val="100000"/>
              </a:lnSpc>
              <a:spcBef>
                <a:spcPts val="0"/>
              </a:spcBef>
              <a:spcAft>
                <a:spcPts val="0"/>
              </a:spcAft>
              <a:buClrTx/>
              <a:buSzTx/>
              <a:buFontTx/>
              <a:buNone/>
              <a:defRPr/>
            </a:pPr>
            <a:r>
              <a:rPr kumimoji="0" lang="en-US" altLang="zh-CN" sz="1200" b="1" i="0" u="none" strike="noStrike" kern="1200" cap="none" spc="0" normalizeH="0" baseline="0" noProof="0" dirty="0">
                <a:ln>
                  <a:noFill/>
                </a:ln>
                <a:effectLst/>
                <a:uLnTx/>
                <a:uFillTx/>
                <a:latin typeface="微软雅黑" charset="0"/>
                <a:ea typeface="微软雅黑" charset="0"/>
                <a:cs typeface="+mn-cs"/>
                <a:sym typeface="+mn-ea"/>
              </a:rPr>
              <a:t>4.26</a:t>
            </a:r>
          </a:p>
        </p:txBody>
      </p:sp>
      <p:sp>
        <p:nvSpPr>
          <p:cNvPr id="81" name="文本框 80"/>
          <p:cNvSpPr txBox="1"/>
          <p:nvPr/>
        </p:nvSpPr>
        <p:spPr>
          <a:xfrm>
            <a:off x="8974320" y="2320883"/>
            <a:ext cx="659765" cy="263525"/>
          </a:xfrm>
          <a:prstGeom prst="rect">
            <a:avLst/>
          </a:prstGeom>
          <a:noFill/>
        </p:spPr>
        <p:txBody>
          <a:bodyPr wrap="square" rtlCol="0">
            <a:noAutofit/>
          </a:bodyPr>
          <a:lstStyle/>
          <a:p>
            <a:pPr marL="0" marR="0" lvl="0" indent="0" algn="ctr" defTabSz="1187450" rtl="0" eaLnBrk="1" fontAlgn="ctr" latinLnBrk="0" hangingPunct="1">
              <a:lnSpc>
                <a:spcPct val="100000"/>
              </a:lnSpc>
              <a:spcBef>
                <a:spcPts val="0"/>
              </a:spcBef>
              <a:spcAft>
                <a:spcPts val="0"/>
              </a:spcAft>
              <a:buClrTx/>
              <a:buSzTx/>
              <a:buFontTx/>
              <a:buNone/>
              <a:defRPr/>
            </a:pPr>
            <a:r>
              <a:rPr lang="en-US" altLang="zh-CN" sz="1200" b="1" noProof="0" dirty="0">
                <a:ln>
                  <a:noFill/>
                </a:ln>
                <a:effectLst/>
                <a:uLnTx/>
                <a:uFillTx/>
                <a:latin typeface="微软雅黑" charset="0"/>
                <a:ea typeface="微软雅黑" charset="0"/>
                <a:cs typeface="+mn-cs"/>
                <a:sym typeface="+mn-ea"/>
              </a:rPr>
              <a:t>4</a:t>
            </a:r>
            <a:r>
              <a:rPr lang="en-US" altLang="zh-CN" sz="1200" b="1" i="0" u="none" strike="noStrike" noProof="0" dirty="0">
                <a:ln>
                  <a:noFill/>
                </a:ln>
                <a:effectLst/>
                <a:uLnTx/>
                <a:uFillTx/>
                <a:latin typeface="微软雅黑" charset="0"/>
                <a:ea typeface="微软雅黑" charset="0"/>
                <a:cs typeface="+mn-cs"/>
                <a:sym typeface="+mn-ea"/>
              </a:rPr>
              <a:t>.30</a:t>
            </a:r>
            <a:endParaRPr kumimoji="0" lang="zh-CN" altLang="en-US" sz="1200" b="0" i="0" u="none" strike="noStrike" kern="1200" cap="none" spc="0" normalizeH="0" baseline="0" noProof="0" dirty="0">
              <a:ln>
                <a:noFill/>
              </a:ln>
              <a:effectLst/>
              <a:uLnTx/>
              <a:uFillTx/>
              <a:latin typeface="微软雅黑" charset="0"/>
              <a:ea typeface="微软雅黑" charset="0"/>
              <a:cs typeface="+mn-cs"/>
              <a:sym typeface="+mn-ea"/>
            </a:endParaRPr>
          </a:p>
        </p:txBody>
      </p:sp>
      <p:sp>
        <p:nvSpPr>
          <p:cNvPr id="83" name="文本框 82"/>
          <p:cNvSpPr txBox="1"/>
          <p:nvPr/>
        </p:nvSpPr>
        <p:spPr>
          <a:xfrm>
            <a:off x="53975" y="1945005"/>
            <a:ext cx="1031875" cy="532765"/>
          </a:xfrm>
          <a:prstGeom prst="rect">
            <a:avLst/>
          </a:prstGeom>
          <a:noFill/>
        </p:spPr>
        <p:txBody>
          <a:bodyPr wrap="square" rtlCol="0">
            <a:noAutofit/>
          </a:bodyPr>
          <a:lstStyle/>
          <a:p>
            <a:pPr marL="0" marR="0" lvl="0" indent="0" algn="ctr" defTabSz="1187450" rtl="0" eaLnBrk="1" fontAlgn="ctr" latinLnBrk="0" hangingPunct="1">
              <a:lnSpc>
                <a:spcPct val="100000"/>
              </a:lnSpc>
              <a:spcBef>
                <a:spcPts val="0"/>
              </a:spcBef>
              <a:spcAft>
                <a:spcPts val="0"/>
              </a:spcAft>
              <a:buClrTx/>
              <a:buSzTx/>
              <a:buFontTx/>
              <a:buNone/>
              <a:defRPr/>
            </a:pPr>
            <a:r>
              <a:rPr lang="en-US" altLang="zh-CN" sz="1200" b="1" noProof="0" dirty="0">
                <a:ln>
                  <a:noFill/>
                </a:ln>
                <a:effectLst/>
                <a:uLnTx/>
                <a:uFillTx/>
                <a:latin typeface="微软雅黑" charset="0"/>
                <a:ea typeface="微软雅黑" charset="0"/>
                <a:cs typeface="+mn-cs"/>
                <a:sym typeface="+mn-ea"/>
              </a:rPr>
              <a:t>DeepSeekV4</a:t>
            </a:r>
            <a:r>
              <a:rPr lang="zh-CN" altLang="en-US" sz="1200" b="1" noProof="0" dirty="0">
                <a:ln>
                  <a:noFill/>
                </a:ln>
                <a:effectLst/>
                <a:uLnTx/>
                <a:uFillTx/>
                <a:latin typeface="微软雅黑" charset="0"/>
                <a:ea typeface="微软雅黑" charset="0"/>
                <a:cs typeface="+mn-cs"/>
                <a:sym typeface="+mn-ea"/>
              </a:rPr>
              <a:t>-</a:t>
            </a:r>
            <a:r>
              <a:rPr lang="en-US" altLang="zh-CN" sz="1200" b="1" noProof="0" dirty="0">
                <a:ln>
                  <a:noFill/>
                </a:ln>
                <a:effectLst/>
                <a:uLnTx/>
                <a:uFillTx/>
                <a:latin typeface="微软雅黑" charset="0"/>
                <a:ea typeface="微软雅黑" charset="0"/>
                <a:cs typeface="+mn-cs"/>
                <a:sym typeface="+mn-ea"/>
              </a:rPr>
              <a:t>Pro</a:t>
            </a:r>
            <a:endParaRPr kumimoji="0" lang="en-US" altLang="zh-CN" sz="1200" b="1" i="0" u="none" strike="noStrike" kern="1200" cap="none" spc="0" normalizeH="0" baseline="0" noProof="0" dirty="0">
              <a:ln>
                <a:noFill/>
              </a:ln>
              <a:effectLst/>
              <a:uLnTx/>
              <a:uFillTx/>
              <a:latin typeface="微软雅黑" charset="0"/>
              <a:ea typeface="微软雅黑" charset="0"/>
              <a:cs typeface="+mn-cs"/>
              <a:sym typeface="+mn-ea"/>
            </a:endParaRPr>
          </a:p>
        </p:txBody>
      </p:sp>
      <p:cxnSp>
        <p:nvCxnSpPr>
          <p:cNvPr id="28" name="直接箭头连接符 27"/>
          <p:cNvCxnSpPr>
            <a:endCxn id="29" idx="1"/>
          </p:cNvCxnSpPr>
          <p:nvPr userDrawn="1"/>
        </p:nvCxnSpPr>
        <p:spPr>
          <a:xfrm>
            <a:off x="9265144" y="4749982"/>
            <a:ext cx="1540194" cy="828469"/>
          </a:xfrm>
          <a:prstGeom prst="straightConnector1">
            <a:avLst/>
          </a:prstGeom>
          <a:ln w="19050" cap="flat" cmpd="sng" algn="ctr">
            <a:solidFill>
              <a:srgbClr val="979797">
                <a:alpha val="100000"/>
              </a:srgbClr>
            </a:solidFill>
            <a:prstDash val="solid"/>
            <a:miter lim="800000"/>
            <a:tailEnd type="triangle"/>
          </a:ln>
        </p:spPr>
        <p:style>
          <a:lnRef idx="1">
            <a:schemeClr val="accent1"/>
          </a:lnRef>
          <a:fillRef idx="0">
            <a:schemeClr val="accent1"/>
          </a:fillRef>
          <a:effectRef idx="0">
            <a:schemeClr val="accent1"/>
          </a:effectRef>
          <a:fontRef idx="minor">
            <a:schemeClr val="tx1"/>
          </a:fontRef>
        </p:style>
      </p:cxnSp>
      <p:sp>
        <p:nvSpPr>
          <p:cNvPr id="29" name="文本框 28"/>
          <p:cNvSpPr txBox="1"/>
          <p:nvPr userDrawn="1"/>
        </p:nvSpPr>
        <p:spPr>
          <a:xfrm>
            <a:off x="10805338" y="5394301"/>
            <a:ext cx="1135749" cy="368300"/>
          </a:xfrm>
          <a:prstGeom prst="rect">
            <a:avLst/>
          </a:prstGeom>
          <a:solidFill>
            <a:srgbClr val="FFFFFF">
              <a:alpha val="100000"/>
            </a:srgbClr>
          </a:solidFill>
        </p:spPr>
        <p:txBody>
          <a:bodyPr wrap="none" lIns="0" tIns="0" rIns="0" bIns="0" rtlCol="0">
            <a:noAutofit/>
          </a:bodyPr>
          <a:lstStyle/>
          <a:p>
            <a:pPr algn="l"/>
            <a:r>
              <a:rPr kumimoji="1" lang="zh-CN" altLang="en-US" sz="2000" b="1" dirty="0">
                <a:solidFill>
                  <a:srgbClr val="C00000"/>
                </a:solidFill>
                <a:latin typeface="微软雅黑" panose="020B0503020204020204" pitchFamily="34" charset="-122"/>
                <a:ea typeface="微软雅黑" panose="020B0503020204020204" pitchFamily="34" charset="-122"/>
              </a:rPr>
              <a:t>需高优改进</a:t>
            </a:r>
          </a:p>
        </p:txBody>
      </p:sp>
      <p:cxnSp>
        <p:nvCxnSpPr>
          <p:cNvPr id="30" name="直接箭头连接符 29"/>
          <p:cNvCxnSpPr>
            <a:endCxn id="29" idx="1"/>
          </p:cNvCxnSpPr>
          <p:nvPr userDrawn="1"/>
        </p:nvCxnSpPr>
        <p:spPr>
          <a:xfrm flipV="1">
            <a:off x="9293858" y="5578451"/>
            <a:ext cx="1511481" cy="696375"/>
          </a:xfrm>
          <a:prstGeom prst="straightConnector1">
            <a:avLst/>
          </a:prstGeom>
          <a:ln w="19050" cap="flat" cmpd="sng" algn="ctr">
            <a:solidFill>
              <a:srgbClr val="979797">
                <a:alpha val="100000"/>
              </a:srgbClr>
            </a:solidFill>
            <a:prstDash val="solid"/>
            <a:miter lim="800000"/>
            <a:tailEnd type="triangle"/>
          </a:ln>
        </p:spPr>
        <p:style>
          <a:lnRef idx="1">
            <a:schemeClr val="accent1"/>
          </a:lnRef>
          <a:fillRef idx="0">
            <a:schemeClr val="accent1"/>
          </a:fillRef>
          <a:effectRef idx="0">
            <a:schemeClr val="accent1"/>
          </a:effectRef>
          <a:fontRef idx="minor">
            <a:schemeClr val="tx1"/>
          </a:fontRef>
        </p:style>
      </p:cxnSp>
      <p:sp>
        <p:nvSpPr>
          <p:cNvPr id="31" name="文本框 30"/>
          <p:cNvSpPr txBox="1"/>
          <p:nvPr userDrawn="1"/>
        </p:nvSpPr>
        <p:spPr>
          <a:xfrm>
            <a:off x="8160463" y="4294276"/>
            <a:ext cx="633398" cy="368300"/>
          </a:xfrm>
          <a:prstGeom prst="rect">
            <a:avLst/>
          </a:prstGeom>
          <a:noFill/>
        </p:spPr>
        <p:txBody>
          <a:bodyPr wrap="none" lIns="0" tIns="0" rIns="0" bIns="0" rtlCol="0">
            <a:noAutofit/>
          </a:bodyPr>
          <a:lstStyle/>
          <a:p>
            <a:pPr algn="l"/>
            <a:r>
              <a:rPr kumimoji="1" lang="zh-CN" altLang="en-US" sz="2000" b="1" dirty="0">
                <a:solidFill>
                  <a:srgbClr val="C00000"/>
                </a:solidFill>
                <a:latin typeface="微软雅黑" panose="020B0503020204020204" pitchFamily="34" charset="-122"/>
                <a:ea typeface="微软雅黑" panose="020B0503020204020204" pitchFamily="34" charset="-122"/>
              </a:rPr>
              <a:t>①</a:t>
            </a:r>
          </a:p>
        </p:txBody>
      </p:sp>
      <p:sp>
        <p:nvSpPr>
          <p:cNvPr id="32" name="文本框 31"/>
          <p:cNvSpPr txBox="1"/>
          <p:nvPr userDrawn="1"/>
        </p:nvSpPr>
        <p:spPr>
          <a:xfrm>
            <a:off x="7347639" y="6124899"/>
            <a:ext cx="633398" cy="368300"/>
          </a:xfrm>
          <a:prstGeom prst="rect">
            <a:avLst/>
          </a:prstGeom>
          <a:noFill/>
        </p:spPr>
        <p:txBody>
          <a:bodyPr wrap="none" lIns="0" tIns="0" rIns="0" bIns="0" rtlCol="0">
            <a:noAutofit/>
          </a:bodyPr>
          <a:lstStyle/>
          <a:p>
            <a:pPr algn="l"/>
            <a:r>
              <a:rPr kumimoji="1" lang="zh-CN" altLang="en-US" sz="2000" b="1" dirty="0">
                <a:solidFill>
                  <a:srgbClr val="C00000"/>
                </a:solidFill>
                <a:latin typeface="微软雅黑" panose="020B0503020204020204" pitchFamily="34" charset="-122"/>
                <a:ea typeface="微软雅黑" panose="020B0503020204020204" pitchFamily="34" charset="-122"/>
              </a:rPr>
              <a:t>②</a:t>
            </a:r>
          </a:p>
        </p:txBody>
      </p:sp>
    </p:spTree>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theme/theme1.xml><?xml version="1.0" encoding="utf-8"?>
<a:theme xmlns:a="http://schemas.openxmlformats.org/drawingml/2006/main" name="封面页_图片版 ">
  <a:themeElements>
    <a:clrScheme name="HuaWei colour 3">
      <a:dk1>
        <a:srgbClr val="1D1D1A"/>
      </a:dk1>
      <a:lt1>
        <a:srgbClr val="666666"/>
      </a:lt1>
      <a:dk2>
        <a:srgbClr val="FFFFFF"/>
      </a:dk2>
      <a:lt2>
        <a:srgbClr val="DDDDDD"/>
      </a:lt2>
      <a:accent1>
        <a:srgbClr val="E9002F"/>
      </a:accent1>
      <a:accent2>
        <a:srgbClr val="7F0000"/>
      </a:accent2>
      <a:accent3>
        <a:srgbClr val="ED6D00"/>
      </a:accent3>
      <a:accent4>
        <a:srgbClr val="FCC800"/>
      </a:accent4>
      <a:accent5>
        <a:srgbClr val="61B230"/>
      </a:accent5>
      <a:accent6>
        <a:srgbClr val="30B5C5"/>
      </a:accent6>
      <a:hlink>
        <a:srgbClr val="C7000B"/>
      </a:hlink>
      <a:folHlink>
        <a:srgbClr val="666666"/>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a:no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gn="l">
          <a:defRPr kumimoji="1" sz="3200" dirty="0" smtClean="0">
            <a:solidFill>
              <a:srgbClr val="000000"/>
            </a:solidFill>
            <a:latin typeface="Microsoft YaHei" panose="020B0503020204020204" pitchFamily="34" charset="-122"/>
            <a:ea typeface="Microsoft YaHei" panose="020B0503020204020204" pitchFamily="34" charset="-122"/>
          </a:defRPr>
        </a:defPPr>
      </a:lstStyle>
    </a:txDef>
  </a:objectDefaults>
  <a:extraClrSchemeLst/>
  <a:extLst>
    <a:ext uri="{05A4C25C-085E-4340-85A3-A5531E510DB2}">
      <thm15:themeFamily xmlns:thm15="http://schemas.microsoft.com/office/thememl/2012/main" name="PPT 模板" id="{9BBB633E-5E45-41C7-B61B-A7FDDADD335C}" vid="{F4E5724B-7154-473D-A508-2B054E8EE854}"/>
    </a:ext>
  </a:extLst>
</a:theme>
</file>

<file path=ppt/theme/theme2.xml><?xml version="1.0" encoding="utf-8"?>
<a:theme xmlns:a="http://schemas.openxmlformats.org/drawingml/2006/main" name="目录页">
  <a:themeElements>
    <a:clrScheme name="HuaWei colour 3">
      <a:dk1>
        <a:srgbClr val="1D1D1A"/>
      </a:dk1>
      <a:lt1>
        <a:srgbClr val="666666"/>
      </a:lt1>
      <a:dk2>
        <a:srgbClr val="FFFFFF"/>
      </a:dk2>
      <a:lt2>
        <a:srgbClr val="DDDDDD"/>
      </a:lt2>
      <a:accent1>
        <a:srgbClr val="E9002F"/>
      </a:accent1>
      <a:accent2>
        <a:srgbClr val="7F0000"/>
      </a:accent2>
      <a:accent3>
        <a:srgbClr val="ED6D00"/>
      </a:accent3>
      <a:accent4>
        <a:srgbClr val="FCC800"/>
      </a:accent4>
      <a:accent5>
        <a:srgbClr val="61B230"/>
      </a:accent5>
      <a:accent6>
        <a:srgbClr val="30B5C5"/>
      </a:accent6>
      <a:hlink>
        <a:srgbClr val="C7000B"/>
      </a:hlink>
      <a:folHlink>
        <a:srgbClr val="666666"/>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a:no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gn="l">
          <a:defRPr kumimoji="1" sz="2200" dirty="0" smtClean="0">
            <a:solidFill>
              <a:srgbClr val="000000"/>
            </a:solidFill>
            <a:latin typeface="Microsoft YaHei" panose="020B0503020204020204" pitchFamily="34" charset="-122"/>
            <a:ea typeface="Microsoft YaHei" panose="020B0503020204020204" pitchFamily="34" charset="-122"/>
          </a:defRPr>
        </a:defPPr>
      </a:lstStyle>
    </a:txDef>
  </a:objectDefaults>
  <a:extraClrSchemeLst/>
  <a:extLst>
    <a:ext uri="{05A4C25C-085E-4340-85A3-A5531E510DB2}">
      <thm15:themeFamily xmlns:thm15="http://schemas.microsoft.com/office/thememl/2012/main" name="PPT 模板" id="{9BBB633E-5E45-41C7-B61B-A7FDDADD335C}" vid="{91E8AC51-71E2-47EB-A98B-31EFD4425DE1}"/>
    </a:ext>
  </a:extLst>
</a:theme>
</file>

<file path=ppt/theme/theme3.xml><?xml version="1.0" encoding="utf-8"?>
<a:theme xmlns:a="http://schemas.openxmlformats.org/drawingml/2006/main" name="章节页">
  <a:themeElements>
    <a:clrScheme name="HuaWei colour 3">
      <a:dk1>
        <a:srgbClr val="1D1D1A"/>
      </a:dk1>
      <a:lt1>
        <a:srgbClr val="666666"/>
      </a:lt1>
      <a:dk2>
        <a:srgbClr val="FFFFFF"/>
      </a:dk2>
      <a:lt2>
        <a:srgbClr val="DDDDDD"/>
      </a:lt2>
      <a:accent1>
        <a:srgbClr val="E9002F"/>
      </a:accent1>
      <a:accent2>
        <a:srgbClr val="7F0000"/>
      </a:accent2>
      <a:accent3>
        <a:srgbClr val="ED6D00"/>
      </a:accent3>
      <a:accent4>
        <a:srgbClr val="FCC800"/>
      </a:accent4>
      <a:accent5>
        <a:srgbClr val="61B230"/>
      </a:accent5>
      <a:accent6>
        <a:srgbClr val="30B5C5"/>
      </a:accent6>
      <a:hlink>
        <a:srgbClr val="C7000B"/>
      </a:hlink>
      <a:folHlink>
        <a:srgbClr val="666666"/>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a:no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gn="l">
          <a:defRPr kumimoji="1" dirty="0" smtClean="0">
            <a:solidFill>
              <a:srgbClr val="000000"/>
            </a:solidFill>
            <a:latin typeface="Microsoft YaHei" panose="020B0503020204020204" pitchFamily="34" charset="-122"/>
            <a:ea typeface="Microsoft YaHei" panose="020B0503020204020204" pitchFamily="34" charset="-122"/>
          </a:defRPr>
        </a:defPPr>
      </a:lstStyle>
    </a:txDef>
  </a:objectDefaults>
  <a:extraClrSchemeLst/>
  <a:extLst>
    <a:ext uri="{05A4C25C-085E-4340-85A3-A5531E510DB2}">
      <thm15:themeFamily xmlns:thm15="http://schemas.microsoft.com/office/thememl/2012/main" name="PPT 模板" id="{9BBB633E-5E45-41C7-B61B-A7FDDADD335C}" vid="{FC34AD67-7538-4717-9A73-50191031DBF3}"/>
    </a:ext>
  </a:extLst>
</a:theme>
</file>

<file path=ppt/theme/theme4.xml><?xml version="1.0" encoding="utf-8"?>
<a:theme xmlns:a="http://schemas.openxmlformats.org/drawingml/2006/main" name="结束页">
  <a:themeElements>
    <a:clrScheme name="HuaWei colour 3">
      <a:dk1>
        <a:srgbClr val="1D1D1A"/>
      </a:dk1>
      <a:lt1>
        <a:srgbClr val="666666"/>
      </a:lt1>
      <a:dk2>
        <a:srgbClr val="FFFFFF"/>
      </a:dk2>
      <a:lt2>
        <a:srgbClr val="DDDDDD"/>
      </a:lt2>
      <a:accent1>
        <a:srgbClr val="E9002F"/>
      </a:accent1>
      <a:accent2>
        <a:srgbClr val="7F0000"/>
      </a:accent2>
      <a:accent3>
        <a:srgbClr val="ED6D00"/>
      </a:accent3>
      <a:accent4>
        <a:srgbClr val="FCC800"/>
      </a:accent4>
      <a:accent5>
        <a:srgbClr val="61B230"/>
      </a:accent5>
      <a:accent6>
        <a:srgbClr val="30B5C5"/>
      </a:accent6>
      <a:hlink>
        <a:srgbClr val="C7000B"/>
      </a:hlink>
      <a:folHlink>
        <a:srgbClr val="66666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a:no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kumimoji="1" sz="3200" dirty="0" smtClean="0">
            <a:solidFill>
              <a:srgbClr val="000000"/>
            </a:solidFill>
            <a:latin typeface="Microsoft YaHei" panose="020B0503020204020204" pitchFamily="34" charset="-122"/>
            <a:ea typeface="Microsoft YaHei" panose="020B0503020204020204" pitchFamily="34" charset="-122"/>
          </a:defRPr>
        </a:defPPr>
      </a:lstStyle>
    </a:txDef>
  </a:objectDefaults>
  <a:extraClrSchemeLst/>
  <a:extLst>
    <a:ext uri="{05A4C25C-085E-4340-85A3-A5531E510DB2}">
      <thm15:themeFamily xmlns:thm15="http://schemas.microsoft.com/office/thememl/2012/main" name="PPT 模板" id="{9BBB633E-5E45-41C7-B61B-A7FDDADD335C}" vid="{CE9DE895-046C-40AC-AD8E-ED7DD660489B}"/>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blank</Template>
  <TotalTime>171</TotalTime>
  <Words>1799</Words>
  <Application>Microsoft Office PowerPoint</Application>
  <PresentationFormat>自定义</PresentationFormat>
  <Paragraphs>215</Paragraphs>
  <Slides>2</Slides>
  <Notes>2</Notes>
  <HiddenSlides>0</HiddenSlides>
  <MMClips>0</MMClips>
  <ScaleCrop>false</ScaleCrop>
  <HeadingPairs>
    <vt:vector size="6" baseType="variant">
      <vt:variant>
        <vt:lpstr>已用的字体</vt:lpstr>
      </vt:variant>
      <vt:variant>
        <vt:i4>4</vt:i4>
      </vt:variant>
      <vt:variant>
        <vt:lpstr>主题</vt:lpstr>
      </vt:variant>
      <vt:variant>
        <vt:i4>4</vt:i4>
      </vt:variant>
      <vt:variant>
        <vt:lpstr>幻灯片标题</vt:lpstr>
      </vt:variant>
      <vt:variant>
        <vt:i4>2</vt:i4>
      </vt:variant>
    </vt:vector>
  </HeadingPairs>
  <TitlesOfParts>
    <vt:vector size="10" baseType="lpstr">
      <vt:lpstr>微软雅黑</vt:lpstr>
      <vt:lpstr>微软雅黑</vt:lpstr>
      <vt:lpstr>Arial</vt:lpstr>
      <vt:lpstr>Calibri</vt:lpstr>
      <vt:lpstr>封面页_图片版 </vt:lpstr>
      <vt:lpstr>目录页</vt:lpstr>
      <vt:lpstr>章节页</vt:lpstr>
      <vt:lpstr>结束页</vt:lpstr>
      <vt:lpstr>PowerPoint 演示文稿</vt:lpstr>
      <vt:lpstr>PowerPoint 演示文稿</vt:lpstr>
    </vt:vector>
  </TitlesOfParts>
  <Company>Huawei Technologies Co.,Ltd.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louyi (A)</dc:creator>
  <cp:lastModifiedBy>louyi (A)</cp:lastModifiedBy>
  <cp:revision>5</cp:revision>
  <dcterms:created xsi:type="dcterms:W3CDTF">2020-08-28T08:44:19Z</dcterms:created>
  <dcterms:modified xsi:type="dcterms:W3CDTF">2026-08-12T12:48:54Z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2015_ms_pID_725343">
    <vt:lpwstr>(3)jYYNeYqg9URZpIMFTCIdCeNVquPuEel+nDIRQAPIrqxIM5/g5oBljBFaM7g0G3UnNz5I+Lxl
3XzinOb8XrntK+5cii2s/5KHPjVzf2+eT3mkXei0qIqPydT3E9AVL+q4EyN8GFi16B7wafrk
4kKM5b+QlkGvEvrZjPSJu+gnMw7e5TCMMA4EFmF63Ml0dr3+nOPNvAa9KZcwTzlYVuij6jfG
g8y1IjQWMDwHw00j5e</vt:lpwstr>
  </property>
  <property fmtid="{D5CDD505-2E9C-101B-9397-08002B2CF9AE}" pid="3" name="_2015_ms_pID_7253431">
    <vt:lpwstr>H7ij+MfWkrtIywe4S+a0D9BcavELomSG2Ib18xpyvB9q0hdvxoTFcA
gBSOtSnelc6axUseSTlTOvrYN0dRtpTwq9jai4mvc90zFnFZ95NvYO9xJufYr9daOcrVzTqA
GLaIfnqxEKsMJa+WZsbxcLXVnwjEyMOlQVTIeSsuPg293uwzAsm52yuhwds5TG3iH8g9FsCF
fj4i37YlF4KE29z1CbP/AqQpgHM7wlZTKoEN</vt:lpwstr>
  </property>
  <property fmtid="{D5CDD505-2E9C-101B-9397-08002B2CF9AE}" pid="4" name="_2015_ms_pID_7253432">
    <vt:lpwstr>9g==</vt:lpwstr>
  </property>
  <property fmtid="{D5CDD505-2E9C-101B-9397-08002B2CF9AE}" pid="5" name="_readonly">
    <vt:lpwstr/>
  </property>
  <property fmtid="{D5CDD505-2E9C-101B-9397-08002B2CF9AE}" pid="6" name="_change">
    <vt:lpwstr/>
  </property>
  <property fmtid="{D5CDD505-2E9C-101B-9397-08002B2CF9AE}" pid="7" name="_full-control">
    <vt:lpwstr/>
  </property>
  <property fmtid="{D5CDD505-2E9C-101B-9397-08002B2CF9AE}" pid="8" name="sflag">
    <vt:lpwstr>1598576536</vt:lpwstr>
  </property>
</Properties>
</file>